
<file path=[Content_Types].xml><?xml version="1.0" encoding="utf-8"?>
<Types xmlns="http://schemas.openxmlformats.org/package/2006/content-types">
  <Default Extension="bin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media/image2.bin" ContentType="image/x-emf"/>
  <Override PartName="/ppt/media/image3.bin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4.xml" ContentType="application/vnd.openxmlformats-officedocument.presentationml.notesSlide+xml"/>
  <Override PartName="/ppt/charts/chart6.xml" ContentType="application/vnd.openxmlformats-officedocument.drawingml.chart+xml"/>
  <Override PartName="/ppt/notesSlides/notesSlide5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9.xml" ContentType="application/vnd.openxmlformats-officedocument.presentationml.notesSlide+xml"/>
  <Override PartName="/ppt/charts/chart1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notesSlides/notesSlide13.xml" ContentType="application/vnd.openxmlformats-officedocument.presentationml.notes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notesSlides/notesSlide17.xml" ContentType="application/vnd.openxmlformats-officedocument.presentationml.notesSlide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61" r:id="rId6"/>
    <p:sldId id="265" r:id="rId7"/>
    <p:sldId id="267" r:id="rId8"/>
    <p:sldId id="268" r:id="rId9"/>
    <p:sldId id="269" r:id="rId10"/>
    <p:sldId id="275" r:id="rId11"/>
    <p:sldId id="282" r:id="rId12"/>
    <p:sldId id="284" r:id="rId13"/>
    <p:sldId id="285" r:id="rId14"/>
    <p:sldId id="288" r:id="rId15"/>
    <p:sldId id="291" r:id="rId16"/>
    <p:sldId id="292" r:id="rId17"/>
    <p:sldId id="294" r:id="rId18"/>
    <p:sldId id="295" r:id="rId19"/>
    <p:sldId id="29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 and Index" id="{31B55708-1697-414B-BB7E-37004CEAE5CC}">
          <p14:sldIdLst>
            <p14:sldId id="256"/>
            <p14:sldId id="257"/>
          </p14:sldIdLst>
        </p14:section>
        <p14:section name="Executive Summary" id="{65F34059-2E26-4188-9101-D20DD116008D}">
          <p14:sldIdLst>
            <p14:sldId id="259"/>
            <p14:sldId id="260"/>
            <p14:sldId id="261"/>
            <p14:sldId id="265"/>
            <p14:sldId id="267"/>
            <p14:sldId id="268"/>
            <p14:sldId id="269"/>
          </p14:sldIdLst>
        </p14:section>
        <p14:section name="Business Case Insights" id="{81EDA5DB-53BB-4211-AAC7-50B848CB2DF1}">
          <p14:sldIdLst>
            <p14:sldId id="275"/>
          </p14:sldIdLst>
        </p14:section>
        <p14:section name="Assessment Insights" id="{73C0CBF0-7613-4A49-9061-CC1DBD556B1C}">
          <p14:sldIdLst>
            <p14:sldId id="282"/>
            <p14:sldId id="284"/>
            <p14:sldId id="285"/>
          </p14:sldIdLst>
        </p14:section>
        <p14:section name="Migration wave planning" id="{9BB11796-6040-48E4-ADB4-BB9348D9E095}">
          <p14:sldIdLst>
            <p14:sldId id="288"/>
          </p14:sldIdLst>
        </p14:section>
        <p14:section name="Business case and workload deep dive" id="{44FCC021-550B-4686-A9E5-69F01069C9DA}">
          <p14:sldIdLst>
            <p14:sldId id="291"/>
            <p14:sldId id="292"/>
            <p14:sldId id="294"/>
            <p14:sldId id="295"/>
          </p14:sldIdLst>
        </p14:section>
        <p14:section name="Security deep dive" id="{98091144-9C9B-41C6-AE17-695BB8451C88}">
          <p14:sldIdLst>
            <p14:sldId id="299"/>
          </p14:sldIdLst>
        </p14:section>
        <p14:section name="Azure Management Solution benefits" id="{F55F6199-2D35-4B2D-83B0-009842B1B511}">
          <p14:sldIdLst/>
        </p14:section>
        <p14:section name="Azure Arc" id="{4B9DFF75-A0F4-4336-A3CA-13FB1B9D8F2D}">
          <p14:sldIdLst/>
        </p14:section>
        <p14:section name="How Azure adds value" id="{BAF0127C-0568-4B61-9C2E-7DA95E3B9E5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527" userDrawn="1">
          <p15:clr>
            <a:srgbClr val="A4A3A4"/>
          </p15:clr>
        </p15:guide>
        <p15:guide id="2" pos="393" userDrawn="1">
          <p15:clr>
            <a:srgbClr val="A4A3A4"/>
          </p15:clr>
        </p15:guide>
        <p15:guide id="3" pos="7491" userDrawn="1">
          <p15:clr>
            <a:srgbClr val="A4A3A4"/>
          </p15:clr>
        </p15:guide>
        <p15:guide id="5" orient="horz" pos="640" userDrawn="1">
          <p15:clr>
            <a:srgbClr val="A4A3A4"/>
          </p15:clr>
        </p15:guide>
        <p15:guide id="6" orient="horz" pos="2432" userDrawn="1">
          <p15:clr>
            <a:srgbClr val="A4A3A4"/>
          </p15:clr>
        </p15:guide>
        <p15:guide id="7" pos="3749" userDrawn="1">
          <p15:clr>
            <a:srgbClr val="A4A3A4"/>
          </p15:clr>
        </p15:guide>
        <p15:guide id="8" orient="horz" pos="4201" userDrawn="1">
          <p15:clr>
            <a:srgbClr val="A4A3A4"/>
          </p15:clr>
        </p15:guide>
        <p15:guide id="9" pos="4861" userDrawn="1">
          <p15:clr>
            <a:srgbClr val="A4A3A4"/>
          </p15:clr>
        </p15:guide>
        <p15:guide id="10" pos="5337" userDrawn="1">
          <p15:clr>
            <a:srgbClr val="A4A3A4"/>
          </p15:clr>
        </p15:guide>
        <p15:guide id="11" pos="2457" userDrawn="1">
          <p15:clr>
            <a:srgbClr val="A4A3A4"/>
          </p15:clr>
        </p15:guide>
        <p15:guide id="12" orient="horz" pos="10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E64"/>
    <a:srgbClr val="0F9ED5"/>
    <a:srgbClr val="9373C0"/>
    <a:srgbClr val="637CEF"/>
    <a:srgbClr val="E3008C"/>
    <a:srgbClr val="797979"/>
    <a:srgbClr val="434343"/>
    <a:srgbClr val="525252"/>
    <a:srgbClr val="AAAAAA"/>
    <a:srgbClr val="2AA0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67" autoAdjust="0"/>
    <p:restoredTop sz="80590" autoAdjust="0"/>
  </p:normalViewPr>
  <p:slideViewPr>
    <p:cSldViewPr snapToGrid="0">
      <p:cViewPr varScale="1">
        <p:scale>
          <a:sx n="70" d="100"/>
          <a:sy n="70" d="100"/>
        </p:scale>
        <p:origin x="780" y="54"/>
      </p:cViewPr>
      <p:guideLst>
        <p:guide orient="horz" pos="527"/>
        <p:guide pos="393"/>
        <p:guide pos="7491"/>
        <p:guide orient="horz" pos="640"/>
        <p:guide orient="horz" pos="2432"/>
        <p:guide pos="3749"/>
        <p:guide orient="horz" pos="4201"/>
        <p:guide pos="4861"/>
        <p:guide pos="5337"/>
        <p:guide pos="2457"/>
        <p:guide orient="horz" pos="10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824276016560156E-2"/>
          <c:y val="0.27705782972901993"/>
          <c:w val="0.9357211958770798"/>
          <c:h val="0.4956660493359181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Windows</c:v>
                </c:pt>
              </c:strCache>
            </c:strRef>
          </c:tx>
          <c:spPr>
            <a:solidFill>
              <a:srgbClr val="637CEF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795-4B99-937B-D91CF4F1C7D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serverCount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5F-3A42-BD00-14E204EFA1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3522976"/>
        <c:axId val="873524688"/>
      </c:barChart>
      <c:catAx>
        <c:axId val="8735229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73524688"/>
        <c:crosses val="autoZero"/>
        <c:auto val="1"/>
        <c:lblAlgn val="ctr"/>
        <c:lblOffset val="100"/>
        <c:noMultiLvlLbl val="0"/>
      </c:catAx>
      <c:valAx>
        <c:axId val="873524688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873522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noFill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824276016560156E-2"/>
          <c:y val="0.27705782972901993"/>
          <c:w val="0.96617576255027438"/>
          <c:h val="0.4956660493359181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Databases</c:v>
                </c:pt>
              </c:strCache>
            </c:strRef>
          </c:tx>
          <c:spPr>
            <a:solidFill>
              <a:srgbClr val="637CEF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8F4C-5544-954F-488B6718444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F4C-5544-954F-488B6718444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Server Count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5F-3A42-BD00-14E204EFA1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WebApps</c:v>
                </c:pt>
              </c:strCache>
            </c:strRef>
          </c:tx>
          <c:spPr>
            <a:solidFill>
              <a:srgbClr val="E3008C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825F-3A42-BD00-14E204EFA1E8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25F-3A42-BD00-14E204EFA1E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Server Count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25F-3A42-BD00-14E204EFA1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Fileshare</c:v>
                </c:pt>
              </c:strCache>
            </c:strRef>
          </c:tx>
          <c:spPr>
            <a:solidFill>
              <a:srgbClr val="2AA0A4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Server Count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EAF-7E49-9085-9ECF0DEE397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9373C0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Server Count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9C2-7342-8750-F1A2384E1D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3522976"/>
        <c:axId val="873524688"/>
      </c:barChart>
      <c:catAx>
        <c:axId val="8735229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73524688"/>
        <c:crosses val="autoZero"/>
        <c:auto val="1"/>
        <c:lblAlgn val="ctr"/>
        <c:lblOffset val="100"/>
        <c:noMultiLvlLbl val="0"/>
      </c:catAx>
      <c:valAx>
        <c:axId val="873524688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873522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noFill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824276016560156E-2"/>
          <c:y val="0.27705782972901993"/>
          <c:w val="0.96617576255027438"/>
          <c:h val="0.4956660493359181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</c:v>
                </c:pt>
              </c:strCache>
            </c:strRef>
          </c:tx>
          <c:spPr>
            <a:solidFill>
              <a:srgbClr val="637CEF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Server Count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5F-3A42-BD00-14E204EFA1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</c:v>
                </c:pt>
              </c:strCache>
            </c:strRef>
          </c:tx>
          <c:spPr>
            <a:solidFill>
              <a:srgbClr val="E3008C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825F-3A42-BD00-14E204EFA1E8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25F-3A42-BD00-14E204EFA1E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Server Count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25F-3A42-BD00-14E204EFA1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3522976"/>
        <c:axId val="873524688"/>
      </c:barChart>
      <c:catAx>
        <c:axId val="8735229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73524688"/>
        <c:crosses val="autoZero"/>
        <c:auto val="1"/>
        <c:lblAlgn val="ctr"/>
        <c:lblOffset val="100"/>
        <c:noMultiLvlLbl val="0"/>
      </c:catAx>
      <c:valAx>
        <c:axId val="873524688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873522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noFill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824371852118007E-2"/>
          <c:y val="0.26276647348081666"/>
          <c:w val="0.93235125629576399"/>
          <c:h val="0.4160745033759629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Devtest</c:v>
                </c:pt>
              </c:strCache>
            </c:strRef>
          </c:tx>
          <c:spPr>
            <a:solidFill>
              <a:srgbClr val="637CEF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Count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07-3B45-B020-C41E56869F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</c:v>
                </c:pt>
              </c:strCache>
            </c:strRef>
          </c:tx>
          <c:spPr>
            <a:solidFill>
              <a:srgbClr val="E3008C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1307-3B45-B020-C41E56869F1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1307-3B45-B020-C41E56869F1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Count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307-3B45-B020-C41E56869F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3522976"/>
        <c:axId val="873524688"/>
      </c:barChart>
      <c:catAx>
        <c:axId val="8735229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73524688"/>
        <c:crosses val="autoZero"/>
        <c:auto val="1"/>
        <c:lblAlgn val="ctr"/>
        <c:lblOffset val="100"/>
        <c:noMultiLvlLbl val="0"/>
      </c:catAx>
      <c:valAx>
        <c:axId val="873524688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873522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noFill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824371852118007E-2"/>
          <c:y val="0.26276647348081666"/>
          <c:w val="0.93235125629576399"/>
          <c:h val="0.4160745033759629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Servers</c:v>
                </c:pt>
              </c:strCache>
            </c:strRef>
          </c:tx>
          <c:spPr>
            <a:solidFill>
              <a:srgbClr val="9373C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75E-4F62-9F53-259F188E2E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Count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07-3B45-B020-C41E56869F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Databases</c:v>
                </c:pt>
              </c:strCache>
            </c:strRef>
          </c:tx>
          <c:spPr>
            <a:solidFill>
              <a:srgbClr val="E3008C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1A20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1307-3B45-B020-C41E56869F1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1307-3B45-B020-C41E56869F1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Count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307-3B45-B020-C41E56869F1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WebApps</c:v>
                </c:pt>
              </c:strCache>
            </c:strRef>
          </c:tx>
          <c:spPr>
            <a:solidFill>
              <a:srgbClr val="0F9ED5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75E-4F62-9F53-259F188E2E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Count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307-3B45-B020-C41E56869F1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FileShares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B500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44B-4F49-9FD4-49AA416DFC58}"/>
              </c:ext>
            </c:extLst>
          </c:dPt>
          <c:cat>
            <c:strRef>
              <c:f>Sheet1!$A$2:$A$2</c:f>
              <c:strCache>
                <c:ptCount val="1"/>
                <c:pt idx="0">
                  <c:v>Count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5F-4A75-A11C-7C80C92E27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3522976"/>
        <c:axId val="873524688"/>
      </c:barChart>
      <c:catAx>
        <c:axId val="8735229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73524688"/>
        <c:crosses val="autoZero"/>
        <c:auto val="1"/>
        <c:lblAlgn val="ctr"/>
        <c:lblOffset val="100"/>
        <c:noMultiLvlLbl val="0"/>
      </c:catAx>
      <c:valAx>
        <c:axId val="873524688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873522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noFill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824371852118007E-2"/>
          <c:y val="0.26276647348081666"/>
          <c:w val="0.93235125629576399"/>
          <c:h val="0.4160745033759629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Servers</c:v>
                </c:pt>
              </c:strCache>
            </c:strRef>
          </c:tx>
          <c:spPr>
            <a:solidFill>
              <a:srgbClr val="9373C0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Count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4C-A34F-8629-F55AD5A385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Databases</c:v>
                </c:pt>
              </c:strCache>
            </c:strRef>
          </c:tx>
          <c:spPr>
            <a:solidFill>
              <a:srgbClr val="E3008C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1A20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04C-A34F-8629-F55AD5A38576}"/>
              </c:ext>
            </c:extLst>
          </c:dPt>
          <c:cat>
            <c:strRef>
              <c:f>Sheet1!$A$2:$A$2</c:f>
              <c:strCache>
                <c:ptCount val="1"/>
                <c:pt idx="0">
                  <c:v>Count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04C-A34F-8629-F55AD5A385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WebApps</c:v>
                </c:pt>
              </c:strCache>
            </c:strRef>
          </c:tx>
          <c:spPr>
            <a:solidFill>
              <a:srgbClr val="3996DD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Count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04C-A34F-8629-F55AD5A385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3522976"/>
        <c:axId val="873524688"/>
      </c:barChart>
      <c:catAx>
        <c:axId val="8735229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73524688"/>
        <c:crosses val="autoZero"/>
        <c:auto val="1"/>
        <c:lblAlgn val="ctr"/>
        <c:lblOffset val="100"/>
        <c:noMultiLvlLbl val="0"/>
      </c:catAx>
      <c:valAx>
        <c:axId val="873524688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873522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noFill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824276016560156E-2"/>
          <c:y val="0.27705782972901993"/>
          <c:w val="0.96617576255027438"/>
          <c:h val="0.4956660493359181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Mapped to Applications</c:v>
                </c:pt>
              </c:strCache>
            </c:strRef>
          </c:tx>
          <c:spPr>
            <a:solidFill>
              <a:srgbClr val="637CEF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Count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DC-8049-B542-D0A459DB1D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Ungrouped</c:v>
                </c:pt>
              </c:strCache>
            </c:strRef>
          </c:tx>
          <c:spPr>
            <a:solidFill>
              <a:srgbClr val="E3008C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3ADC-8049-B542-D0A459DB1DC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IN"/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ADC-8049-B542-D0A459DB1DC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Count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ADC-8049-B542-D0A459DB1D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3522976"/>
        <c:axId val="873524688"/>
      </c:barChart>
      <c:catAx>
        <c:axId val="87352297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873524688"/>
        <c:crosses val="autoZero"/>
        <c:auto val="1"/>
        <c:lblAlgn val="ctr"/>
        <c:lblOffset val="100"/>
        <c:noMultiLvlLbl val="0"/>
      </c:catAx>
      <c:valAx>
        <c:axId val="873524688"/>
        <c:scaling>
          <c:orientation val="minMax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873522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noFill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824276016560156E-2"/>
          <c:y val="0.27705782972901993"/>
          <c:w val="0.96617576255027438"/>
          <c:h val="0.4956660493359181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Modernization/Migration</c:v>
                </c:pt>
              </c:strCache>
            </c:strRef>
          </c:tx>
          <c:spPr>
            <a:solidFill>
              <a:srgbClr val="637CEF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IN"/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425-4901-A12C-202832BD734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Count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DC-8049-B542-D0A459DB1D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Retain</c:v>
                </c:pt>
              </c:strCache>
            </c:strRef>
          </c:tx>
          <c:spPr>
            <a:solidFill>
              <a:srgbClr val="E3008C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3ADC-8049-B542-D0A459DB1DC1}"/>
              </c:ext>
            </c:extLst>
          </c:dPt>
          <c:cat>
            <c:strRef>
              <c:f>Sheet1!$A$2:$A$2</c:f>
              <c:strCache>
                <c:ptCount val="1"/>
                <c:pt idx="0">
                  <c:v>Count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ADC-8049-B542-D0A459DB1DC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Retire</c:v>
                </c:pt>
              </c:strCache>
            </c:strRef>
          </c:tx>
          <c:spPr>
            <a:solidFill>
              <a:srgbClr val="2AA0A5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Count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4C-5141-B5B5-9D15327161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3522976"/>
        <c:axId val="873524688"/>
      </c:barChart>
      <c:catAx>
        <c:axId val="8735229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73524688"/>
        <c:crosses val="autoZero"/>
        <c:auto val="1"/>
        <c:lblAlgn val="ctr"/>
        <c:lblOffset val="100"/>
        <c:noMultiLvlLbl val="0"/>
      </c:catAx>
      <c:valAx>
        <c:axId val="873524688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873522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noFill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6.6616279263835274E-2"/>
          <c:w val="1"/>
          <c:h val="0.8818273460410558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2CA-49BF-822A-D29EE79D563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D2CA-49BF-822A-D29EE79D563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2CA-49BF-822A-D29EE79D563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2CA-49BF-822A-D29EE79D5636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D2CA-49BF-822A-D29EE79D563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2CA-49BF-822A-D29EE79D563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2CA-49BF-822A-D29EE79D563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2CA-49BF-822A-D29EE79D563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4EFE-4D2D-9713-D67415609D0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solidFill>
                      <a:sysClr val="windowText" lastClr="000000"/>
                    </a:solidFill>
                    <a:latin typeface="Segoe Sans Text" pitchFamily="2" charset="0"/>
                    <a:ea typeface="+mn-ea"/>
                    <a:cs typeface="Segoe Sans Text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Missing security software</c:v>
                </c:pt>
                <c:pt idx="1">
                  <c:v>Missing patch management software</c:v>
                </c:pt>
                <c:pt idx="2">
                  <c:v>With pending Security and Critical updates</c:v>
                </c:pt>
                <c:pt idx="3">
                  <c:v>With critical vulnerabilities</c:v>
                </c:pt>
                <c:pt idx="4">
                  <c:v>Software End of Support</c:v>
                </c:pt>
                <c:pt idx="5">
                  <c:v>OS End of Support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29-43E1-8F58-7F7B7DE360E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84222784"/>
        <c:axId val="2084222304"/>
      </c:barChart>
      <c:catAx>
        <c:axId val="20842227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rgbClr val="FFFFFF">
                <a:lumMod val="75000"/>
              </a:srgbClr>
            </a:solidFill>
            <a:round/>
          </a:ln>
          <a:effectLst/>
        </c:spPr>
        <c:txPr>
          <a:bodyPr rot="0" spcFirstLastPara="1" vertOverflow="ellipsis" wrap="square" anchor="ctr" anchorCtr="0"/>
          <a:lstStyle/>
          <a:p>
            <a:pPr algn="just" rtl="0">
              <a:defRPr sz="900" b="0" i="0" u="none" strike="noStrike" kern="1200" baseline="0">
                <a:solidFill>
                  <a:schemeClr val="tx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pPr>
            <a:endParaRPr lang="en-US"/>
          </a:p>
        </c:txPr>
        <c:crossAx val="2084222304"/>
        <c:crosses val="autoZero"/>
        <c:auto val="1"/>
        <c:lblAlgn val="ctr"/>
        <c:lblOffset val="10"/>
        <c:noMultiLvlLbl val="0"/>
      </c:catAx>
      <c:valAx>
        <c:axId val="2084222304"/>
        <c:scaling>
          <c:orientation val="minMax"/>
          <c:min val="0"/>
        </c:scaling>
        <c:delete val="1"/>
        <c:axPos val="b"/>
        <c:numFmt formatCode="&quot;$&quot;0.#0,,&quot;M&quot;" sourceLinked="0"/>
        <c:majorTickMark val="out"/>
        <c:minorTickMark val="none"/>
        <c:tickLblPos val="nextTo"/>
        <c:crossAx val="208422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9.5641247764435361E-2"/>
          <c:w val="1"/>
          <c:h val="0.832801721384772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70A-4ECF-9DD3-C7D5EB628B2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70A-4ECF-9DD3-C7D5EB628B2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70A-4ECF-9DD3-C7D5EB628B2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solidFill>
                      <a:sysClr val="windowText" lastClr="000000"/>
                    </a:solidFill>
                    <a:latin typeface="Segoe Sans Text" pitchFamily="2" charset="0"/>
                    <a:ea typeface="+mn-ea"/>
                    <a:cs typeface="Segoe Sans Text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With critical vulnerabilities</c:v>
                </c:pt>
                <c:pt idx="1">
                  <c:v>Software End of Support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70A-4ECF-9DD3-C7D5EB628B2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84222784"/>
        <c:axId val="2084222304"/>
      </c:barChart>
      <c:catAx>
        <c:axId val="20842227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900" b="0" i="0" u="none" strike="noStrike" kern="1200" baseline="0">
                <a:solidFill>
                  <a:schemeClr val="tx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pPr>
            <a:endParaRPr lang="en-US"/>
          </a:p>
        </c:txPr>
        <c:crossAx val="2084222304"/>
        <c:crosses val="autoZero"/>
        <c:auto val="1"/>
        <c:lblAlgn val="ctr"/>
        <c:lblOffset val="100"/>
        <c:noMultiLvlLbl val="0"/>
      </c:catAx>
      <c:valAx>
        <c:axId val="2084222304"/>
        <c:scaling>
          <c:orientation val="minMax"/>
          <c:min val="0"/>
        </c:scaling>
        <c:delete val="1"/>
        <c:axPos val="b"/>
        <c:numFmt formatCode="&quot;$&quot;0.#0,,&quot;M&quot;" sourceLinked="0"/>
        <c:majorTickMark val="none"/>
        <c:minorTickMark val="none"/>
        <c:tickLblPos val="nextTo"/>
        <c:crossAx val="208422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6758652332406945E-3"/>
          <c:y val="9.5641247764435361E-2"/>
          <c:w val="0.99532413476675929"/>
          <c:h val="0.832801721384772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8D8-4744-A951-09E671836B7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8D8-4744-A951-09E671836B7A}"/>
              </c:ext>
            </c:extLst>
          </c:dPt>
          <c:dLbls>
            <c:delete val="1"/>
            <c:extLst/>
          </c:dLbls>
          <c:cat>
            <c:strRef>
              <c:f>Sheet1!$A$2:$A$3</c:f>
              <c:strCache>
                <c:ptCount val="2"/>
                <c:pt idx="0">
                  <c:v>With critical vulnerabilities</c:v>
                </c:pt>
                <c:pt idx="1">
                  <c:v>DB platform End of Support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8D8-4744-A951-09E671836B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84222784"/>
        <c:axId val="2084222304"/>
      </c:barChart>
      <c:catAx>
        <c:axId val="20842227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900" b="0" i="0" u="none" strike="noStrike" kern="1200" baseline="0">
                <a:solidFill>
                  <a:schemeClr val="tx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pPr>
            <a:endParaRPr lang="en-US"/>
          </a:p>
        </c:txPr>
        <c:crossAx val="2084222304"/>
        <c:crosses val="autoZero"/>
        <c:auto val="1"/>
        <c:lblAlgn val="ctr"/>
        <c:lblOffset val="100"/>
        <c:noMultiLvlLbl val="0"/>
      </c:catAx>
      <c:valAx>
        <c:axId val="2084222304"/>
        <c:scaling>
          <c:orientation val="minMax"/>
          <c:min val="0"/>
        </c:scaling>
        <c:delete val="1"/>
        <c:axPos val="b"/>
        <c:numFmt formatCode="&quot;$&quot;0.#0,,&quot;M&quot;" sourceLinked="0"/>
        <c:majorTickMark val="none"/>
        <c:minorTickMark val="none"/>
        <c:tickLblPos val="nextTo"/>
        <c:crossAx val="208422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9.5641247764435361E-2"/>
          <c:w val="1"/>
          <c:h val="0.832801721384772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A96-4C40-873D-F206012AE79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81C0-3247-887B-A3CACCC6349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A96-4C40-873D-F206012AE79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solidFill>
                      <a:sysClr val="windowText" lastClr="000000"/>
                    </a:solidFill>
                    <a:latin typeface="Segoe Sans Text" pitchFamily="2" charset="0"/>
                    <a:ea typeface="+mn-ea"/>
                    <a:cs typeface="Segoe Sans Text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With critical vulnerabilities</c:v>
                </c:pt>
                <c:pt idx="1">
                  <c:v>Runtime End of Support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A96-4C40-873D-F206012AE79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84222784"/>
        <c:axId val="2084222304"/>
      </c:barChart>
      <c:catAx>
        <c:axId val="20842227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900" b="0" i="0" u="none" strike="noStrike" kern="1200" baseline="0">
                <a:solidFill>
                  <a:schemeClr val="tx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pPr>
            <a:endParaRPr lang="en-US"/>
          </a:p>
        </c:txPr>
        <c:crossAx val="2084222304"/>
        <c:crosses val="autoZero"/>
        <c:auto val="1"/>
        <c:lblAlgn val="ctr"/>
        <c:lblOffset val="100"/>
        <c:noMultiLvlLbl val="0"/>
      </c:catAx>
      <c:valAx>
        <c:axId val="2084222304"/>
        <c:scaling>
          <c:orientation val="minMax"/>
          <c:min val="0"/>
        </c:scaling>
        <c:delete val="1"/>
        <c:axPos val="b"/>
        <c:numFmt formatCode="&quot;$&quot;0.#0,,&quot;M&quot;" sourceLinked="0"/>
        <c:majorTickMark val="none"/>
        <c:minorTickMark val="none"/>
        <c:tickLblPos val="nextTo"/>
        <c:crossAx val="208422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962051609810659"/>
          <c:y val="7.4609246341932681E-2"/>
          <c:w val="0.70458338821365096"/>
          <c:h val="0.8867654108416407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637C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F92-42D4-848B-FE673D4FBF24}"/>
              </c:ext>
            </c:extLst>
          </c:dPt>
          <c:dPt>
            <c:idx val="1"/>
            <c:bubble3D val="0"/>
            <c:spPr>
              <a:solidFill>
                <a:srgbClr val="E3008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F92-42D4-848B-FE673D4FBF24}"/>
              </c:ext>
            </c:extLst>
          </c:dPt>
          <c:dPt>
            <c:idx val="2"/>
            <c:bubble3D val="0"/>
            <c:spPr>
              <a:solidFill>
                <a:srgbClr val="2AA0A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F92-42D4-848B-FE673D4FBF24}"/>
              </c:ext>
            </c:extLst>
          </c:dPt>
          <c:dPt>
            <c:idx val="3"/>
            <c:bubble3D val="0"/>
            <c:spPr>
              <a:solidFill>
                <a:srgbClr val="11A20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F92-42D4-848B-FE673D4FBF24}"/>
              </c:ext>
            </c:extLst>
          </c:dPt>
          <c:dPt>
            <c:idx val="4"/>
            <c:bubble3D val="0"/>
            <c:spPr>
              <a:solidFill>
                <a:srgbClr val="3996D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F92-42D4-848B-FE673D4FBF24}"/>
              </c:ext>
            </c:extLst>
          </c:dPt>
          <c:dPt>
            <c:idx val="5"/>
            <c:bubble3D val="0"/>
            <c:spPr>
              <a:solidFill>
                <a:schemeClr val="accent1">
                  <a:tint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F92-42D4-848B-FE673D4FBF24}"/>
              </c:ext>
            </c:extLst>
          </c:dPt>
          <c:dLbls>
            <c:delete val="1"/>
          </c:dLbls>
          <c:cat>
            <c:strRef>
              <c:f>Sheet1!$A$2:$A$6</c:f>
              <c:strCache>
                <c:ptCount val="5"/>
                <c:pt idx="0">
                  <c:v>Antivirus and Anti-malware</c:v>
                </c:pt>
                <c:pt idx="1">
                  <c:v>Threat detection</c:v>
                </c:pt>
                <c:pt idx="2">
                  <c:v>SIEM</c:v>
                </c:pt>
                <c:pt idx="3">
                  <c:v>Patch management</c:v>
                </c:pt>
                <c:pt idx="4">
                  <c:v>IAM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  <c:pt idx="4">
                  <c:v>-1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F92-42D4-848B-FE673D4FBF24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3175" cap="rnd">
      <a:noFill/>
      <a:beve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19857783994871E-2"/>
          <c:y val="0.25216697533204091"/>
          <c:w val="0.97580144949592462"/>
          <c:h val="0.4956660493359181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rgbClr val="0FA30B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result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61-D249-A735-98468453DE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3522976"/>
        <c:axId val="873524688"/>
      </c:barChart>
      <c:catAx>
        <c:axId val="8735229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73524688"/>
        <c:crosses val="autoZero"/>
        <c:auto val="1"/>
        <c:lblAlgn val="ctr"/>
        <c:lblOffset val="100"/>
        <c:noMultiLvlLbl val="0"/>
      </c:catAx>
      <c:valAx>
        <c:axId val="873524688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873522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19857783994871E-2"/>
          <c:y val="0.25216697533204091"/>
          <c:w val="0.97580144949592462"/>
          <c:h val="0.4956660493359181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Ready</c:v>
                </c:pt>
              </c:strCache>
            </c:strRef>
          </c:tx>
          <c:spPr>
            <a:solidFill>
              <a:srgbClr val="0FA30B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IN"/>
                      <a:t>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4D2-41EF-A10F-A57D0A95204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Readiness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AF-EF40-89A6-495D825891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Ready with Conditions</c:v>
                </c:pt>
              </c:strCache>
            </c:strRef>
          </c:tx>
          <c:spPr>
            <a:solidFill>
              <a:srgbClr val="3996DD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90AF-EF40-89A6-495D825891FE}"/>
              </c:ext>
            </c:extLst>
          </c:dPt>
          <c:cat>
            <c:strRef>
              <c:f>Sheet1!$A$2:$A$2</c:f>
              <c:strCache>
                <c:ptCount val="1"/>
                <c:pt idx="0">
                  <c:v>Readiness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0AF-EF40-89A6-495D825891F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Readiness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0AF-EF40-89A6-495D825891F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 Ready</c:v>
                </c:pt>
              </c:strCache>
            </c:strRef>
          </c:tx>
          <c:spPr>
            <a:solidFill>
              <a:srgbClr val="8A8886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Readiness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0AF-EF40-89A6-495D825891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3522976"/>
        <c:axId val="873524688"/>
      </c:barChart>
      <c:catAx>
        <c:axId val="8735229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73524688"/>
        <c:crosses val="autoZero"/>
        <c:auto val="1"/>
        <c:lblAlgn val="ctr"/>
        <c:lblOffset val="100"/>
        <c:noMultiLvlLbl val="0"/>
      </c:catAx>
      <c:valAx>
        <c:axId val="873524688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873522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state cost</c:v>
                </c:pt>
              </c:strCache>
            </c:strRef>
          </c:tx>
          <c:spPr>
            <a:ln w="50800" cap="rnd">
              <a:solidFill>
                <a:srgbClr val="637CEF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82288.14</c:v>
                </c:pt>
                <c:pt idx="1">
                  <c:v>86402.55</c:v>
                </c:pt>
                <c:pt idx="2">
                  <c:v>90722.67</c:v>
                </c:pt>
                <c:pt idx="3">
                  <c:v>95258.81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63-402E-920C-8494DE2363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Savings</c:v>
                </c:pt>
              </c:strCache>
            </c:strRef>
          </c:tx>
          <c:spPr>
            <a:ln w="50800" cap="rnd">
              <a:solidFill>
                <a:srgbClr val="E3008C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520.83000000000175</c:v>
                </c:pt>
                <c:pt idx="1">
                  <c:v>17278.940000000002</c:v>
                </c:pt>
                <c:pt idx="2">
                  <c:v>44550.79</c:v>
                </c:pt>
                <c:pt idx="3">
                  <c:v>93063.489999999991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63-402E-920C-8494DE2363C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Future state cost</c:v>
                </c:pt>
              </c:strCache>
            </c:strRef>
          </c:tx>
          <c:spPr>
            <a:ln w="50800" cap="rnd">
              <a:solidFill>
                <a:srgbClr val="3996DD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81767.31</c:v>
                </c:pt>
                <c:pt idx="1">
                  <c:v>69123.61</c:v>
                </c:pt>
                <c:pt idx="2">
                  <c:v>46171.88</c:v>
                </c:pt>
                <c:pt idx="3">
                  <c:v>2195.3200000000002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363-402E-920C-8494DE2363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2218608"/>
        <c:axId val="882213328"/>
      </c:lineChart>
      <c:catAx>
        <c:axId val="882218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Sans Text" pitchFamily="2" charset="0"/>
                <a:ea typeface="+mn-ea"/>
                <a:cs typeface="Segoe Sans Text" pitchFamily="2" charset="0"/>
              </a:defRPr>
            </a:pPr>
            <a:endParaRPr lang="en-US"/>
          </a:p>
        </c:txPr>
        <c:crossAx val="882213328"/>
        <c:crosses val="min"/>
        <c:auto val="1"/>
        <c:lblAlgn val="ctr"/>
        <c:lblOffset val="100"/>
        <c:noMultiLvlLbl val="0"/>
      </c:catAx>
      <c:valAx>
        <c:axId val="882213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  <a:lumOff val="25000"/>
                </a:schemeClr>
              </a:solidFill>
              <a:round/>
            </a:ln>
            <a:effectLst/>
          </c:spPr>
        </c:majorGridlines>
        <c:numFmt formatCode="&quot;$&quot;0.#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Sans Text" pitchFamily="2" charset="0"/>
                <a:ea typeface="+mn-ea"/>
                <a:cs typeface="Segoe Sans Text" pitchFamily="2" charset="0"/>
              </a:defRPr>
            </a:pPr>
            <a:endParaRPr lang="en-US"/>
          </a:p>
        </c:txPr>
        <c:crossAx val="882218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9597362858703381E-2"/>
          <c:y val="3.2658477945202206E-2"/>
          <c:w val="0.80370271856212039"/>
          <c:h val="0.9422409483682068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serverCount</c:v>
                </c:pt>
              </c:strCache>
            </c:strRef>
          </c:tx>
          <c:spPr>
            <a:ln w="9525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637CEF"/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88E-BA4C-9B43-C1CAAD2C1BF0}"/>
              </c:ext>
            </c:extLst>
          </c:dPt>
          <c:dPt>
            <c:idx val="1"/>
            <c:bubble3D val="0"/>
            <c:spPr>
              <a:solidFill>
                <a:srgbClr val="E3008C"/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88E-BA4C-9B43-C1CAAD2C1BF0}"/>
              </c:ext>
            </c:extLst>
          </c:dPt>
          <c:dPt>
            <c:idx val="2"/>
            <c:bubble3D val="0"/>
            <c:spPr>
              <a:solidFill>
                <a:srgbClr val="3996DD"/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88E-BA4C-9B43-C1CAAD2C1BF0}"/>
              </c:ext>
            </c:extLst>
          </c:dPt>
          <c:cat>
            <c:strRef>
              <c:f>Sheet1!$A$2:$A$4</c:f>
              <c:strCache>
                <c:ptCount val="3"/>
                <c:pt idx="0">
                  <c:v>Windows</c:v>
                </c:pt>
                <c:pt idx="1">
                  <c:v>Linux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88E-BA4C-9B43-C1CAAD2C1B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 of Support</c:v>
                </c:pt>
              </c:strCache>
            </c:strRef>
          </c:tx>
          <c:spPr>
            <a:solidFill>
              <a:srgbClr val="FF6666"/>
            </a:solidFill>
            <a:ln>
              <a:noFill/>
            </a:ln>
            <a:effectLst/>
          </c:spPr>
          <c:invertIfNegative val="0"/>
          <c:dLbls>
            <c:delete val="1"/>
            <c:extLst/>
          </c:dLbls>
          <c:cat>
            <c:strRef>
              <c:f>Sheet1!$A$2:$A$3</c:f>
              <c:strCache>
                <c:ptCount val="2"/>
                <c:pt idx="0">
                  <c:v>Yr 00</c:v>
                </c:pt>
                <c:pt idx="1">
                  <c:v>Yr 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35-C94F-B481-6A826E1D4B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Extended Support</c:v>
                </c:pt>
              </c:strCache>
            </c:strRef>
          </c:tx>
          <c:spPr>
            <a:solidFill>
              <a:srgbClr val="FFDB67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009-43A8-86B1-28EFF599A47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Sans Text" pitchFamily="2" charset="0"/>
                    <a:ea typeface="+mn-ea"/>
                    <a:cs typeface="Segoe Sans Text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Yr 00</c:v>
                </c:pt>
                <c:pt idx="1">
                  <c:v>Yr 03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35-C94F-B481-6A826E1D4B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Mainstream Support</c:v>
                </c:pt>
              </c:strCache>
            </c:strRef>
          </c:tx>
          <c:spPr>
            <a:solidFill>
              <a:srgbClr val="8ED97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009-43A8-86B1-28EFF599A47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Sans Text" pitchFamily="2" charset="0"/>
                    <a:ea typeface="+mn-ea"/>
                    <a:cs typeface="Segoe Sans Text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Yr 00</c:v>
                </c:pt>
                <c:pt idx="1">
                  <c:v>Yr 03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35-C94F-B481-6A826E1D4BD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38584191"/>
        <c:axId val="1708217599"/>
      </c:barChart>
      <c:catAx>
        <c:axId val="738584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Sans Text" pitchFamily="2" charset="0"/>
                <a:ea typeface="+mn-ea"/>
                <a:cs typeface="Segoe Sans Text" pitchFamily="2" charset="0"/>
              </a:defRPr>
            </a:pPr>
            <a:endParaRPr lang="en-US"/>
          </a:p>
        </c:txPr>
        <c:crossAx val="1708217599"/>
        <c:crosses val="autoZero"/>
        <c:auto val="1"/>
        <c:lblAlgn val="ctr"/>
        <c:lblOffset val="100"/>
        <c:noMultiLvlLbl val="0"/>
      </c:catAx>
      <c:valAx>
        <c:axId val="1708217599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Sans Text" pitchFamily="2" charset="0"/>
                <a:ea typeface="+mn-ea"/>
                <a:cs typeface="Segoe Sans Text" pitchFamily="2" charset="0"/>
              </a:defRPr>
            </a:pPr>
            <a:endParaRPr lang="en-US"/>
          </a:p>
        </c:txPr>
        <c:crossAx val="7385841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7796385675152269E-2"/>
          <c:y val="0.81897768650141578"/>
          <c:w val="0.94753430275217299"/>
          <c:h val="0.132937722851755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egoe Sans Text" pitchFamily="2" charset="0"/>
              <a:ea typeface="+mn-ea"/>
              <a:cs typeface="Segoe Sans Text" pitchFamily="2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824276016560156E-2"/>
          <c:y val="0.2535103674737777"/>
          <c:w val="0.81159567546227829"/>
          <c:h val="0.5192136183531078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Mapped</c:v>
                </c:pt>
              </c:strCache>
            </c:strRef>
          </c:tx>
          <c:spPr>
            <a:solidFill>
              <a:srgbClr val="637CEF"/>
            </a:solidFill>
            <a:ln>
              <a:noFill/>
            </a:ln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Count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10-CD49-81EA-3A58813EAA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Unmapped</c:v>
                </c:pt>
              </c:strCache>
            </c:strRef>
          </c:tx>
          <c:spPr>
            <a:solidFill>
              <a:srgbClr val="E3008C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0110-CD49-81EA-3A58813EAAC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110-CD49-81EA-3A58813EAA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Count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110-CD49-81EA-3A58813EAA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73522976"/>
        <c:axId val="873524688"/>
      </c:barChart>
      <c:catAx>
        <c:axId val="8735229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73524688"/>
        <c:crosses val="autoZero"/>
        <c:auto val="1"/>
        <c:lblAlgn val="ctr"/>
        <c:lblOffset val="100"/>
        <c:noMultiLvlLbl val="0"/>
      </c:catAx>
      <c:valAx>
        <c:axId val="873524688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873522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noFill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249778797188355"/>
          <c:y val="6.035921782865071E-2"/>
          <c:w val="0.6856874242322758"/>
          <c:h val="0.5326551033298676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Ready</c:v>
                </c:pt>
              </c:strCache>
            </c:strRef>
          </c:tx>
          <c:spPr>
            <a:solidFill>
              <a:srgbClr val="0FA30B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DE2-0741-A555-04542DAAF3E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DE2-0741-A555-04542DAAF3E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800" b="0" i="0" u="none" strike="noStrike" kern="1200" baseline="0">
                    <a:solidFill>
                      <a:schemeClr val="bg1"/>
                    </a:solidFill>
                    <a:latin typeface="Segoe Sans Text" pitchFamily="2" charset="0"/>
                    <a:ea typeface="+mn-ea"/>
                    <a:cs typeface="Segoe Sans Text" pitchFamily="2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Server</c:v>
                </c:pt>
                <c:pt idx="1">
                  <c:v>SQL to VM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DE2-0741-A555-04542DAAF3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Ready with conditions</c:v>
                </c:pt>
              </c:strCache>
            </c:strRef>
          </c:tx>
          <c:spPr>
            <a:solidFill>
              <a:srgbClr val="3996DD"/>
            </a:solidFill>
            <a:ln>
              <a:noFill/>
            </a:ln>
            <a:effectLst/>
          </c:spPr>
          <c:invertIfNegative val="0"/>
          <c:dLbls>
            <c:delete val="1"/>
            <c:extLst/>
          </c:dLbls>
          <c:cat>
            <c:strRef>
              <c:f>Sheet1!$A$2:$A$3</c:f>
              <c:strCache>
                <c:ptCount val="2"/>
                <c:pt idx="0">
                  <c:v>Server</c:v>
                </c:pt>
                <c:pt idx="1">
                  <c:v>SQL to VM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DE2-0741-A555-04542DAAF3E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ready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elete val="1"/>
            <c:extLst/>
          </c:dLbls>
          <c:cat>
            <c:strRef>
              <c:f>Sheet1!$A$2:$A$3</c:f>
              <c:strCache>
                <c:ptCount val="2"/>
                <c:pt idx="0">
                  <c:v>Server</c:v>
                </c:pt>
                <c:pt idx="1">
                  <c:v>SQL to VM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E2-0741-A555-04542DAAF3E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8A8886"/>
            </a:solidFill>
            <a:ln>
              <a:noFill/>
            </a:ln>
            <a:effectLst/>
          </c:spPr>
          <c:invertIfNegative val="0"/>
          <c:dLbls>
            <c:delete val="1"/>
            <c:extLst/>
          </c:dLbls>
          <c:cat>
            <c:strRef>
              <c:f>Sheet1!$A$2:$A$3</c:f>
              <c:strCache>
                <c:ptCount val="2"/>
                <c:pt idx="0">
                  <c:v>Server</c:v>
                </c:pt>
                <c:pt idx="1">
                  <c:v>SQL to VM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DE2-0741-A555-04542DAAF3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84222784"/>
        <c:axId val="2084222304"/>
      </c:barChart>
      <c:catAx>
        <c:axId val="20842227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rgbClr val="FFFFFF">
                <a:lumMod val="75000"/>
              </a:srgb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just" rtl="0">
              <a:defRPr sz="900" b="0" i="0" u="none" strike="noStrike" kern="1200" baseline="0">
                <a:solidFill>
                  <a:schemeClr val="tx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pPr>
            <a:endParaRPr lang="en-US"/>
          </a:p>
        </c:txPr>
        <c:crossAx val="2084222304"/>
        <c:crosses val="autoZero"/>
        <c:auto val="1"/>
        <c:lblAlgn val="ctr"/>
        <c:lblOffset val="100"/>
        <c:noMultiLvlLbl val="0"/>
      </c:catAx>
      <c:valAx>
        <c:axId val="2084222304"/>
        <c:scaling>
          <c:orientation val="minMax"/>
          <c:min val="0"/>
        </c:scaling>
        <c:delete val="1"/>
        <c:axPos val="b"/>
        <c:numFmt formatCode="&quot;$&quot;0.#0,,&quot;M&quot;" sourceLinked="0"/>
        <c:majorTickMark val="out"/>
        <c:minorTickMark val="none"/>
        <c:tickLblPos val="nextTo"/>
        <c:crossAx val="2084222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852390168127278"/>
          <c:y val="0.6759472899379001"/>
          <c:w val="0.6888532010186198"/>
          <c:h val="0.140277991819854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Segoe Sans Text" pitchFamily="2" charset="0"/>
              <a:ea typeface="+mn-ea"/>
              <a:cs typeface="Segoe Sans Text" pitchFamily="2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 algn="just">
        <a:defRPr sz="11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</c:v>
                </c:pt>
              </c:strCache>
            </c:strRef>
          </c:tx>
          <c:spPr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IN"/>
                      <a:t>2028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5F0-4905-A41C-5C0FC85DD74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Sheet1!$A$2:$A$2</c:f>
              <c:strCache>
                <c:ptCount val="1"/>
                <c:pt idx="0">
                  <c:v>Standard_D2as_v5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AE-3741-B788-591F9B6CA1F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84222784"/>
        <c:axId val="2084222304"/>
      </c:barChart>
      <c:catAx>
        <c:axId val="20842227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65000"/>
                <a:lumOff val="3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Sans Text" pitchFamily="2" charset="0"/>
                <a:ea typeface="+mn-ea"/>
                <a:cs typeface="Segoe Sans Text" pitchFamily="2" charset="0"/>
              </a:defRPr>
            </a:pPr>
            <a:endParaRPr lang="en-US"/>
          </a:p>
        </c:txPr>
        <c:crossAx val="2084222304"/>
        <c:crosses val="autoZero"/>
        <c:auto val="1"/>
        <c:lblAlgn val="ctr"/>
        <c:lblOffset val="100"/>
        <c:noMultiLvlLbl val="0"/>
      </c:catAx>
      <c:valAx>
        <c:axId val="2084222304"/>
        <c:scaling>
          <c:orientation val="minMax"/>
          <c:min val="0"/>
        </c:scaling>
        <c:delete val="1"/>
        <c:axPos val="b"/>
        <c:numFmt formatCode="&quot;$&quot;0.#0,,&quot;M&quot;" sourceLinked="0"/>
        <c:majorTickMark val="none"/>
        <c:minorTickMark val="none"/>
        <c:tickLblPos val="nextTo"/>
        <c:crossAx val="208422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result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AE-3741-B788-591F9B6CA1F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84222784"/>
        <c:axId val="2084222304"/>
      </c:barChart>
      <c:catAx>
        <c:axId val="20842227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65000"/>
                <a:lumOff val="3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Sans Text" pitchFamily="2" charset="0"/>
                <a:ea typeface="+mn-ea"/>
                <a:cs typeface="Segoe Sans Text" pitchFamily="2" charset="0"/>
              </a:defRPr>
            </a:pPr>
            <a:endParaRPr lang="en-US"/>
          </a:p>
        </c:txPr>
        <c:crossAx val="2084222304"/>
        <c:crosses val="autoZero"/>
        <c:auto val="1"/>
        <c:lblAlgn val="ctr"/>
        <c:lblOffset val="100"/>
        <c:noMultiLvlLbl val="0"/>
      </c:catAx>
      <c:valAx>
        <c:axId val="2084222304"/>
        <c:scaling>
          <c:orientation val="minMax"/>
          <c:min val="0"/>
        </c:scaling>
        <c:delete val="1"/>
        <c:axPos val="b"/>
        <c:numFmt formatCode="&quot;$&quot;0.#0,,&quot;M&quot;" sourceLinked="0"/>
        <c:majorTickMark val="none"/>
        <c:minorTickMark val="none"/>
        <c:tickLblPos val="nextTo"/>
        <c:crossAx val="208422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IN"/>
                      <a:t>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4BD-454F-9554-76C5D942CE0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Sheet1!$A$2:$A$2</c:f>
              <c:strCache>
                <c:ptCount val="1"/>
                <c:pt idx="0">
                  <c:v>Standard_D2as_v5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87-4198-AD7E-9E2F1056628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84222784"/>
        <c:axId val="2084222304"/>
      </c:barChart>
      <c:catAx>
        <c:axId val="20842227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65000"/>
                <a:lumOff val="3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Sans Text" pitchFamily="2" charset="0"/>
                <a:ea typeface="+mn-ea"/>
                <a:cs typeface="Segoe Sans Text" pitchFamily="2" charset="0"/>
              </a:defRPr>
            </a:pPr>
            <a:endParaRPr lang="en-US"/>
          </a:p>
        </c:txPr>
        <c:crossAx val="2084222304"/>
        <c:crosses val="autoZero"/>
        <c:auto val="1"/>
        <c:lblAlgn val="ctr"/>
        <c:lblOffset val="100"/>
        <c:noMultiLvlLbl val="0"/>
      </c:catAx>
      <c:valAx>
        <c:axId val="2084222304"/>
        <c:scaling>
          <c:orientation val="minMax"/>
          <c:min val="0"/>
        </c:scaling>
        <c:delete val="1"/>
        <c:axPos val="b"/>
        <c:numFmt formatCode="&quot;$&quot;0.#0,,&quot;M&quot;" sourceLinked="0"/>
        <c:majorTickMark val="none"/>
        <c:minorTickMark val="none"/>
        <c:tickLblPos val="nextTo"/>
        <c:crossAx val="208422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result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15-4148-938C-E73AC0E4B41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84222784"/>
        <c:axId val="2084222304"/>
      </c:barChart>
      <c:catAx>
        <c:axId val="20842227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65000"/>
                <a:lumOff val="3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Sans Text" pitchFamily="2" charset="0"/>
                <a:ea typeface="+mn-ea"/>
                <a:cs typeface="Segoe Sans Text" pitchFamily="2" charset="0"/>
              </a:defRPr>
            </a:pPr>
            <a:endParaRPr lang="en-US"/>
          </a:p>
        </c:txPr>
        <c:crossAx val="2084222304"/>
        <c:crosses val="autoZero"/>
        <c:auto val="1"/>
        <c:lblAlgn val="ctr"/>
        <c:lblOffset val="100"/>
        <c:noMultiLvlLbl val="0"/>
      </c:catAx>
      <c:valAx>
        <c:axId val="2084222304"/>
        <c:scaling>
          <c:orientation val="minMax"/>
          <c:min val="0"/>
        </c:scaling>
        <c:delete val="1"/>
        <c:axPos val="b"/>
        <c:numFmt formatCode="&quot;$&quot;0.#0,,&quot;M&quot;" sourceLinked="0"/>
        <c:majorTickMark val="none"/>
        <c:minorTickMark val="none"/>
        <c:tickLblPos val="nextTo"/>
        <c:crossAx val="208422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5618109638171537E-2"/>
          <c:y val="2.6687800563763065E-2"/>
          <c:w val="0.64682783768896701"/>
          <c:h val="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ln w="9525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637CEF"/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407-2E4B-A3FC-EB1734B47A7F}"/>
              </c:ext>
            </c:extLst>
          </c:dPt>
          <c:dPt>
            <c:idx val="1"/>
            <c:bubble3D val="0"/>
            <c:spPr>
              <a:solidFill>
                <a:srgbClr val="E3008C"/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407-2E4B-A3FC-EB1734B47A7F}"/>
              </c:ext>
            </c:extLst>
          </c:dPt>
          <c:dPt>
            <c:idx val="2"/>
            <c:bubble3D val="0"/>
            <c:spPr>
              <a:solidFill>
                <a:srgbClr val="3996DD"/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407-2E4B-A3FC-EB1734B47A7F}"/>
              </c:ext>
            </c:extLst>
          </c:dPt>
          <c:dPt>
            <c:idx val="3"/>
            <c:bubble3D val="0"/>
            <c:spPr>
              <a:solidFill>
                <a:srgbClr val="0FA30B"/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407-2E4B-A3FC-EB1734B47A7F}"/>
              </c:ext>
            </c:extLst>
          </c:dPt>
          <c:cat>
            <c:strRef>
              <c:f>Sheet1!$A$2:$A$5</c:f>
              <c:strCache>
                <c:ptCount val="4"/>
                <c:pt idx="0">
                  <c:v>Windows in support</c:v>
                </c:pt>
                <c:pt idx="1">
                  <c:v>Linux in support</c:v>
                </c:pt>
                <c:pt idx="2">
                  <c:v>Other</c:v>
                </c:pt>
                <c:pt idx="3">
                  <c:v>Windows end of support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407-2E4B-A3FC-EB1734B47A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solidFill>
            <a:schemeClr val="bg1"/>
          </a:solidFill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 of Support</c:v>
                </c:pt>
              </c:strCache>
            </c:strRef>
          </c:tx>
          <c:spPr>
            <a:solidFill>
              <a:srgbClr val="FF6666"/>
            </a:solidFill>
            <a:ln>
              <a:noFill/>
            </a:ln>
            <a:effectLst/>
          </c:spPr>
          <c:invertIfNegative val="0"/>
          <c:dLbls>
            <c:delete val="1"/>
            <c:extLst/>
          </c:dLbls>
          <c:cat>
            <c:strRef>
              <c:f>Sheet1!$A$2:$A$3</c:f>
              <c:strCache>
                <c:ptCount val="2"/>
                <c:pt idx="0">
                  <c:v>Yr 00</c:v>
                </c:pt>
                <c:pt idx="1">
                  <c:v>Yr 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F3-7044-807C-8D77FAF4D9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Extended Support</c:v>
                </c:pt>
              </c:strCache>
            </c:strRef>
          </c:tx>
          <c:spPr>
            <a:solidFill>
              <a:srgbClr val="FFDB67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IN"/>
                      <a:t>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9BE-4EDB-8DA2-538F789234C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Sans Text" pitchFamily="2" charset="0"/>
                    <a:ea typeface="+mn-ea"/>
                    <a:cs typeface="Segoe Sans Text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Yr 00</c:v>
                </c:pt>
                <c:pt idx="1">
                  <c:v>Yr 03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F3-7044-807C-8D77FAF4D9A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Mainstream Support</c:v>
                </c:pt>
              </c:strCache>
            </c:strRef>
          </c:tx>
          <c:spPr>
            <a:solidFill>
              <a:srgbClr val="8ED97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IN"/>
                      <a:t>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9BE-4EDB-8DA2-538F789234C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Sans Text" pitchFamily="2" charset="0"/>
                    <a:ea typeface="+mn-ea"/>
                    <a:cs typeface="Segoe Sans Text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Yr 00</c:v>
                </c:pt>
                <c:pt idx="1">
                  <c:v>Yr 03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3F3-7044-807C-8D77FAF4D9A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38584191"/>
        <c:axId val="1708217599"/>
      </c:barChart>
      <c:catAx>
        <c:axId val="738584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Sans Text" pitchFamily="2" charset="0"/>
                <a:ea typeface="+mn-ea"/>
                <a:cs typeface="Segoe Sans Text" pitchFamily="2" charset="0"/>
              </a:defRPr>
            </a:pPr>
            <a:endParaRPr lang="en-US"/>
          </a:p>
        </c:txPr>
        <c:crossAx val="1708217599"/>
        <c:crosses val="autoZero"/>
        <c:auto val="1"/>
        <c:lblAlgn val="ctr"/>
        <c:lblOffset val="100"/>
        <c:noMultiLvlLbl val="0"/>
      </c:catAx>
      <c:valAx>
        <c:axId val="1708217599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Sans Text" pitchFamily="2" charset="0"/>
                <a:ea typeface="+mn-ea"/>
                <a:cs typeface="Segoe Sans Text" pitchFamily="2" charset="0"/>
              </a:defRPr>
            </a:pPr>
            <a:endParaRPr lang="en-US"/>
          </a:p>
        </c:txPr>
        <c:crossAx val="7385841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646268268013639E-2"/>
          <c:y val="0.71957070544276802"/>
          <c:w val="0.94753430275217299"/>
          <c:h val="0.132937722851755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egoe Sans Text" pitchFamily="2" charset="0"/>
              <a:ea typeface="+mn-ea"/>
              <a:cs typeface="Segoe Sans Text" pitchFamily="2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5618109638171537E-2"/>
          <c:y val="2.6687800563763065E-2"/>
          <c:w val="0.64682783768896701"/>
          <c:h val="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ln w="9525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637CEF"/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12C-A14B-B877-C8D7B74EDC4F}"/>
              </c:ext>
            </c:extLst>
          </c:dPt>
          <c:dPt>
            <c:idx val="1"/>
            <c:bubble3D val="0"/>
            <c:spPr>
              <a:solidFill>
                <a:srgbClr val="E3008C"/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12C-A14B-B877-C8D7B74EDC4F}"/>
              </c:ext>
            </c:extLst>
          </c:dPt>
          <c:dPt>
            <c:idx val="2"/>
            <c:bubble3D val="0"/>
            <c:spPr>
              <a:solidFill>
                <a:srgbClr val="3996DD"/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12C-A14B-B877-C8D7B74EDC4F}"/>
              </c:ext>
            </c:extLst>
          </c:dPt>
          <c:dPt>
            <c:idx val="3"/>
            <c:bubble3D val="0"/>
            <c:spPr>
              <a:solidFill>
                <a:srgbClr val="0FA30B"/>
              </a:solidFill>
              <a:ln w="9525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12C-A14B-B877-C8D7B74EDC4F}"/>
              </c:ext>
            </c:extLst>
          </c:dPt>
          <c:cat>
            <c:strRef>
              <c:f>Sheet1!$A$2:$A$5</c:f>
              <c:strCache>
                <c:ptCount val="4"/>
                <c:pt idx="0">
                  <c:v>Windows in support</c:v>
                </c:pt>
                <c:pt idx="1">
                  <c:v>Linux in support</c:v>
                </c:pt>
                <c:pt idx="2">
                  <c:v>Other</c:v>
                </c:pt>
                <c:pt idx="3">
                  <c:v>Windows end of support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12C-A14B-B877-C8D7B74EDC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solidFill>
            <a:schemeClr val="bg1"/>
          </a:solidFill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249778797188355"/>
          <c:y val="6.035921782865071E-2"/>
          <c:w val="0.71385423243293644"/>
          <c:h val="0.8818273460410558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Ready</c:v>
                </c:pt>
              </c:strCache>
            </c:strRef>
          </c:tx>
          <c:spPr>
            <a:solidFill>
              <a:srgbClr val="0FA30B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F26-4B57-BDCF-C1912D6C5128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IN"/>
                      <a:t>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F26-4B57-BDCF-C1912D6C512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800" b="0" i="0" u="none" strike="noStrike" kern="1200" baseline="0">
                    <a:solidFill>
                      <a:schemeClr val="bg1"/>
                    </a:solidFill>
                    <a:latin typeface="Segoe Sans Text" pitchFamily="2" charset="0"/>
                    <a:ea typeface="+mn-ea"/>
                    <a:cs typeface="Segoe Sans Text" pitchFamily="2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Azure VM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26-4B57-BDCF-C1912D6C51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Ready with conditions</c:v>
                </c:pt>
              </c:strCache>
            </c:strRef>
          </c:tx>
          <c:spPr>
            <a:solidFill>
              <a:srgbClr val="3996DD"/>
            </a:solidFill>
            <a:ln>
              <a:noFill/>
            </a:ln>
            <a:effectLst/>
          </c:spPr>
          <c:invertIfNegative val="0"/>
          <c:dLbls>
            <c:delete val="1"/>
            <c:extLst/>
          </c:dLbls>
          <c:cat>
            <c:strRef>
              <c:f>Sheet1!$A$2:$A$2</c:f>
              <c:strCache>
                <c:ptCount val="1"/>
                <c:pt idx="0">
                  <c:v>Azure VM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F26-4B57-BDCF-C1912D6C512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Ready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elete val="1"/>
            <c:extLst/>
          </c:dLbls>
          <c:cat>
            <c:strRef>
              <c:f>Sheet1!$A$2:$A$2</c:f>
              <c:strCache>
                <c:ptCount val="1"/>
                <c:pt idx="0">
                  <c:v>Azure VM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F26-4B57-BDCF-C1912D6C512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elete val="1"/>
            <c:extLst/>
          </c:dLbls>
          <c:cat>
            <c:strRef>
              <c:f>Sheet1!$A$2:$A$2</c:f>
              <c:strCache>
                <c:ptCount val="1"/>
                <c:pt idx="0">
                  <c:v>Azure VM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F26-4B57-BDCF-C1912D6C51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84222784"/>
        <c:axId val="2084222304"/>
      </c:barChart>
      <c:catAx>
        <c:axId val="20842227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rgbClr val="FFFFFF">
                <a:lumMod val="75000"/>
              </a:srgb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just" rtl="0">
              <a:defRPr sz="900" b="0" i="0" u="none" strike="noStrike" kern="1200" baseline="0">
                <a:solidFill>
                  <a:schemeClr val="tx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pPr>
            <a:endParaRPr lang="en-US"/>
          </a:p>
        </c:txPr>
        <c:crossAx val="2084222304"/>
        <c:crosses val="autoZero"/>
        <c:auto val="1"/>
        <c:lblAlgn val="ctr"/>
        <c:lblOffset val="100"/>
        <c:noMultiLvlLbl val="0"/>
      </c:catAx>
      <c:valAx>
        <c:axId val="2084222304"/>
        <c:scaling>
          <c:orientation val="minMax"/>
          <c:min val="0"/>
        </c:scaling>
        <c:delete val="1"/>
        <c:axPos val="b"/>
        <c:numFmt formatCode="&quot;$&quot;0.#0,,&quot;M&quot;" sourceLinked="0"/>
        <c:majorTickMark val="out"/>
        <c:minorTickMark val="none"/>
        <c:tickLblPos val="nextTo"/>
        <c:crossAx val="208422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 algn="just">
        <a:defRPr sz="11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 of Support</c:v>
                </c:pt>
              </c:strCache>
            </c:strRef>
          </c:tx>
          <c:spPr>
            <a:solidFill>
              <a:srgbClr val="FF6666"/>
            </a:solidFill>
            <a:ln>
              <a:noFill/>
            </a:ln>
            <a:effectLst/>
          </c:spPr>
          <c:invertIfNegative val="0"/>
          <c:dLbls>
            <c:delete val="1"/>
            <c:extLst/>
          </c:dLbls>
          <c:cat>
            <c:strRef>
              <c:f>Sheet1!$A$2:$A$3</c:f>
              <c:strCache>
                <c:ptCount val="2"/>
                <c:pt idx="0">
                  <c:v>Yr 00</c:v>
                </c:pt>
                <c:pt idx="1">
                  <c:v>Yr 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1D-0A48-AF63-B98B15A792B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Extended Support</c:v>
                </c:pt>
              </c:strCache>
            </c:strRef>
          </c:tx>
          <c:spPr>
            <a:solidFill>
              <a:srgbClr val="FFDB67"/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IN"/>
                      <a:t>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1A76-44D3-889F-E96E54EF0EA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Sans Text" pitchFamily="2" charset="0"/>
                    <a:ea typeface="+mn-ea"/>
                    <a:cs typeface="Segoe Sans Text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Yr 00</c:v>
                </c:pt>
                <c:pt idx="1">
                  <c:v>Yr 03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1D-0A48-AF63-B98B15A792B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Mainstream Support</c:v>
                </c:pt>
              </c:strCache>
            </c:strRef>
          </c:tx>
          <c:spPr>
            <a:solidFill>
              <a:srgbClr val="8ED97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IN"/>
                      <a:t>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A76-44D3-889F-E96E54EF0EA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Sans Text" pitchFamily="2" charset="0"/>
                    <a:ea typeface="+mn-ea"/>
                    <a:cs typeface="Segoe Sans Text" pitchFamily="2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Yr 00</c:v>
                </c:pt>
                <c:pt idx="1">
                  <c:v>Yr 03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61D-0A48-AF63-B98B15A792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38584191"/>
        <c:axId val="1708217599"/>
      </c:barChart>
      <c:catAx>
        <c:axId val="738584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Sans Text" pitchFamily="2" charset="0"/>
                <a:ea typeface="+mn-ea"/>
                <a:cs typeface="Segoe Sans Text" pitchFamily="2" charset="0"/>
              </a:defRPr>
            </a:pPr>
            <a:endParaRPr lang="en-US"/>
          </a:p>
        </c:txPr>
        <c:crossAx val="1708217599"/>
        <c:crosses val="autoZero"/>
        <c:auto val="1"/>
        <c:lblAlgn val="ctr"/>
        <c:lblOffset val="100"/>
        <c:noMultiLvlLbl val="0"/>
      </c:catAx>
      <c:valAx>
        <c:axId val="1708217599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Sans Text" pitchFamily="2" charset="0"/>
                <a:ea typeface="+mn-ea"/>
                <a:cs typeface="Segoe Sans Text" pitchFamily="2" charset="0"/>
              </a:defRPr>
            </a:pPr>
            <a:endParaRPr lang="en-US"/>
          </a:p>
        </c:txPr>
        <c:crossAx val="7385841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646268268013639E-2"/>
          <c:y val="0.71957070544276802"/>
          <c:w val="0.94753430275217299"/>
          <c:h val="0.132937722851755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egoe Sans Text" pitchFamily="2" charset="0"/>
              <a:ea typeface="+mn-ea"/>
              <a:cs typeface="Segoe Sans Text" pitchFamily="2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8739376638655381E-2"/>
          <c:y val="0.17387440592392714"/>
          <c:w val="0.32875993188780217"/>
          <c:h val="0.7470917732015605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Server Count</c:v>
                </c:pt>
              </c:strCache>
            </c:strRef>
          </c:tx>
          <c:spPr>
            <a:ln w="9525"/>
          </c:spPr>
          <c:dPt>
            <c:idx val="0"/>
            <c:bubble3D val="0"/>
            <c:spPr>
              <a:solidFill>
                <a:srgbClr val="637CEF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77F-BB4F-A829-9DEE53BD6CE2}"/>
              </c:ext>
            </c:extLst>
          </c:dPt>
          <c:dPt>
            <c:idx val="1"/>
            <c:bubble3D val="0"/>
            <c:spPr>
              <a:solidFill>
                <a:srgbClr val="E3008C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77F-BB4F-A829-9DEE53BD6CE2}"/>
              </c:ext>
            </c:extLst>
          </c:dPt>
          <c:dPt>
            <c:idx val="2"/>
            <c:bubble3D val="0"/>
            <c:spPr>
              <a:solidFill>
                <a:srgbClr val="2AA0A4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77F-BB4F-A829-9DEE53BD6CE2}"/>
              </c:ext>
            </c:extLst>
          </c:dPt>
          <c:dPt>
            <c:idx val="3"/>
            <c:bubble3D val="0"/>
            <c:spPr>
              <a:solidFill>
                <a:srgbClr val="9373C0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77F-BB4F-A829-9DEE53BD6CE2}"/>
              </c:ext>
            </c:extLst>
          </c:dPt>
          <c:cat>
            <c:strRef>
              <c:f>Sheet1!$A$2:$A$2</c:f>
              <c:strCache>
                <c:ptCount val="1"/>
                <c:pt idx="0">
                  <c:v>Express Edition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77F-BB4F-A829-9DEE53BD6C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 w="9525">
          <a:noFill/>
        </a:ln>
        <a:effectLst/>
      </c:spPr>
    </c:plotArea>
    <c:legend>
      <c:legendPos val="r"/>
      <c:layout>
        <c:manualLayout>
          <c:xMode val="edge"/>
          <c:yMode val="edge"/>
          <c:x val="0.40102562642025918"/>
          <c:y val="0.25900627727678077"/>
          <c:w val="0.29639650544333446"/>
          <c:h val="0.592634172357205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Segoe Sans Text" pitchFamily="2" charset="0"/>
              <a:ea typeface="+mn-ea"/>
              <a:cs typeface="Segoe Sans Text" pitchFamily="2" charset="0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 w="3175" cap="rnd">
      <a:noFill/>
      <a:beve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8739376638655381E-2"/>
          <c:y val="0.17387440592392714"/>
          <c:w val="0.32875993188780217"/>
          <c:h val="0.7470917732015605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Server Count</c:v>
                </c:pt>
              </c:strCache>
            </c:strRef>
          </c:tx>
          <c:spPr>
            <a:ln w="9525"/>
          </c:spPr>
          <c:dPt>
            <c:idx val="0"/>
            <c:bubble3D val="0"/>
            <c:spPr>
              <a:solidFill>
                <a:srgbClr val="637CEF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F91-1441-B102-6563D00E6A27}"/>
              </c:ext>
            </c:extLst>
          </c:dPt>
          <c:dPt>
            <c:idx val="1"/>
            <c:bubble3D val="0"/>
            <c:spPr>
              <a:solidFill>
                <a:srgbClr val="E3008C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F91-1441-B102-6563D00E6A27}"/>
              </c:ext>
            </c:extLst>
          </c:dPt>
          <c:dPt>
            <c:idx val="2"/>
            <c:bubble3D val="0"/>
            <c:spPr>
              <a:solidFill>
                <a:srgbClr val="2AA0A4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F91-1441-B102-6563D00E6A27}"/>
              </c:ext>
            </c:extLst>
          </c:dPt>
          <c:dPt>
            <c:idx val="3"/>
            <c:bubble3D val="0"/>
            <c:spPr>
              <a:solidFill>
                <a:srgbClr val="9373C0"/>
              </a:solidFill>
              <a:ln w="95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F91-1441-B102-6563D00E6A27}"/>
              </c:ext>
            </c:extLst>
          </c:dPt>
          <c:cat>
            <c:strRef>
              <c:f>Sheet1!$A$2:$A$2</c:f>
              <c:strCache>
                <c:ptCount val="1"/>
                <c:pt idx="0">
                  <c:v>SQL Server 2022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F91-1441-B102-6563D00E6A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 w="9525">
          <a:noFill/>
        </a:ln>
        <a:effectLst/>
      </c:spPr>
    </c:plotArea>
    <c:legend>
      <c:legendPos val="r"/>
      <c:layout>
        <c:manualLayout>
          <c:xMode val="edge"/>
          <c:yMode val="edge"/>
          <c:x val="0.40102562642025918"/>
          <c:y val="0.25900627727678077"/>
          <c:w val="0.29639650544333446"/>
          <c:h val="0.592634172357205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Segoe Sans Text" pitchFamily="2" charset="0"/>
              <a:ea typeface="+mn-ea"/>
              <a:cs typeface="Segoe Sans Text" pitchFamily="2" charset="0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 w="3175" cap="rnd">
      <a:noFill/>
      <a:beve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293451140269594"/>
          <c:y val="6.0359606941250261E-2"/>
          <c:w val="0.80581936960171474"/>
          <c:h val="0.5326551033298676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Ready</c:v>
                </c:pt>
              </c:strCache>
            </c:strRef>
          </c:tx>
          <c:spPr>
            <a:solidFill>
              <a:srgbClr val="0FA30B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3DF-114D-9004-185F4740786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800" b="0" i="0" u="none" strike="noStrike" kern="1200" baseline="0">
                    <a:solidFill>
                      <a:schemeClr val="bg1"/>
                    </a:solidFill>
                    <a:latin typeface="Segoe Sans Text" pitchFamily="2" charset="0"/>
                    <a:ea typeface="+mn-ea"/>
                    <a:cs typeface="Segoe Sans Text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Azure SQL MI</c:v>
                </c:pt>
                <c:pt idx="1">
                  <c:v>Instance to SQL VM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DF-114D-9004-185F474078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Ready with conditions</c:v>
                </c:pt>
              </c:strCache>
            </c:strRef>
          </c:tx>
          <c:spPr>
            <a:solidFill>
              <a:srgbClr val="3996D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Segoe Sans Text" pitchFamily="2" charset="0"/>
                    <a:ea typeface="+mn-ea"/>
                    <a:cs typeface="Segoe Sans Text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Azure SQL MI</c:v>
                </c:pt>
                <c:pt idx="1">
                  <c:v>Instance to SQL VM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3DF-114D-9004-185F4740786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Ready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Segoe Sans Text" pitchFamily="2" charset="0"/>
                    <a:ea typeface="+mn-ea"/>
                    <a:cs typeface="Segoe Sans Text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Azure SQL MI</c:v>
                </c:pt>
                <c:pt idx="1">
                  <c:v>Instance to SQL VM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DF-114D-9004-185F4740786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rgbClr val="8A888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Segoe Sans Text" pitchFamily="2" charset="0"/>
                    <a:ea typeface="+mn-ea"/>
                    <a:cs typeface="Segoe Sans Text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Azure SQL MI</c:v>
                </c:pt>
                <c:pt idx="1">
                  <c:v>Instance to SQL VM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3DF-114D-9004-185F474078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84222784"/>
        <c:axId val="2084222304"/>
      </c:barChart>
      <c:catAx>
        <c:axId val="20842227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rgbClr val="FFFFFF">
                <a:lumMod val="75000"/>
              </a:srgb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 algn="just" rtl="0">
              <a:defRPr sz="900" b="0" i="0" u="none" strike="noStrike" kern="1200" baseline="0">
                <a:solidFill>
                  <a:schemeClr val="tx1"/>
                </a:solidFill>
                <a:latin typeface="Segoe Sans Text" pitchFamily="2" charset="0"/>
                <a:ea typeface="+mn-ea"/>
                <a:cs typeface="Segoe Sans Text" pitchFamily="2" charset="0"/>
              </a:defRPr>
            </a:pPr>
            <a:endParaRPr lang="en-US"/>
          </a:p>
        </c:txPr>
        <c:crossAx val="2084222304"/>
        <c:crosses val="autoZero"/>
        <c:auto val="1"/>
        <c:lblAlgn val="ctr"/>
        <c:lblOffset val="100"/>
        <c:noMultiLvlLbl val="0"/>
      </c:catAx>
      <c:valAx>
        <c:axId val="2084222304"/>
        <c:scaling>
          <c:orientation val="minMax"/>
        </c:scaling>
        <c:delete val="1"/>
        <c:axPos val="b"/>
        <c:numFmt formatCode="&quot;$&quot;0.#0,,&quot;M&quot;" sourceLinked="0"/>
        <c:majorTickMark val="out"/>
        <c:minorTickMark val="none"/>
        <c:tickLblPos val="nextTo"/>
        <c:crossAx val="2084222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5073978719351013E-2"/>
          <c:y val="0.66488344135479827"/>
          <c:w val="0.93034976786794954"/>
          <c:h val="0.2509129556066624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Segoe Sans Text" pitchFamily="2" charset="0"/>
              <a:ea typeface="+mn-ea"/>
              <a:cs typeface="Segoe Sans Text" pitchFamily="2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 algn="just">
        <a:defRPr sz="11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4620441615940032E-2"/>
          <c:y val="2.1317435087970165E-2"/>
          <c:w val="0.96032315253021661"/>
          <c:h val="0.9574313266359493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E3008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1C6-F144-A581-10AFCD0565E7}"/>
              </c:ext>
            </c:extLst>
          </c:dPt>
          <c:dPt>
            <c:idx val="1"/>
            <c:bubble3D val="0"/>
            <c:spPr>
              <a:solidFill>
                <a:srgbClr val="637CE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1C6-F144-A581-10AFCD0565E7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1C6-F144-A581-10AFCD0565E7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1C6-F144-A581-10AFCD0565E7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1C6-F144-A581-10AFCD0565E7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Present</c:v>
                </c:pt>
                <c:pt idx="1">
                  <c:v>Absent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1C6-F144-A581-10AFCD0565E7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105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4620441615940032E-2"/>
          <c:y val="2.1317435087970165E-2"/>
          <c:w val="0.96032315253021661"/>
          <c:h val="0.9574313266359493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E3008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A5B-0142-ADA1-7A07BEFB079E}"/>
              </c:ext>
            </c:extLst>
          </c:dPt>
          <c:dPt>
            <c:idx val="1"/>
            <c:bubble3D val="0"/>
            <c:spPr>
              <a:solidFill>
                <a:srgbClr val="637CE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A5B-0142-ADA1-7A07BEFB079E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A5B-0142-ADA1-7A07BEFB079E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A5B-0142-ADA1-7A07BEFB079E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A5B-0142-ADA1-7A07BEFB079E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Protected</c:v>
                </c:pt>
                <c:pt idx="1">
                  <c:v>Vulnerable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A5B-0142-ADA1-7A07BEFB07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105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4620441615940032E-2"/>
          <c:y val="2.1317435087970165E-2"/>
          <c:w val="0.96032315253021661"/>
          <c:h val="0.9574313266359493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E3008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888-174B-B05C-56D40FC8C6CB}"/>
              </c:ext>
            </c:extLst>
          </c:dPt>
          <c:dPt>
            <c:idx val="1"/>
            <c:bubble3D val="0"/>
            <c:spPr>
              <a:solidFill>
                <a:srgbClr val="637CE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888-174B-B05C-56D40FC8C6CB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888-174B-B05C-56D40FC8C6CB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888-174B-B05C-56D40FC8C6CB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888-174B-B05C-56D40FC8C6CB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Not EOS</c:v>
                </c:pt>
                <c:pt idx="1">
                  <c:v>EOS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888-174B-B05C-56D40FC8C6CB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105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4620441615940032E-2"/>
          <c:y val="2.1317435087970165E-2"/>
          <c:w val="0.96032315253021661"/>
          <c:h val="0.9574313266359493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E3008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969-8E44-9775-2E22425B64A2}"/>
              </c:ext>
            </c:extLst>
          </c:dPt>
          <c:dPt>
            <c:idx val="1"/>
            <c:bubble3D val="0"/>
            <c:spPr>
              <a:solidFill>
                <a:srgbClr val="637CE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969-8E44-9775-2E22425B64A2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969-8E44-9775-2E22425B64A2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969-8E44-9775-2E22425B64A2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969-8E44-9775-2E22425B64A2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Present</c:v>
                </c:pt>
                <c:pt idx="1">
                  <c:v>Absent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969-8E44-9775-2E22425B64A2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105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4620441615940032E-2"/>
          <c:y val="2.1317435087970165E-2"/>
          <c:w val="0.96032315253021661"/>
          <c:h val="0.9574313266359493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E3008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E26-B34E-B255-B30662A58795}"/>
              </c:ext>
            </c:extLst>
          </c:dPt>
          <c:dPt>
            <c:idx val="1"/>
            <c:bubble3D val="0"/>
            <c:spPr>
              <a:solidFill>
                <a:srgbClr val="637CE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E26-B34E-B255-B30662A58795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E26-B34E-B255-B30662A58795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E26-B34E-B255-B30662A58795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E26-B34E-B255-B30662A58795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Up to date</c:v>
                </c:pt>
                <c:pt idx="1">
                  <c:v>Pending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E26-B34E-B255-B30662A5879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105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4620441615940032E-2"/>
          <c:y val="2.1317435087970165E-2"/>
          <c:w val="0.96032315253021661"/>
          <c:h val="0.9574313266359493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E3008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E49-C446-89C7-9899F9D72175}"/>
              </c:ext>
            </c:extLst>
          </c:dPt>
          <c:dPt>
            <c:idx val="1"/>
            <c:bubble3D val="0"/>
            <c:spPr>
              <a:solidFill>
                <a:srgbClr val="637CE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E49-C446-89C7-9899F9D72175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E49-C446-89C7-9899F9D72175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E49-C446-89C7-9899F9D72175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E49-C446-89C7-9899F9D72175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Not EOS</c:v>
                </c:pt>
                <c:pt idx="1">
                  <c:v>EOS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E49-C446-89C7-9899F9D7217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105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993D9-5BB4-2645-9091-99F440C80508}" type="datetimeFigureOut">
              <a:rPr lang="en-US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F10659-E3A8-8B4F-8859-10F3F56D3DE8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02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F10659-E3A8-8B4F-8859-10F3F56D3DE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5011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F10659-E3A8-8B4F-8859-10F3F56D3DE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0910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CCDB8-9CBB-FB72-215E-91C2AA54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FCBFB-1B4A-E8E2-FB3F-70DFCF22C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47199-4353-378A-407F-F13E09FB0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55312-8061-3B5D-3940-2D1BE3520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D51AF7-8954-431B-AC0D-E077DF1CB373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6672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DA735-0105-01EC-A7C4-CBC7D9779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773D4-0842-5595-B3C2-D5C10F394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66226-DB7D-D710-3D51-68AD89004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7FB47-0AA5-2E77-97B9-B87418AD1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D51AF7-8954-431B-AC0D-E077DF1CB373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7965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7549F-828D-F56F-EF1D-3E56D0485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F695A-03D8-6CCF-FC5E-B3F137F72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092BE-3F32-EEB1-8045-11F10C515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1CEEC-294C-2861-5EE3-6EE1B052F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D51AF7-8954-431B-AC0D-E077DF1CB373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0895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F10659-E3A8-8B4F-8859-10F3F56D3DE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32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55654-5119-CB54-808F-92D3A510D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674FA9FE-0B41-4157-125F-A58D2E1FD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019561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0FCF8-F4E1-30A5-BD53-C30E1080F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82F61B-6A2A-559B-B7BD-425C1E0BF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B8F10-A723-B6BB-C0D6-B0B4D15E7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E42C2-FCB9-05FE-CDD6-0271FCE50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D51AF7-8954-431B-AC0D-E077DF1CB373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496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D042-D770-0E4C-3C31-EAA8467E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DF1556-4F1A-10DE-847B-E73351477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1C342E-1949-6031-32EA-3F42CF7FE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AA57C-D8D3-4F8A-BE91-A51912AF5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D51AF7-8954-431B-AC0D-E077DF1CB373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2096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2CB4C-A8AA-0DE6-FF74-7B60C4884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D6B57B-A230-3B9C-C734-0126BC059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876323-1FF0-275C-095D-FEDF11BF7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647D0-3938-768F-A54F-73A59B0D3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D51AF7-8954-431B-AC0D-E077DF1CB373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9998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E8668-3BF4-E773-E637-DB554224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EBA2E-9809-5FB3-9068-7E51088AA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04B03-14FA-B609-68D6-70E374C0E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29B71-1934-EE59-3A66-65EF46AFD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F10659-E3A8-8B4F-8859-10F3F56D3DE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33098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4DFB0-8FD1-1EDD-B26F-560C5E1A8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E03EF-829E-C8D8-13E8-FE54F2E65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702409-54F0-6EA2-ADE8-D396C5AF5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933F9-D0D6-BF54-870E-2497DA7BD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F10659-E3A8-8B4F-8859-10F3F56D3DE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46811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FAD24-9D47-E25D-18D2-721BF722B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DC49D5-B82C-D0C4-0214-9A03BCC87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BC7CFB-0EC5-8F20-1B22-36207F225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31DDC-56A4-CFF0-1E07-026357E62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F10659-E3A8-8B4F-8859-10F3F56D3DE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759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E2322-4AB2-9E36-ACAD-548647747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016E4498-8E23-B0A6-A58C-FA71B41A5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77074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167B4-05A0-CCDD-D191-CD85DFF0D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9CAF8257-5D1E-3414-4E64-1756E12E7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473586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E3D8B-DA32-2F52-8ED2-6D08D7C2F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7B67D7-C584-7D89-FD30-384264301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0645C-9C57-5CE6-662D-073E3B041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929EB-D48F-7B2A-2E39-A2620546F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F10659-E3A8-8B4F-8859-10F3F56D3DE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69675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F10659-E3A8-8B4F-8859-10F3F56D3DE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80483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F10659-E3A8-8B4F-8859-10F3F56D3DE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464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7DFF8-D7AD-3089-CD24-5BFB8134C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BF1BD-8E1A-EDA3-9560-4E22E7AC1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5AB864-2621-3811-8586-12DC3DD06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2D720-F0DA-2CD1-F00B-C2423F595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D51AF7-8954-431B-AC0D-E077DF1CB373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4983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C1C5E-5936-8532-AFB6-664D9F2CE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F46CD-F24A-832D-C29A-1CD192478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4BE23-D81C-3C34-F4BA-6226F5E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FF63-CA3B-D245-980B-6B19FBA36CE1}" type="datetimeFigureOut">
              <a:rPr lang="en-US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F5BC7-BF29-85C7-80DA-51F104800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41F16-BD07-43FC-3611-01EC299F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6B084-A0AE-1E48-9586-50E4D50CCB7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277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3500F-F80D-5A82-F298-FEDFF919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93B00-3419-A37A-9F6C-1DD63111A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5BFB9-E15D-735B-CB42-F4CD5758F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FF63-CA3B-D245-980B-6B19FBA36CE1}" type="datetimeFigureOut">
              <a:rPr lang="en-US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E4C6F-0C42-78C3-6E14-E9CB69053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F5C2F-E76E-6EBC-25FD-A07FDBB39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6B084-A0AE-1E48-9586-50E4D50CCB7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19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47F6F-7873-360D-689A-FC2E744CB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4F09F-38C7-5456-0AD2-42FAF9A8E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44055-4F78-361A-7646-DF588FF50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FF63-CA3B-D245-980B-6B19FBA36CE1}" type="datetimeFigureOut">
              <a:rPr lang="en-US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D4F7C-7EDF-1823-5CEB-81FFD8330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8E8CF-47A7-6C09-45CC-66E76F594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6B084-A0AE-1E48-9586-50E4D50CCB7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22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D6D0-5FE4-BC85-5000-406AF0B9C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7DD8D-4B65-4A58-825E-CDBA99483D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29DAF-B50D-1112-888F-027125AED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00FED-0491-BD5F-13D6-7A352815E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FF63-CA3B-D245-980B-6B19FBA36CE1}" type="datetimeFigureOut">
              <a:rPr lang="en-US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9D8C9-4D60-44E5-F3E7-FF73D418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01606-DEE8-D9FF-85A1-3E6565EC7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6B084-A0AE-1E48-9586-50E4D50CCB7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603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B2FEC-4615-02FE-7BC1-BAEF5C699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556EC-0572-CCE3-2682-525853E4F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76998-B383-C223-644C-4E05ADC2F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A3C5EE-347E-25E7-BF1B-54E6B8735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70EFF9-7DB5-1BC1-ACA9-6BFFC3F3C9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1365AD-5C64-28CA-936B-8BEDFAC4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FF63-CA3B-D245-980B-6B19FBA36CE1}" type="datetimeFigureOut">
              <a:rPr lang="en-US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708E2B-7D45-B668-F400-D855B588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20DD66-C639-8FE5-B7C3-8D793478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6B084-A0AE-1E48-9586-50E4D50CCB7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94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CE339-815E-55FB-840D-FB2A8D338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990FA-74B7-4936-6639-69CF49468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FF63-CA3B-D245-980B-6B19FBA36CE1}" type="datetimeFigureOut">
              <a:rPr lang="en-US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7A913F-572A-ED6D-B04B-1B3A5C309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C421E-A922-CDA7-1761-E4552E2C0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6B084-A0AE-1E48-9586-50E4D50CCB7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2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901603-2013-D9A7-8092-1F16736E9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FF63-CA3B-D245-980B-6B19FBA36CE1}" type="datetimeFigureOut">
              <a:rPr lang="en-US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0FE6A6-6A3C-F04F-EA43-DCB8D7568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FC4F7-AF5A-F233-E295-D364046B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6B084-A0AE-1E48-9586-50E4D50CCB7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95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FB5E9-0419-88EF-7F70-E048227F0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CB0F3-74FC-AD85-EFD8-320F6D761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7D699-589C-F757-73D6-E81D54B47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62B8F-6027-1464-B90A-AC358B9D3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FF63-CA3B-D245-980B-6B19FBA36CE1}" type="datetimeFigureOut">
              <a:rPr lang="en-US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FB246-D0D4-5ECA-62E0-C9DD85C5A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8031E-4D90-FC40-C4B3-8C27220C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6B084-A0AE-1E48-9586-50E4D50CCB7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0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B060C-A696-C18C-8014-2D63642D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68EA9C-E115-11AD-37A2-AB87227E74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D8424-B65C-0E5A-67A4-6F620371A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30C12-8594-7E8B-9441-6991754D1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FF63-CA3B-D245-980B-6B19FBA36CE1}" type="datetimeFigureOut">
              <a:rPr lang="en-US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40D37-D735-2529-E7B2-64B6BAFB2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32380-084A-AA49-DAF4-603FDEA65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6B084-A0AE-1E48-9586-50E4D50CCB7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81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BE3D3-174F-37ED-10D7-8D0E7E518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EA6BB-29B8-32AE-C456-B0264817A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10429-AE72-120A-0E9B-C453BBEF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FF63-CA3B-D245-980B-6B19FBA36CE1}" type="datetimeFigureOut">
              <a:rPr lang="en-US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0CA84-9E67-B33A-4C81-D8A6C016E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AADDF-E8D6-7BC6-D355-A272A1C9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6B084-A0AE-1E48-9586-50E4D50CCB7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82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FF38E6-4EF1-3770-7E47-13BD682BF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9B555-D4D2-D7FE-4482-E0D017EFA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F19AE-038A-C7C2-8061-26BFC96D9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FF63-CA3B-D245-980B-6B19FBA36CE1}" type="datetimeFigureOut">
              <a:rPr lang="en-US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3AD16-1561-58D3-B496-E383EB4B9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9E46A-6771-0864-7E5A-87E62BD38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6B084-A0AE-1E48-9586-50E4D50CCB7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052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078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90000"/>
              </a:lnSpc>
            </a:pPr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40603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0C5A3D-6FBD-3375-7359-03142E8C5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B79CC-E181-8056-804C-3C082A532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2AFC8-D3EB-CB5B-3805-E79ACDFE2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1DFF63-CA3B-D245-980B-6B19FBA36CE1}" type="datetimeFigureOut">
              <a:rPr lang="en-US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CFA01-9104-5AA0-42EF-73688D475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FB22F-4CA1-940D-0661-CC33F89B6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C6B084-A0AE-1E48-9586-50E4D50CCB7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314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bin"/><Relationship Id="rId13" Type="http://schemas.openxmlformats.org/officeDocument/2006/relationships/image" Target="../media/image9.bin"/><Relationship Id="rId18" Type="http://schemas.openxmlformats.org/officeDocument/2006/relationships/image" Target="../media/image14.bin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12" Type="http://schemas.openxmlformats.org/officeDocument/2006/relationships/image" Target="../media/image8.bin"/><Relationship Id="rId17" Type="http://schemas.openxmlformats.org/officeDocument/2006/relationships/image" Target="../media/image13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2.bin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4.xml"/><Relationship Id="rId11" Type="http://schemas.openxmlformats.org/officeDocument/2006/relationships/image" Target="../media/image7.bin"/><Relationship Id="rId5" Type="http://schemas.openxmlformats.org/officeDocument/2006/relationships/chart" Target="../charts/chart3.xml"/><Relationship Id="rId15" Type="http://schemas.openxmlformats.org/officeDocument/2006/relationships/image" Target="../media/image11.bin"/><Relationship Id="rId10" Type="http://schemas.openxmlformats.org/officeDocument/2006/relationships/image" Target="../media/image6.bin"/><Relationship Id="rId19" Type="http://schemas.openxmlformats.org/officeDocument/2006/relationships/hyperlink" Target="https://ms.portal.azure.com/#view/Microsoft_Azure_Migrate/AmhProjectMenuBlade/~/allInventory/migrateProjectId/%2Fsubscriptions%2Fe9403744-f9a8-4966-8194-b09846035462%2FresourceGroups%2Fmigrationlab%2Fproviders%2FMicrosoft.Migrate%2FMigrateProjects%2Fmigration" TargetMode="External"/><Relationship Id="rId4" Type="http://schemas.openxmlformats.org/officeDocument/2006/relationships/chart" Target="../charts/chart2.xml"/><Relationship Id="rId9" Type="http://schemas.openxmlformats.org/officeDocument/2006/relationships/image" Target="../media/image5.bin"/><Relationship Id="rId14" Type="http://schemas.openxmlformats.org/officeDocument/2006/relationships/image" Target="../media/image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bin"/><Relationship Id="rId13" Type="http://schemas.openxmlformats.org/officeDocument/2006/relationships/chart" Target="../charts/chart6.xml"/><Relationship Id="rId3" Type="http://schemas.openxmlformats.org/officeDocument/2006/relationships/image" Target="../media/image11.bin"/><Relationship Id="rId7" Type="http://schemas.openxmlformats.org/officeDocument/2006/relationships/image" Target="../media/image5.bin"/><Relationship Id="rId12" Type="http://schemas.openxmlformats.org/officeDocument/2006/relationships/image" Target="../media/image10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bin"/><Relationship Id="rId11" Type="http://schemas.openxmlformats.org/officeDocument/2006/relationships/image" Target="../media/image8.bin"/><Relationship Id="rId5" Type="http://schemas.openxmlformats.org/officeDocument/2006/relationships/image" Target="../media/image13.bin"/><Relationship Id="rId10" Type="http://schemas.openxmlformats.org/officeDocument/2006/relationships/image" Target="../media/image9.bin"/><Relationship Id="rId4" Type="http://schemas.openxmlformats.org/officeDocument/2006/relationships/image" Target="../media/image12.bin"/><Relationship Id="rId9" Type="http://schemas.openxmlformats.org/officeDocument/2006/relationships/image" Target="../media/image7.bin"/><Relationship Id="rId14" Type="http://schemas.openxmlformats.org/officeDocument/2006/relationships/hyperlink" Target="https://ms.portal.azure.com/#view/Microsoft_Azure_Migrate/AmhProjectMenuBlade/~/allInventory/migrateProjectId/%2Fsubscriptions%2Fe9403744-f9a8-4966-8194-b09846035462%2FresourceGroups%2Fmigrationlab%2Fproviders%2FMicrosoft.Migrate%2FMigrateProjects%2Fmigration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ms.portal.azure.com/#view/Microsoft_Azure_Migrate/AmhProjectMenuBlade/~/allInventory/migrateProjectId/%2Fsubscriptions%2Fe9403744-f9a8-4966-8194-b09846035462%2FresourceGroups%2Fmigrationlab%2Fproviders%2FMicrosoft.Migrate%2FMigrateProjects%2Fmigration" TargetMode="External"/><Relationship Id="rId3" Type="http://schemas.openxmlformats.org/officeDocument/2006/relationships/image" Target="../media/image15.bin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7.xml"/><Relationship Id="rId5" Type="http://schemas.openxmlformats.org/officeDocument/2006/relationships/image" Target="../media/image17.bin"/><Relationship Id="rId4" Type="http://schemas.openxmlformats.org/officeDocument/2006/relationships/image" Target="../media/image1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ms.portal.azure.com/#view/Microsoft_Azure_Migrate/AmhProjectMenuBlade/~/insights/migrateProjectId/%2Fsubscriptions%2Fe9403744-f9a8-4966-8194-b09846035462%2FresourceGroups%2Fmigrationlab%2Fproviders%2FMicrosoft.Migrate%2FMigrateProjects%2Fmigration" TargetMode="External"/><Relationship Id="rId3" Type="http://schemas.openxmlformats.org/officeDocument/2006/relationships/chart" Target="../charts/chart9.xml"/><Relationship Id="rId7" Type="http://schemas.openxmlformats.org/officeDocument/2006/relationships/hyperlink" Target="https://www.nist.gov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Relationship Id="rId9" Type="http://schemas.openxmlformats.org/officeDocument/2006/relationships/chart" Target="../charts/char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s.portal.azure.com/#view/Microsoft_Azure_Migrate/AmhProjectMenuBlade/~/onPremisesCost/migrateProjectId/%2Fsubscriptions%2Fe9403744-f9a8-4966-8194-b09846035462%2FresourceGroups%2Fmigrationlab%2Fproviders%2FMicrosoft.Migrate%2FMigrateProjects%2Fmigration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bin"/><Relationship Id="rId3" Type="http://schemas.openxmlformats.org/officeDocument/2006/relationships/image" Target="../media/image18.bin"/><Relationship Id="rId7" Type="http://schemas.openxmlformats.org/officeDocument/2006/relationships/chart" Target="../charts/chart1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14.xml"/><Relationship Id="rId5" Type="http://schemas.openxmlformats.org/officeDocument/2006/relationships/image" Target="../media/image20.bin"/><Relationship Id="rId4" Type="http://schemas.openxmlformats.org/officeDocument/2006/relationships/image" Target="../media/image19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s.portal.azure.com/#view/Microsoft_Azure_OneMigrate/AppCentricBusinessCaseMenu.MenuView/~/overview/name/migratereport-biz/projectName/migrate4748project/subscriptionId/e9403744-f9a8-4966-8194-b09846035462/resourceGroup/migrationlab/businessCaseType/IaaSOnly/migrateProjectId/%2Fsubscriptions%2Fe9403744-f9a8-4966-8194-b09846035462%2FresourceGroups%2Fmigrationlab%2Fproviders%2FMicrosoft.Migrate%2FMigrateProjects%2Fmigratio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bin"/><Relationship Id="rId13" Type="http://schemas.openxmlformats.org/officeDocument/2006/relationships/image" Target="../media/image9.bin"/><Relationship Id="rId18" Type="http://schemas.openxmlformats.org/officeDocument/2006/relationships/image" Target="../media/image6.bin"/><Relationship Id="rId3" Type="http://schemas.openxmlformats.org/officeDocument/2006/relationships/image" Target="../media/image22.bin"/><Relationship Id="rId7" Type="http://schemas.openxmlformats.org/officeDocument/2006/relationships/chart" Target="../charts/chart17.xml"/><Relationship Id="rId12" Type="http://schemas.openxmlformats.org/officeDocument/2006/relationships/image" Target="../media/image5.bin"/><Relationship Id="rId17" Type="http://schemas.openxmlformats.org/officeDocument/2006/relationships/hyperlink" Target="https://ms.portal.azure.com/#view/Microsoft_Azure_MigrateAssessment/HaAssessmentOverview.ReactView/haAssessmentArmId/%2Fsubscriptions%2Fe9403744-f9a8-4966-8194-b09846035462%2Fresourcegroups%2Fmigrationlab%2Fproviders%2Fmicrosoft.migrate%2Fassessmentprojects%2Fmigrate4748project%2Fheterogeneousassessments%2Fhyper-v-assessment/assessmentArmIds~/%5B%22%2Fsubscriptions%2Fe9403744-f9a8-4966-8194-b09846035462%2Fresourcegroups%2Fmigrationlab%2Fproviders%2Fmicrosoft.migrate%2Fassessmentprojects%2Fmigrate4748project%2Fassessments%2Fhyper-v-assessment-vm%22%2C%20%22%2Fsubscriptions%2Fe9403744-f9a8-4966-8194-b09846035462%2Fresourcegroups%2Fmigrationlab%2Fproviders%2Fmicrosoft.migrate%2Fassessmentprojects%2Fmigrate4748project%2Fsqlassessments%2Fhyper-v-assessment-sql%22%2C%20%22%2Fsubscriptions%2Fe9403744-f9a8-4966-8194-b09846035462%2Fresourcegroups%2Fmigrationlab%2Fproviders%2Fmicrosoft.migrate%2Fassessmentprojects%2Fmigrate4748project%2Fwebappcompoundassessments%2Fhyper-v-assessment-webapp%22%5D" TargetMode="External"/><Relationship Id="rId2" Type="http://schemas.openxmlformats.org/officeDocument/2006/relationships/notesSlide" Target="../notesSlides/notesSlide12.xml"/><Relationship Id="rId16" Type="http://schemas.openxmlformats.org/officeDocument/2006/relationships/chart" Target="../charts/chart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bin"/><Relationship Id="rId11" Type="http://schemas.openxmlformats.org/officeDocument/2006/relationships/image" Target="../media/image7.bin"/><Relationship Id="rId5" Type="http://schemas.openxmlformats.org/officeDocument/2006/relationships/image" Target="../media/image12.bin"/><Relationship Id="rId15" Type="http://schemas.openxmlformats.org/officeDocument/2006/relationships/chart" Target="../charts/chart19.xml"/><Relationship Id="rId10" Type="http://schemas.openxmlformats.org/officeDocument/2006/relationships/image" Target="../media/image10.bin"/><Relationship Id="rId4" Type="http://schemas.openxmlformats.org/officeDocument/2006/relationships/image" Target="../media/image11.bin"/><Relationship Id="rId9" Type="http://schemas.openxmlformats.org/officeDocument/2006/relationships/image" Target="../media/image8.bin"/><Relationship Id="rId14" Type="http://schemas.openxmlformats.org/officeDocument/2006/relationships/chart" Target="../charts/char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7" Type="http://schemas.openxmlformats.org/officeDocument/2006/relationships/hyperlink" Target="https://ms.portal.azure.com/#view/Microsoft_Azure_MigrateAssessment/HaAssessmentOverview.ReactView/haAssessmentArmId/%2Fsubscriptions%2Fe9403744-f9a8-4966-8194-b09846035462%2Fresourcegroups%2Fmigrationlab%2Fproviders%2Fmicrosoft.migrate%2Fassessmentprojects%2Fmigrate4748project%2Fheterogeneousassessments%2Fhyper-v-assessment/assessmentArmIds~/%5B%22%2Fsubscriptions%2Fe9403744-f9a8-4966-8194-b09846035462%2Fresourcegroups%2Fmigrationlab%2Fproviders%2Fmicrosoft.migrate%2Fassessmentprojects%2Fmigrate4748project%2Fassessments%2Fhyper-v-assessment-vm%22%2C%20%22%2Fsubscriptions%2Fe9403744-f9a8-4966-8194-b09846035462%2Fresourcegroups%2Fmigrationlab%2Fproviders%2Fmicrosoft.migrate%2Fassessmentprojects%2Fmigrate4748project%2Fsqlassessments%2Fhyper-v-assessment-sql%22%2C%20%22%2Fsubscriptions%2Fe9403744-f9a8-4966-8194-b09846035462%2Fresourcegroups%2Fmigrationlab%2Fproviders%2Fmicrosoft.migrate%2Fassessmentprojects%2Fmigrate4748project%2Fwebappcompoundassessments%2Fhyper-v-assessment-webapp%22%5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24.xml"/><Relationship Id="rId5" Type="http://schemas.openxmlformats.org/officeDocument/2006/relationships/chart" Target="../charts/chart23.xml"/><Relationship Id="rId4" Type="http://schemas.openxmlformats.org/officeDocument/2006/relationships/chart" Target="../charts/char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s.portal.azure.com/#view/Microsoft_Azure_Migrate/AmhResourceMenuBlade/~/getStarted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artsprodkocsa.blob.core.windows.net/a-ad9525be1441c2ca/75c87798468f/Inventory_wave_mapping_hyper-v-assessment_LiftAndShift.csv?skoid=d1c3a018-3072-4cce-9cc7-baebf0066435&amp;sktid=33e01921-4d64-4f8c-a055-5bdaffd5e33d&amp;skt=2026-09-01T14%3A31%3A18Z&amp;ske=2026-09-01T15%3A36%3A18Z&amp;sks=b&amp;skv=2026-06-06&amp;sv=2026-06-06&amp;spr=https&amp;st=2026-09-01T14%3A31%3A21Z&amp;se=2026-09-01T15%3A36%3A21Z&amp;sr=b&amp;sp=r&amp;sig=OmfplUu2ozZ4%2BaocshwnhJEgAsjQbup5qP3VoAT%2FmHQ%3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ms.portal.azure.com/#view/Microsoft_Azure_OneMigrate/AppCentricBusinessCaseMenu.MenuView/~/versus/name/migratereport-biz/projectName/migrate4748project/subscriptionId/e9403744-f9a8-4966-8194-b09846035462/resourceGroup/migrationlab/businessCaseType/IaaSOnly/migrateProjectId/%2Fsubscriptions%2Fe9403744-f9a8-4966-8194-b09846035462%2FresourceGroups%2Fmigrationlab%2Fproviders%2FMicrosoft.Migrate%2FMigrateProjects%2Fmigration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28.xml"/><Relationship Id="rId5" Type="http://schemas.openxmlformats.org/officeDocument/2006/relationships/chart" Target="../charts/chart27.xml"/><Relationship Id="rId4" Type="http://schemas.openxmlformats.org/officeDocument/2006/relationships/chart" Target="../charts/chart2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32.xml"/><Relationship Id="rId5" Type="http://schemas.openxmlformats.org/officeDocument/2006/relationships/chart" Target="../charts/chart31.xml"/><Relationship Id="rId4" Type="http://schemas.openxmlformats.org/officeDocument/2006/relationships/chart" Target="../charts/chart3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8.xml"/><Relationship Id="rId3" Type="http://schemas.openxmlformats.org/officeDocument/2006/relationships/chart" Target="../charts/chart33.xml"/><Relationship Id="rId7" Type="http://schemas.openxmlformats.org/officeDocument/2006/relationships/chart" Target="../charts/chart3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36.xml"/><Relationship Id="rId5" Type="http://schemas.openxmlformats.org/officeDocument/2006/relationships/chart" Target="../charts/chart35.xml"/><Relationship Id="rId4" Type="http://schemas.openxmlformats.org/officeDocument/2006/relationships/chart" Target="../charts/chart34.xml"/><Relationship Id="rId9" Type="http://schemas.openxmlformats.org/officeDocument/2006/relationships/hyperlink" Target="https://ms.portal.azure.com/#view/Microsoft_Azure_Migrate/ExposedServersList.ReactView/migrateProjectId/%2Fsubscriptions%2Fe9403744-f9a8-4966-8194-b09846035462%2FresourceGroups%2Fmigrationlab%2Fproviders%2FMicrosoft.Migrate%2FMigrateProjects%2Fmigration/insightsView~/true/serversWithSecurityRisks~/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60587-9C79-C306-65AB-5E355DB5C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687117"/>
            <a:ext cx="5339522" cy="1846659"/>
          </a:xfrm>
        </p:spPr>
        <p:txBody>
          <a:bodyPr/>
          <a:lstStyle/>
          <a:p>
            <a:pPr defTabSz="932742">
              <a:lnSpc>
                <a:spcPct val="100000"/>
              </a:lnSpc>
            </a:pPr>
            <a:r>
              <a:rPr lang="en-US" dirty="0">
                <a:ln w="3175">
                  <a:noFill/>
                </a:ln>
                <a:solidFill>
                  <a:srgbClr val="000000"/>
                </a:solidFill>
                <a:latin typeface="Segoe Sans Text Semibold"/>
                <a:ea typeface="+mn-ea"/>
              </a:rPr>
              <a:t>Azure Migration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FC65D-7128-B5EB-9516-06DA310C2D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200" y="3752010"/>
            <a:ext cx="4978400" cy="387798"/>
          </a:xfrm>
        </p:spPr>
        <p:txBody>
          <a:bodyPr/>
          <a:lstStyle/>
          <a:p>
            <a:r>
              <a:rPr lang="en-US" sz="2800" dirty="0">
                <a:latin typeface="Segoe Sans Text" pitchFamily="2" charset="0"/>
                <a:ea typeface="+mj-ea"/>
                <a:cs typeface="Segoe Sans Text" pitchFamily="2" charset="0"/>
              </a:rPr>
              <a:t>&lt;Rajesh Patil&gt;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B4B4BA4-317B-3C98-8629-213E8642394F}"/>
              </a:ext>
            </a:extLst>
          </p:cNvPr>
          <p:cNvSpPr txBox="1">
            <a:spLocks/>
          </p:cNvSpPr>
          <p:nvPr/>
        </p:nvSpPr>
        <p:spPr>
          <a:xfrm>
            <a:off x="658813" y="5250375"/>
            <a:ext cx="4978400" cy="223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Prepared by Azure Migrate</a:t>
            </a:r>
          </a:p>
        </p:txBody>
      </p:sp>
    </p:spTree>
    <p:extLst>
      <p:ext uri="{BB962C8B-B14F-4D97-AF65-F5344CB8AC3E}">
        <p14:creationId xmlns:p14="http://schemas.microsoft.com/office/powerpoint/2010/main" val="1918689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:a16="http://schemas.microsoft.com/office/drawing/2014/main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022B7696-6B82-6AAC-AF1D-8459FA0DD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528" y="2920467"/>
            <a:ext cx="2561336" cy="613309"/>
          </a:xfrm>
        </p:spPr>
        <p:txBody>
          <a:bodyPr/>
          <a:lstStyle/>
          <a:p>
            <a:r>
              <a:rPr lang="en-IN" sz="4400">
                <a:latin typeface="Segoe Sans Text" pitchFamily="2" charset="0"/>
                <a:cs typeface="Segoe Sans Text" pitchFamily="2" charset="0"/>
              </a:rPr>
              <a:t>Agenda</a:t>
            </a:r>
            <a:endParaRPr lang="en-US">
              <a:latin typeface="Segoe Sans Text" pitchFamily="2" charset="0"/>
              <a:cs typeface="Segoe Sans Text" pitchFamily="2" charset="0"/>
            </a:endParaRPr>
          </a:p>
        </p:txBody>
      </p:sp>
      <p:sp>
        <p:nvSpPr>
          <p:cNvPr id="42" name="Graphic 38" descr="Icon of a bulleted clipboard">
            <a:extLst>
              <a:ext uri="{FF2B5EF4-FFF2-40B4-BE49-F238E27FC236}">
                <a16:creationId xmlns:a16="http://schemas.microsoft.com/office/drawing/2014/main" id="{A9ABFCCF-0F4F-0F5F-7DE7-155E667D00F9}"/>
              </a:ext>
            </a:extLst>
          </p:cNvPr>
          <p:cNvSpPr>
            <a:spLocks/>
          </p:cNvSpPr>
          <p:nvPr/>
        </p:nvSpPr>
        <p:spPr>
          <a:xfrm>
            <a:off x="420463" y="3032125"/>
            <a:ext cx="271604" cy="362142"/>
          </a:xfrm>
          <a:custGeom>
            <a:avLst/>
            <a:gdLst>
              <a:gd name="connsiteX0" fmla="*/ 201463 w 783559"/>
              <a:gd name="connsiteY0" fmla="*/ 65297 h 1044745"/>
              <a:gd name="connsiteX1" fmla="*/ 97945 w 783559"/>
              <a:gd name="connsiteY1" fmla="*/ 65297 h 1044745"/>
              <a:gd name="connsiteX2" fmla="*/ 0 w 783559"/>
              <a:gd name="connsiteY2" fmla="*/ 163242 h 1044745"/>
              <a:gd name="connsiteX3" fmla="*/ 0 w 783559"/>
              <a:gd name="connsiteY3" fmla="*/ 946801 h 1044745"/>
              <a:gd name="connsiteX4" fmla="*/ 97945 w 783559"/>
              <a:gd name="connsiteY4" fmla="*/ 1044746 h 1044745"/>
              <a:gd name="connsiteX5" fmla="*/ 685614 w 783559"/>
              <a:gd name="connsiteY5" fmla="*/ 1044746 h 1044745"/>
              <a:gd name="connsiteX6" fmla="*/ 783559 w 783559"/>
              <a:gd name="connsiteY6" fmla="*/ 946801 h 1044745"/>
              <a:gd name="connsiteX7" fmla="*/ 783559 w 783559"/>
              <a:gd name="connsiteY7" fmla="*/ 163242 h 1044745"/>
              <a:gd name="connsiteX8" fmla="*/ 685614 w 783559"/>
              <a:gd name="connsiteY8" fmla="*/ 65297 h 1044745"/>
              <a:gd name="connsiteX9" fmla="*/ 582093 w 783559"/>
              <a:gd name="connsiteY9" fmla="*/ 65297 h 1044745"/>
              <a:gd name="connsiteX10" fmla="*/ 489725 w 783559"/>
              <a:gd name="connsiteY10" fmla="*/ 0 h 1044745"/>
              <a:gd name="connsiteX11" fmla="*/ 293835 w 783559"/>
              <a:gd name="connsiteY11" fmla="*/ 0 h 1044745"/>
              <a:gd name="connsiteX12" fmla="*/ 201463 w 783559"/>
              <a:gd name="connsiteY12" fmla="*/ 65297 h 1044745"/>
              <a:gd name="connsiteX13" fmla="*/ 293835 w 783559"/>
              <a:gd name="connsiteY13" fmla="*/ 65297 h 1044745"/>
              <a:gd name="connsiteX14" fmla="*/ 489725 w 783559"/>
              <a:gd name="connsiteY14" fmla="*/ 65297 h 1044745"/>
              <a:gd name="connsiteX15" fmla="*/ 522373 w 783559"/>
              <a:gd name="connsiteY15" fmla="*/ 97945 h 1044745"/>
              <a:gd name="connsiteX16" fmla="*/ 489725 w 783559"/>
              <a:gd name="connsiteY16" fmla="*/ 130593 h 1044745"/>
              <a:gd name="connsiteX17" fmla="*/ 293835 w 783559"/>
              <a:gd name="connsiteY17" fmla="*/ 130593 h 1044745"/>
              <a:gd name="connsiteX18" fmla="*/ 261186 w 783559"/>
              <a:gd name="connsiteY18" fmla="*/ 97945 h 1044745"/>
              <a:gd name="connsiteX19" fmla="*/ 293835 w 783559"/>
              <a:gd name="connsiteY19" fmla="*/ 65297 h 1044745"/>
              <a:gd name="connsiteX20" fmla="*/ 326483 w 783559"/>
              <a:gd name="connsiteY20" fmla="*/ 424428 h 1044745"/>
              <a:gd name="connsiteX21" fmla="*/ 359131 w 783559"/>
              <a:gd name="connsiteY21" fmla="*/ 391780 h 1044745"/>
              <a:gd name="connsiteX22" fmla="*/ 587669 w 783559"/>
              <a:gd name="connsiteY22" fmla="*/ 391780 h 1044745"/>
              <a:gd name="connsiteX23" fmla="*/ 620318 w 783559"/>
              <a:gd name="connsiteY23" fmla="*/ 424428 h 1044745"/>
              <a:gd name="connsiteX24" fmla="*/ 587669 w 783559"/>
              <a:gd name="connsiteY24" fmla="*/ 457076 h 1044745"/>
              <a:gd name="connsiteX25" fmla="*/ 359131 w 783559"/>
              <a:gd name="connsiteY25" fmla="*/ 457076 h 1044745"/>
              <a:gd name="connsiteX26" fmla="*/ 326483 w 783559"/>
              <a:gd name="connsiteY26" fmla="*/ 424428 h 1044745"/>
              <a:gd name="connsiteX27" fmla="*/ 326483 w 783559"/>
              <a:gd name="connsiteY27" fmla="*/ 620318 h 1044745"/>
              <a:gd name="connsiteX28" fmla="*/ 359131 w 783559"/>
              <a:gd name="connsiteY28" fmla="*/ 587669 h 1044745"/>
              <a:gd name="connsiteX29" fmla="*/ 587669 w 783559"/>
              <a:gd name="connsiteY29" fmla="*/ 587669 h 1044745"/>
              <a:gd name="connsiteX30" fmla="*/ 620318 w 783559"/>
              <a:gd name="connsiteY30" fmla="*/ 620318 h 1044745"/>
              <a:gd name="connsiteX31" fmla="*/ 587669 w 783559"/>
              <a:gd name="connsiteY31" fmla="*/ 652966 h 1044745"/>
              <a:gd name="connsiteX32" fmla="*/ 359131 w 783559"/>
              <a:gd name="connsiteY32" fmla="*/ 652966 h 1044745"/>
              <a:gd name="connsiteX33" fmla="*/ 326483 w 783559"/>
              <a:gd name="connsiteY33" fmla="*/ 620318 h 1044745"/>
              <a:gd name="connsiteX34" fmla="*/ 326483 w 783559"/>
              <a:gd name="connsiteY34" fmla="*/ 816208 h 1044745"/>
              <a:gd name="connsiteX35" fmla="*/ 359131 w 783559"/>
              <a:gd name="connsiteY35" fmla="*/ 783559 h 1044745"/>
              <a:gd name="connsiteX36" fmla="*/ 587669 w 783559"/>
              <a:gd name="connsiteY36" fmla="*/ 783559 h 1044745"/>
              <a:gd name="connsiteX37" fmla="*/ 620318 w 783559"/>
              <a:gd name="connsiteY37" fmla="*/ 816208 h 1044745"/>
              <a:gd name="connsiteX38" fmla="*/ 587669 w 783559"/>
              <a:gd name="connsiteY38" fmla="*/ 848856 h 1044745"/>
              <a:gd name="connsiteX39" fmla="*/ 359131 w 783559"/>
              <a:gd name="connsiteY39" fmla="*/ 848856 h 1044745"/>
              <a:gd name="connsiteX40" fmla="*/ 326483 w 783559"/>
              <a:gd name="connsiteY40" fmla="*/ 816208 h 1044745"/>
              <a:gd name="connsiteX41" fmla="*/ 261186 w 783559"/>
              <a:gd name="connsiteY41" fmla="*/ 424428 h 1044745"/>
              <a:gd name="connsiteX42" fmla="*/ 212214 w 783559"/>
              <a:gd name="connsiteY42" fmla="*/ 473400 h 1044745"/>
              <a:gd name="connsiteX43" fmla="*/ 163242 w 783559"/>
              <a:gd name="connsiteY43" fmla="*/ 424428 h 1044745"/>
              <a:gd name="connsiteX44" fmla="*/ 212214 w 783559"/>
              <a:gd name="connsiteY44" fmla="*/ 375455 h 1044745"/>
              <a:gd name="connsiteX45" fmla="*/ 261186 w 783559"/>
              <a:gd name="connsiteY45" fmla="*/ 424428 h 1044745"/>
              <a:gd name="connsiteX46" fmla="*/ 261186 w 783559"/>
              <a:gd name="connsiteY46" fmla="*/ 620318 h 1044745"/>
              <a:gd name="connsiteX47" fmla="*/ 212214 w 783559"/>
              <a:gd name="connsiteY47" fmla="*/ 669290 h 1044745"/>
              <a:gd name="connsiteX48" fmla="*/ 163242 w 783559"/>
              <a:gd name="connsiteY48" fmla="*/ 620318 h 1044745"/>
              <a:gd name="connsiteX49" fmla="*/ 212214 w 783559"/>
              <a:gd name="connsiteY49" fmla="*/ 571345 h 1044745"/>
              <a:gd name="connsiteX50" fmla="*/ 261186 w 783559"/>
              <a:gd name="connsiteY50" fmla="*/ 620318 h 1044745"/>
              <a:gd name="connsiteX51" fmla="*/ 212214 w 783559"/>
              <a:gd name="connsiteY51" fmla="*/ 865180 h 1044745"/>
              <a:gd name="connsiteX52" fmla="*/ 163242 w 783559"/>
              <a:gd name="connsiteY52" fmla="*/ 816208 h 1044745"/>
              <a:gd name="connsiteX53" fmla="*/ 212214 w 783559"/>
              <a:gd name="connsiteY53" fmla="*/ 767235 h 1044745"/>
              <a:gd name="connsiteX54" fmla="*/ 261186 w 783559"/>
              <a:gd name="connsiteY54" fmla="*/ 816208 h 1044745"/>
              <a:gd name="connsiteX55" fmla="*/ 212214 w 783559"/>
              <a:gd name="connsiteY55" fmla="*/ 865180 h 1044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783559" h="1044745">
                <a:moveTo>
                  <a:pt x="201463" y="65297"/>
                </a:moveTo>
                <a:lnTo>
                  <a:pt x="97945" y="65297"/>
                </a:lnTo>
                <a:cubicBezTo>
                  <a:pt x="43851" y="65297"/>
                  <a:pt x="0" y="109148"/>
                  <a:pt x="0" y="163242"/>
                </a:cubicBezTo>
                <a:lnTo>
                  <a:pt x="0" y="946801"/>
                </a:lnTo>
                <a:cubicBezTo>
                  <a:pt x="0" y="1000892"/>
                  <a:pt x="43851" y="1044746"/>
                  <a:pt x="97945" y="1044746"/>
                </a:cubicBezTo>
                <a:lnTo>
                  <a:pt x="685614" y="1044746"/>
                </a:lnTo>
                <a:cubicBezTo>
                  <a:pt x="739706" y="1044746"/>
                  <a:pt x="783559" y="1000892"/>
                  <a:pt x="783559" y="946801"/>
                </a:cubicBezTo>
                <a:lnTo>
                  <a:pt x="783559" y="163242"/>
                </a:lnTo>
                <a:cubicBezTo>
                  <a:pt x="783559" y="109148"/>
                  <a:pt x="739706" y="65297"/>
                  <a:pt x="685614" y="65297"/>
                </a:cubicBezTo>
                <a:lnTo>
                  <a:pt x="582093" y="65297"/>
                </a:lnTo>
                <a:cubicBezTo>
                  <a:pt x="568649" y="27255"/>
                  <a:pt x="532370" y="0"/>
                  <a:pt x="489725" y="0"/>
                </a:cubicBezTo>
                <a:lnTo>
                  <a:pt x="293835" y="0"/>
                </a:lnTo>
                <a:cubicBezTo>
                  <a:pt x="251189" y="0"/>
                  <a:pt x="214909" y="27255"/>
                  <a:pt x="201463" y="65297"/>
                </a:cubicBezTo>
                <a:close/>
                <a:moveTo>
                  <a:pt x="293835" y="65297"/>
                </a:moveTo>
                <a:lnTo>
                  <a:pt x="489725" y="65297"/>
                </a:lnTo>
                <a:cubicBezTo>
                  <a:pt x="507753" y="65297"/>
                  <a:pt x="522373" y="79914"/>
                  <a:pt x="522373" y="97945"/>
                </a:cubicBezTo>
                <a:cubicBezTo>
                  <a:pt x="522373" y="115976"/>
                  <a:pt x="507753" y="130593"/>
                  <a:pt x="489725" y="130593"/>
                </a:cubicBezTo>
                <a:lnTo>
                  <a:pt x="293835" y="130593"/>
                </a:lnTo>
                <a:cubicBezTo>
                  <a:pt x="275804" y="130593"/>
                  <a:pt x="261186" y="115976"/>
                  <a:pt x="261186" y="97945"/>
                </a:cubicBezTo>
                <a:cubicBezTo>
                  <a:pt x="261186" y="79914"/>
                  <a:pt x="275804" y="65297"/>
                  <a:pt x="293835" y="65297"/>
                </a:cubicBezTo>
                <a:close/>
                <a:moveTo>
                  <a:pt x="326483" y="424428"/>
                </a:moveTo>
                <a:cubicBezTo>
                  <a:pt x="326483" y="406397"/>
                  <a:pt x="341100" y="391780"/>
                  <a:pt x="359131" y="391780"/>
                </a:cubicBezTo>
                <a:lnTo>
                  <a:pt x="587669" y="391780"/>
                </a:lnTo>
                <a:cubicBezTo>
                  <a:pt x="605698" y="391780"/>
                  <a:pt x="620318" y="406397"/>
                  <a:pt x="620318" y="424428"/>
                </a:cubicBezTo>
                <a:cubicBezTo>
                  <a:pt x="620318" y="442459"/>
                  <a:pt x="605698" y="457076"/>
                  <a:pt x="587669" y="457076"/>
                </a:cubicBezTo>
                <a:lnTo>
                  <a:pt x="359131" y="457076"/>
                </a:lnTo>
                <a:cubicBezTo>
                  <a:pt x="341100" y="457076"/>
                  <a:pt x="326483" y="442459"/>
                  <a:pt x="326483" y="424428"/>
                </a:cubicBezTo>
                <a:close/>
                <a:moveTo>
                  <a:pt x="326483" y="620318"/>
                </a:moveTo>
                <a:cubicBezTo>
                  <a:pt x="326483" y="602289"/>
                  <a:pt x="341100" y="587669"/>
                  <a:pt x="359131" y="587669"/>
                </a:cubicBezTo>
                <a:lnTo>
                  <a:pt x="587669" y="587669"/>
                </a:lnTo>
                <a:cubicBezTo>
                  <a:pt x="605698" y="587669"/>
                  <a:pt x="620318" y="602289"/>
                  <a:pt x="620318" y="620318"/>
                </a:cubicBezTo>
                <a:cubicBezTo>
                  <a:pt x="620318" y="638346"/>
                  <a:pt x="605698" y="652966"/>
                  <a:pt x="587669" y="652966"/>
                </a:cubicBezTo>
                <a:lnTo>
                  <a:pt x="359131" y="652966"/>
                </a:lnTo>
                <a:cubicBezTo>
                  <a:pt x="341100" y="652966"/>
                  <a:pt x="326483" y="638346"/>
                  <a:pt x="326483" y="620318"/>
                </a:cubicBezTo>
                <a:close/>
                <a:moveTo>
                  <a:pt x="326483" y="816208"/>
                </a:moveTo>
                <a:cubicBezTo>
                  <a:pt x="326483" y="798179"/>
                  <a:pt x="341100" y="783559"/>
                  <a:pt x="359131" y="783559"/>
                </a:cubicBezTo>
                <a:lnTo>
                  <a:pt x="587669" y="783559"/>
                </a:lnTo>
                <a:cubicBezTo>
                  <a:pt x="605698" y="783559"/>
                  <a:pt x="620318" y="798179"/>
                  <a:pt x="620318" y="816208"/>
                </a:cubicBezTo>
                <a:cubicBezTo>
                  <a:pt x="620318" y="834236"/>
                  <a:pt x="605698" y="848856"/>
                  <a:pt x="587669" y="848856"/>
                </a:cubicBezTo>
                <a:lnTo>
                  <a:pt x="359131" y="848856"/>
                </a:lnTo>
                <a:cubicBezTo>
                  <a:pt x="341100" y="848856"/>
                  <a:pt x="326483" y="834236"/>
                  <a:pt x="326483" y="816208"/>
                </a:cubicBezTo>
                <a:close/>
                <a:moveTo>
                  <a:pt x="261186" y="424428"/>
                </a:moveTo>
                <a:cubicBezTo>
                  <a:pt x="261186" y="451474"/>
                  <a:pt x="239260" y="473400"/>
                  <a:pt x="212214" y="473400"/>
                </a:cubicBezTo>
                <a:cubicBezTo>
                  <a:pt x="185167" y="473400"/>
                  <a:pt x="163242" y="451474"/>
                  <a:pt x="163242" y="424428"/>
                </a:cubicBezTo>
                <a:cubicBezTo>
                  <a:pt x="163242" y="397381"/>
                  <a:pt x="185167" y="375455"/>
                  <a:pt x="212214" y="375455"/>
                </a:cubicBezTo>
                <a:cubicBezTo>
                  <a:pt x="239260" y="375455"/>
                  <a:pt x="261186" y="397381"/>
                  <a:pt x="261186" y="424428"/>
                </a:cubicBezTo>
                <a:close/>
                <a:moveTo>
                  <a:pt x="261186" y="620318"/>
                </a:moveTo>
                <a:cubicBezTo>
                  <a:pt x="261186" y="647364"/>
                  <a:pt x="239260" y="669290"/>
                  <a:pt x="212214" y="669290"/>
                </a:cubicBezTo>
                <a:cubicBezTo>
                  <a:pt x="185167" y="669290"/>
                  <a:pt x="163242" y="647364"/>
                  <a:pt x="163242" y="620318"/>
                </a:cubicBezTo>
                <a:cubicBezTo>
                  <a:pt x="163242" y="593272"/>
                  <a:pt x="185167" y="571345"/>
                  <a:pt x="212214" y="571345"/>
                </a:cubicBezTo>
                <a:cubicBezTo>
                  <a:pt x="239260" y="571345"/>
                  <a:pt x="261186" y="593272"/>
                  <a:pt x="261186" y="620318"/>
                </a:cubicBezTo>
                <a:close/>
                <a:moveTo>
                  <a:pt x="212214" y="865180"/>
                </a:moveTo>
                <a:cubicBezTo>
                  <a:pt x="185167" y="865180"/>
                  <a:pt x="163242" y="843253"/>
                  <a:pt x="163242" y="816208"/>
                </a:cubicBezTo>
                <a:cubicBezTo>
                  <a:pt x="163242" y="789162"/>
                  <a:pt x="185167" y="767235"/>
                  <a:pt x="212214" y="767235"/>
                </a:cubicBezTo>
                <a:cubicBezTo>
                  <a:pt x="239260" y="767235"/>
                  <a:pt x="261186" y="789162"/>
                  <a:pt x="261186" y="816208"/>
                </a:cubicBezTo>
                <a:cubicBezTo>
                  <a:pt x="261186" y="843253"/>
                  <a:pt x="239260" y="865180"/>
                  <a:pt x="212214" y="865180"/>
                </a:cubicBezTo>
                <a:close/>
              </a:path>
            </a:pathLst>
          </a:custGeom>
          <a:gradFill>
            <a:gsLst>
              <a:gs pos="10000">
                <a:schemeClr val="tx2">
                  <a:lumMod val="75000"/>
                  <a:lumOff val="25000"/>
                </a:schemeClr>
              </a:gs>
              <a:gs pos="71000">
                <a:schemeClr val="tx2">
                  <a:lumMod val="50000"/>
                  <a:lumOff val="50000"/>
                </a:schemeClr>
              </a:gs>
            </a:gsLst>
            <a:lin ang="7800000" scaled="0"/>
          </a:gradFill>
          <a:ln w="1270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B1CCA38-8C98-E98D-43A3-3C79E58A1832}"/>
              </a:ext>
            </a:extLst>
          </p:cNvPr>
          <p:cNvSpPr/>
          <p:nvPr/>
        </p:nvSpPr>
        <p:spPr>
          <a:xfrm>
            <a:off x="313267" y="2703859"/>
            <a:ext cx="2921000" cy="108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: Rounded Corners 3">
            <a:extLst>
              <a:ext uri="{FF2B5EF4-FFF2-40B4-BE49-F238E27FC236}">
                <a16:creationId xmlns:a16="http://schemas.microsoft.com/office/drawing/2014/main" id="{2AC5FFA2-2EC6-CA30-CF75-F246DEB42353}"/>
              </a:ext>
            </a:extLst>
          </p:cNvPr>
          <p:cNvSpPr/>
          <p:nvPr/>
        </p:nvSpPr>
        <p:spPr bwMode="auto">
          <a:xfrm>
            <a:off x="5029199" y="1209771"/>
            <a:ext cx="6574538" cy="4768638"/>
          </a:xfrm>
          <a:prstGeom prst="roundRect">
            <a:avLst>
              <a:gd name="adj" fmla="val 2861"/>
            </a:avLst>
          </a:prstGeom>
          <a:gradFill flip="none" rotWithShape="1">
            <a:gsLst>
              <a:gs pos="100000">
                <a:srgbClr val="D6D8DC">
                  <a:alpha val="13987"/>
                </a:srgbClr>
              </a:gs>
              <a:gs pos="0">
                <a:schemeClr val="bg1"/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/>
              <a:ea typeface="+mn-ea"/>
              <a:cs typeface="Segoe UI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E2758E22-6548-678D-DB45-2CAB46F6C426}"/>
              </a:ext>
            </a:extLst>
          </p:cNvPr>
          <p:cNvSpPr txBox="1">
            <a:spLocks/>
          </p:cNvSpPr>
          <p:nvPr/>
        </p:nvSpPr>
        <p:spPr>
          <a:xfrm>
            <a:off x="5336120" y="2173257"/>
            <a:ext cx="6267617" cy="4542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2. Strategic Approach &amp; Business Case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C28E0D46-2430-457B-19E9-575373EBBDE1}"/>
              </a:ext>
            </a:extLst>
          </p:cNvPr>
          <p:cNvSpPr txBox="1">
            <a:spLocks/>
          </p:cNvSpPr>
          <p:nvPr/>
        </p:nvSpPr>
        <p:spPr>
          <a:xfrm>
            <a:off x="5336120" y="2743317"/>
            <a:ext cx="6267617" cy="4542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3. Application and Workload Assessment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7A77FD2C-02BB-5EA4-C043-5CC0C0BF04F4}"/>
              </a:ext>
            </a:extLst>
          </p:cNvPr>
          <p:cNvSpPr txBox="1">
            <a:spLocks/>
          </p:cNvSpPr>
          <p:nvPr/>
        </p:nvSpPr>
        <p:spPr>
          <a:xfrm>
            <a:off x="5336120" y="3313377"/>
            <a:ext cx="6267617" cy="4542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4. Migration Planning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409ABDE-704E-0204-3631-B1E7DE230B20}"/>
              </a:ext>
            </a:extLst>
          </p:cNvPr>
          <p:cNvSpPr txBox="1">
            <a:spLocks/>
          </p:cNvSpPr>
          <p:nvPr/>
        </p:nvSpPr>
        <p:spPr>
          <a:xfrm>
            <a:off x="5336120" y="1603197"/>
            <a:ext cx="6267617" cy="4542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1. Executive Summary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9BE57131-DD8E-F3EE-FB8D-EDEDDF8E5192}"/>
              </a:ext>
            </a:extLst>
          </p:cNvPr>
          <p:cNvSpPr txBox="1">
            <a:spLocks/>
          </p:cNvSpPr>
          <p:nvPr/>
        </p:nvSpPr>
        <p:spPr>
          <a:xfrm>
            <a:off x="5336120" y="3883436"/>
            <a:ext cx="6267617" cy="4542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5. Appendix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3F0B10-B857-A22C-F6D3-2E5C0EB790B5}"/>
              </a:ext>
            </a:extLst>
          </p:cNvPr>
          <p:cNvSpPr txBox="1"/>
          <p:nvPr/>
        </p:nvSpPr>
        <p:spPr>
          <a:xfrm>
            <a:off x="5392625" y="4197704"/>
            <a:ext cx="4155914" cy="1450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Deep-Dive: Business case and Workload Summary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Deep-Dive: Security Summary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Deep-Dive: Management Solution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Deep-Dive: Alternate migration approaches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Azure Arc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Other Azure Benefits</a:t>
            </a:r>
          </a:p>
        </p:txBody>
      </p:sp>
    </p:spTree>
    <p:extLst>
      <p:ext uri="{BB962C8B-B14F-4D97-AF65-F5344CB8AC3E}">
        <p14:creationId xmlns:p14="http://schemas.microsoft.com/office/powerpoint/2010/main" val="289000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:a16="http://schemas.microsoft.com/office/drawing/2014/main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A70AC-7291-685E-8407-57348818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Rounded Rectangle 845">
            <a:extLst>
              <a:ext uri="{FF2B5EF4-FFF2-40B4-BE49-F238E27FC236}">
                <a16:creationId xmlns:a16="http://schemas.microsoft.com/office/drawing/2014/main" id="{4741D7BB-B3DC-0A7C-0A6E-F4518199C038}"/>
              </a:ext>
            </a:extLst>
          </p:cNvPr>
          <p:cNvSpPr>
            <a:spLocks/>
          </p:cNvSpPr>
          <p:nvPr/>
        </p:nvSpPr>
        <p:spPr>
          <a:xfrm rot="10800000" flipH="1" flipV="1">
            <a:off x="633704" y="1011198"/>
            <a:ext cx="3023001" cy="5454556"/>
          </a:xfrm>
          <a:prstGeom prst="roundRect">
            <a:avLst>
              <a:gd name="adj" fmla="val 2564"/>
            </a:avLst>
          </a:prstGeom>
          <a:gradFill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9" name="Title">
            <a:extLst>
              <a:ext uri="{FF2B5EF4-FFF2-40B4-BE49-F238E27FC236}">
                <a16:creationId xmlns:a16="http://schemas.microsoft.com/office/drawing/2014/main" id="{7DD7A7EB-EDA6-8C5D-CC4D-FC2A27A20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7200"/>
            <a:ext cx="11018520" cy="553998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Segoe Sans Text" pitchFamily="2" charset="0"/>
                <a:cs typeface="Segoe Sans Text" pitchFamily="2" charset="0"/>
              </a:rPr>
              <a:t>Assessed Inventory summary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2FDD5B9-1417-0BA6-D161-8B1B1FA94CFA}"/>
              </a:ext>
            </a:extLst>
          </p:cNvPr>
          <p:cNvSpPr txBox="1"/>
          <p:nvPr/>
        </p:nvSpPr>
        <p:spPr>
          <a:xfrm>
            <a:off x="650754" y="6564309"/>
            <a:ext cx="10656570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373C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  <a:hlinkClick r:id="" action="ppaction://noaction"/>
              </a:rPr>
              <a:t>View assessment details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373C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for migration of workloads to Azure, highlighting target details, readiness insights, Azure cost and clear recommendations aligned with the 6R migration framework.</a:t>
            </a:r>
          </a:p>
        </p:txBody>
      </p:sp>
      <p:sp>
        <p:nvSpPr>
          <p:cNvPr id="847" name="TextBox 846">
            <a:extLst>
              <a:ext uri="{FF2B5EF4-FFF2-40B4-BE49-F238E27FC236}">
                <a16:creationId xmlns:a16="http://schemas.microsoft.com/office/drawing/2014/main" id="{DB2691F7-C852-9F9C-1BD4-E42417B07599}"/>
              </a:ext>
            </a:extLst>
          </p:cNvPr>
          <p:cNvSpPr txBox="1"/>
          <p:nvPr/>
        </p:nvSpPr>
        <p:spPr>
          <a:xfrm>
            <a:off x="742004" y="1117994"/>
            <a:ext cx="2310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Total VMs discovered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Segoe UI" pitchFamily="34" charset="0"/>
              <a:cs typeface="Segoe Sans Text" pitchFamily="2" charset="0"/>
            </a:endParaRPr>
          </a:p>
        </p:txBody>
      </p:sp>
      <p:sp>
        <p:nvSpPr>
          <p:cNvPr id="848" name="TextBox 847" descr="2">
            <a:extLst>
              <a:ext uri="{FF2B5EF4-FFF2-40B4-BE49-F238E27FC236}">
                <a16:creationId xmlns:a16="http://schemas.microsoft.com/office/drawing/2014/main" id="{BE3FB01F-3665-7CD8-E09A-29D3E4E24982}"/>
              </a:ext>
            </a:extLst>
          </p:cNvPr>
          <p:cNvSpPr txBox="1"/>
          <p:nvPr/>
        </p:nvSpPr>
        <p:spPr>
          <a:xfrm>
            <a:off x="747459" y="1390798"/>
            <a:ext cx="7977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Segoe UI" pitchFamily="34" charset="0"/>
              <a:cs typeface="Segoe Sans Text" pitchFamily="2" charset="0"/>
            </a:endParaRPr>
          </a:p>
        </p:txBody>
      </p:sp>
      <p:graphicFrame>
        <p:nvGraphicFramePr>
          <p:cNvPr id="850" name="Chart 849" descr="&lt;bar chart&gt;&lt;Total_Server_Workloads_OS_Split&gt;">
            <a:extLst>
              <a:ext uri="{FF2B5EF4-FFF2-40B4-BE49-F238E27FC236}">
                <a16:creationId xmlns:a16="http://schemas.microsoft.com/office/drawing/2014/main" id="{3E3A2AF3-85F0-23E6-D031-89AC84A57A31}"/>
              </a:ext>
            </a:extLst>
          </p:cNvPr>
          <p:cNvGraphicFramePr/>
          <p:nvPr/>
        </p:nvGraphicFramePr>
        <p:xfrm>
          <a:off x="737609" y="1565196"/>
          <a:ext cx="2919096" cy="510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51" name="TextBox 850" descr="Windows - 2">
            <a:extLst>
              <a:ext uri="{FF2B5EF4-FFF2-40B4-BE49-F238E27FC236}">
                <a16:creationId xmlns:a16="http://schemas.microsoft.com/office/drawing/2014/main" id="{F25B6D9A-A657-0292-F6B5-31599A1E66E5}"/>
              </a:ext>
            </a:extLst>
          </p:cNvPr>
          <p:cNvSpPr txBox="1"/>
          <p:nvPr/>
        </p:nvSpPr>
        <p:spPr>
          <a:xfrm>
            <a:off x="935448" y="1926021"/>
            <a:ext cx="10258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Windows - 2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3D2C6A30-0B0B-B6FF-4B8E-4437EF617441}"/>
              </a:ext>
            </a:extLst>
          </p:cNvPr>
          <p:cNvSpPr/>
          <p:nvPr/>
        </p:nvSpPr>
        <p:spPr bwMode="auto">
          <a:xfrm>
            <a:off x="851688" y="1985866"/>
            <a:ext cx="108000" cy="108000"/>
          </a:xfrm>
          <a:prstGeom prst="rect">
            <a:avLst/>
          </a:prstGeom>
          <a:solidFill>
            <a:srgbClr val="637CEF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853" name="TextBox 852" descr="Linux - 0">
            <a:extLst>
              <a:ext uri="{FF2B5EF4-FFF2-40B4-BE49-F238E27FC236}">
                <a16:creationId xmlns:a16="http://schemas.microsoft.com/office/drawing/2014/main" id="{E3FC0CF5-0B9A-DC5D-1480-082F1FFABC02}"/>
              </a:ext>
            </a:extLst>
          </p:cNvPr>
          <p:cNvSpPr txBox="1"/>
          <p:nvPr/>
        </p:nvSpPr>
        <p:spPr>
          <a:xfrm>
            <a:off x="2031041" y="1926308"/>
            <a:ext cx="864559" cy="216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Linux - 0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1E587F06-8930-02EC-3883-8C934EC748D9}"/>
              </a:ext>
            </a:extLst>
          </p:cNvPr>
          <p:cNvSpPr/>
          <p:nvPr/>
        </p:nvSpPr>
        <p:spPr bwMode="auto">
          <a:xfrm>
            <a:off x="1949765" y="1977562"/>
            <a:ext cx="108000" cy="108000"/>
          </a:xfrm>
          <a:prstGeom prst="rect">
            <a:avLst/>
          </a:prstGeom>
          <a:solidFill>
            <a:srgbClr val="E3008C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30EDCE7-A7E6-2773-369A-F4447D027309}"/>
              </a:ext>
            </a:extLst>
          </p:cNvPr>
          <p:cNvGrpSpPr/>
          <p:nvPr/>
        </p:nvGrpSpPr>
        <p:grpSpPr>
          <a:xfrm>
            <a:off x="717679" y="2309385"/>
            <a:ext cx="2835219" cy="1675264"/>
            <a:chOff x="717679" y="2221836"/>
            <a:chExt cx="2835219" cy="1675264"/>
          </a:xfrm>
        </p:grpSpPr>
        <p:sp>
          <p:nvSpPr>
            <p:cNvPr id="869" name="TextBox 868">
              <a:extLst>
                <a:ext uri="{FF2B5EF4-FFF2-40B4-BE49-F238E27FC236}">
                  <a16:creationId xmlns:a16="http://schemas.microsoft.com/office/drawing/2014/main" id="{AF0702A2-A32A-FD6D-6FE0-B9D16FC8D364}"/>
                </a:ext>
              </a:extLst>
            </p:cNvPr>
            <p:cNvSpPr txBox="1"/>
            <p:nvPr/>
          </p:nvSpPr>
          <p:spPr>
            <a:xfrm>
              <a:off x="746318" y="2221836"/>
              <a:ext cx="26943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Server distribution by workload type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Segoe UI" pitchFamily="34" charset="0"/>
                <a:cs typeface="Segoe Sans Text" pitchFamily="2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5C76782-CCAB-87A0-F197-B387CE2EDD11}"/>
                </a:ext>
              </a:extLst>
            </p:cNvPr>
            <p:cNvGrpSpPr/>
            <p:nvPr/>
          </p:nvGrpSpPr>
          <p:grpSpPr>
            <a:xfrm>
              <a:off x="717679" y="2305280"/>
              <a:ext cx="2835219" cy="1591820"/>
              <a:chOff x="729074" y="2492568"/>
              <a:chExt cx="2835219" cy="1591820"/>
            </a:xfrm>
          </p:grpSpPr>
          <p:graphicFrame>
            <p:nvGraphicFramePr>
              <p:cNvPr id="857" name="Chart 856" descr="&lt;bar chart&gt;&lt;Server_Distribution_By_Workload_Type&gt;">
                <a:extLst>
                  <a:ext uri="{FF2B5EF4-FFF2-40B4-BE49-F238E27FC236}">
                    <a16:creationId xmlns:a16="http://schemas.microsoft.com/office/drawing/2014/main" id="{3A152135-86A5-FAFD-49AB-5ADCC6294E69}"/>
                  </a:ext>
                </a:extLst>
              </p:cNvPr>
              <p:cNvGraphicFramePr/>
              <p:nvPr/>
            </p:nvGraphicFramePr>
            <p:xfrm>
              <a:off x="729074" y="2492568"/>
              <a:ext cx="2835219" cy="510222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858" name="TextBox 857" descr="Database server - 1&#10;">
                <a:extLst>
                  <a:ext uri="{FF2B5EF4-FFF2-40B4-BE49-F238E27FC236}">
                    <a16:creationId xmlns:a16="http://schemas.microsoft.com/office/drawing/2014/main" id="{4F0AD1C2-664E-7945-C9A7-6A0584F76CE2}"/>
                  </a:ext>
                </a:extLst>
              </p:cNvPr>
              <p:cNvSpPr txBox="1"/>
              <p:nvPr/>
            </p:nvSpPr>
            <p:spPr>
              <a:xfrm>
                <a:off x="941716" y="2857551"/>
                <a:ext cx="1584069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rPr>
                  <a:t>Database server - 1
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endParaRPr>
              </a:p>
            </p:txBody>
          </p:sp>
          <p:sp>
            <p:nvSpPr>
              <p:cNvPr id="865" name="Rectangle 864">
                <a:extLst>
                  <a:ext uri="{FF2B5EF4-FFF2-40B4-BE49-F238E27FC236}">
                    <a16:creationId xmlns:a16="http://schemas.microsoft.com/office/drawing/2014/main" id="{0A9FD915-FE89-C125-F67C-DFFFA5744476}"/>
                  </a:ext>
                </a:extLst>
              </p:cNvPr>
              <p:cNvSpPr/>
              <p:nvPr/>
            </p:nvSpPr>
            <p:spPr bwMode="auto">
              <a:xfrm>
                <a:off x="873297" y="2922392"/>
                <a:ext cx="108000" cy="108000"/>
              </a:xfrm>
              <a:prstGeom prst="rect">
                <a:avLst/>
              </a:prstGeom>
              <a:solidFill>
                <a:srgbClr val="637CEF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endParaRPr>
              </a:p>
            </p:txBody>
          </p:sp>
          <p:sp>
            <p:nvSpPr>
              <p:cNvPr id="866" name="TextBox 865" descr="Webapp server - 1&#10;">
                <a:extLst>
                  <a:ext uri="{FF2B5EF4-FFF2-40B4-BE49-F238E27FC236}">
                    <a16:creationId xmlns:a16="http://schemas.microsoft.com/office/drawing/2014/main" id="{84D7DFFE-1615-4EA2-A1B6-A47B50B1F2B2}"/>
                  </a:ext>
                </a:extLst>
              </p:cNvPr>
              <p:cNvSpPr txBox="1"/>
              <p:nvPr/>
            </p:nvSpPr>
            <p:spPr>
              <a:xfrm>
                <a:off x="939232" y="3125513"/>
                <a:ext cx="1379666" cy="2169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rPr>
                  <a:t>Webapp server - 1
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endParaRPr>
              </a:p>
            </p:txBody>
          </p:sp>
          <p:sp>
            <p:nvSpPr>
              <p:cNvPr id="867" name="Rectangle 866">
                <a:extLst>
                  <a:ext uri="{FF2B5EF4-FFF2-40B4-BE49-F238E27FC236}">
                    <a16:creationId xmlns:a16="http://schemas.microsoft.com/office/drawing/2014/main" id="{49DD1402-3055-8D10-34A1-F01DC6E025C7}"/>
                  </a:ext>
                </a:extLst>
              </p:cNvPr>
              <p:cNvSpPr/>
              <p:nvPr/>
            </p:nvSpPr>
            <p:spPr bwMode="auto">
              <a:xfrm>
                <a:off x="873297" y="3176767"/>
                <a:ext cx="108000" cy="108000"/>
              </a:xfrm>
              <a:prstGeom prst="rect">
                <a:avLst/>
              </a:prstGeom>
              <a:solidFill>
                <a:srgbClr val="E3008C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endParaRPr>
              </a:p>
            </p:txBody>
          </p:sp>
          <p:sp>
            <p:nvSpPr>
              <p:cNvPr id="868" name="TextBox 867" descr="Fileshare server - 0&#10;">
                <a:extLst>
                  <a:ext uri="{FF2B5EF4-FFF2-40B4-BE49-F238E27FC236}">
                    <a16:creationId xmlns:a16="http://schemas.microsoft.com/office/drawing/2014/main" id="{C56B978C-5935-67A7-514D-575B0ABB2626}"/>
                  </a:ext>
                </a:extLst>
              </p:cNvPr>
              <p:cNvSpPr txBox="1"/>
              <p:nvPr/>
            </p:nvSpPr>
            <p:spPr>
              <a:xfrm>
                <a:off x="939232" y="3372157"/>
                <a:ext cx="1971194" cy="21698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sz="900" dirty="0" err="1">
                    <a:solidFill>
                      <a:prstClr val="black"/>
                    </a:solidFill>
                    <a:latin typeface="Segoe Sans Text"/>
                    <a:cs typeface="Segoe Sans Text"/>
                  </a:rPr>
                  <a:t>Fileshare server - 0
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/>
                  <a:cs typeface="Segoe Sans Text"/>
                </a:endParaRPr>
              </a:p>
            </p:txBody>
          </p:sp>
          <p:sp>
            <p:nvSpPr>
              <p:cNvPr id="870" name="TextBox 869" descr="0 servers are running both database and webapps">
                <a:extLst>
                  <a:ext uri="{FF2B5EF4-FFF2-40B4-BE49-F238E27FC236}">
                    <a16:creationId xmlns:a16="http://schemas.microsoft.com/office/drawing/2014/main" id="{63273681-4A3A-35AF-9D8B-DCC9F42FFC5A}"/>
                  </a:ext>
                </a:extLst>
              </p:cNvPr>
              <p:cNvSpPr txBox="1"/>
              <p:nvPr/>
            </p:nvSpPr>
            <p:spPr>
              <a:xfrm>
                <a:off x="814769" y="3868944"/>
                <a:ext cx="270919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Sans Text" pitchFamily="2" charset="0"/>
                    <a:ea typeface="Segoe UI" pitchFamily="34" charset="0"/>
                    <a:cs typeface="Segoe Sans Text" pitchFamily="2" charset="0"/>
                  </a:rPr>
                  <a:t>0 servers are running both database and webapps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endParaRPr>
              </a:p>
            </p:txBody>
          </p:sp>
          <p:sp>
            <p:nvSpPr>
              <p:cNvPr id="871" name="Rectangle 870">
                <a:extLst>
                  <a:ext uri="{FF2B5EF4-FFF2-40B4-BE49-F238E27FC236}">
                    <a16:creationId xmlns:a16="http://schemas.microsoft.com/office/drawing/2014/main" id="{87D16885-1AD1-06F9-7629-2302D3C3D4B1}"/>
                  </a:ext>
                </a:extLst>
              </p:cNvPr>
              <p:cNvSpPr/>
              <p:nvPr/>
            </p:nvSpPr>
            <p:spPr bwMode="auto">
              <a:xfrm>
                <a:off x="873297" y="3417030"/>
                <a:ext cx="108000" cy="108000"/>
              </a:xfrm>
              <a:prstGeom prst="rect">
                <a:avLst/>
              </a:prstGeom>
              <a:solidFill>
                <a:srgbClr val="2AA0A4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endParaRPr>
              </a:p>
            </p:txBody>
          </p:sp>
          <p:sp>
            <p:nvSpPr>
              <p:cNvPr id="5" name="TextBox 4" descr="Other workloads- 0&#10;">
                <a:extLst>
                  <a:ext uri="{FF2B5EF4-FFF2-40B4-BE49-F238E27FC236}">
                    <a16:creationId xmlns:a16="http://schemas.microsoft.com/office/drawing/2014/main" id="{62343FE9-4258-2799-1B75-1E1BEB6F5CD5}"/>
                  </a:ext>
                </a:extLst>
              </p:cNvPr>
              <p:cNvSpPr txBox="1"/>
              <p:nvPr/>
            </p:nvSpPr>
            <p:spPr>
              <a:xfrm>
                <a:off x="939232" y="3593996"/>
                <a:ext cx="1971194" cy="2169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rPr>
                  <a:t>Other workloads- 0
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B2DD9C1-AFE7-52CB-8671-8A2BC6B38FF9}"/>
                  </a:ext>
                </a:extLst>
              </p:cNvPr>
              <p:cNvSpPr/>
              <p:nvPr/>
            </p:nvSpPr>
            <p:spPr bwMode="auto">
              <a:xfrm>
                <a:off x="873297" y="3638869"/>
                <a:ext cx="108000" cy="108000"/>
              </a:xfrm>
              <a:prstGeom prst="rect">
                <a:avLst/>
              </a:prstGeom>
              <a:solidFill>
                <a:srgbClr val="9373C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endParaRPr>
              </a:p>
            </p:txBody>
          </p:sp>
        </p:grpSp>
      </p:grpSp>
      <p:grpSp>
        <p:nvGrpSpPr>
          <p:cNvPr id="912" name="Group 911">
            <a:extLst>
              <a:ext uri="{FF2B5EF4-FFF2-40B4-BE49-F238E27FC236}">
                <a16:creationId xmlns:a16="http://schemas.microsoft.com/office/drawing/2014/main" id="{D959ECFB-241C-E5D8-AA1B-C6D8A9E37AEB}"/>
              </a:ext>
            </a:extLst>
          </p:cNvPr>
          <p:cNvGrpSpPr/>
          <p:nvPr/>
        </p:nvGrpSpPr>
        <p:grpSpPr>
          <a:xfrm>
            <a:off x="815340" y="4226971"/>
            <a:ext cx="2695024" cy="1111223"/>
            <a:chOff x="784405" y="4431110"/>
            <a:chExt cx="2695024" cy="1111223"/>
          </a:xfrm>
        </p:grpSpPr>
        <p:sp>
          <p:nvSpPr>
            <p:cNvPr id="872" name="Rounded Rectangle 633">
              <a:extLst>
                <a:ext uri="{FF2B5EF4-FFF2-40B4-BE49-F238E27FC236}">
                  <a16:creationId xmlns:a16="http://schemas.microsoft.com/office/drawing/2014/main" id="{ACCDA588-82FE-7054-15A6-1F569F63A09E}"/>
                </a:ext>
              </a:extLst>
            </p:cNvPr>
            <p:cNvSpPr/>
            <p:nvPr/>
          </p:nvSpPr>
          <p:spPr>
            <a:xfrm>
              <a:off x="784405" y="4431110"/>
              <a:ext cx="2695024" cy="1108316"/>
            </a:xfrm>
            <a:prstGeom prst="roundRect">
              <a:avLst>
                <a:gd name="adj" fmla="val 6791"/>
              </a:avLst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873" name="TextBox 872" descr="A total of 1 database instances, 2 webapps and 0 fileshares are running in the environment. For future analysis, the database instances, webapp instances, fileshares and servers are collectively referred to as workloads. (5 total workloads)">
              <a:extLst>
                <a:ext uri="{FF2B5EF4-FFF2-40B4-BE49-F238E27FC236}">
                  <a16:creationId xmlns:a16="http://schemas.microsoft.com/office/drawing/2014/main" id="{06D16CA2-592A-5836-B0C7-726C45EF21A9}"/>
                </a:ext>
              </a:extLst>
            </p:cNvPr>
            <p:cNvSpPr txBox="1"/>
            <p:nvPr/>
          </p:nvSpPr>
          <p:spPr>
            <a:xfrm>
              <a:off x="854010" y="4480504"/>
              <a:ext cx="2570234" cy="10618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defTabSz="932742" fontAlgn="base">
                <a:spcBef>
                  <a:spcPct val="20000"/>
                </a:spcBef>
                <a:spcAft>
                  <a:spcPts val="800"/>
                </a:spcAft>
                <a:buSzPct val="90000"/>
                <a:defRPr/>
              </a:pPr>
              <a:r>
                <a:rPr lang="en-US" sz="900" i="1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Segoe Sans Text" pitchFamily="2" charset="0"/>
                  <a:cs typeface="Segoe Sans Text" pitchFamily="2" charset="0"/>
                </a:rPr>
                <a:t>A total of 1 database instances, 2 webapps and 0 fileshares are running in the environment. For future analysis, the database instances, webapp instances, fileshares and servers are collectively referred to as workloads. (5 total workloads)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E884F0-AF11-B9DA-DD55-4A0911F099DE}"/>
              </a:ext>
            </a:extLst>
          </p:cNvPr>
          <p:cNvGrpSpPr/>
          <p:nvPr/>
        </p:nvGrpSpPr>
        <p:grpSpPr>
          <a:xfrm>
            <a:off x="717679" y="5576815"/>
            <a:ext cx="2870119" cy="652926"/>
            <a:chOff x="717679" y="4977647"/>
            <a:chExt cx="3199324" cy="652926"/>
          </a:xfrm>
        </p:grpSpPr>
        <p:graphicFrame>
          <p:nvGraphicFramePr>
            <p:cNvPr id="1298" name="Chart 1297" descr="&lt;bar chart&gt;&lt;Total_Workload_Server_Power_Status&gt;">
              <a:extLst>
                <a:ext uri="{FF2B5EF4-FFF2-40B4-BE49-F238E27FC236}">
                  <a16:creationId xmlns:a16="http://schemas.microsoft.com/office/drawing/2014/main" id="{EAF50F9C-4B06-194B-968B-71333FFCFE94}"/>
                </a:ext>
              </a:extLst>
            </p:cNvPr>
            <p:cNvGraphicFramePr/>
            <p:nvPr/>
          </p:nvGraphicFramePr>
          <p:xfrm>
            <a:off x="717679" y="5059061"/>
            <a:ext cx="3199324" cy="51022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1299" name="TextBox 1298" descr="Powered ON - 0">
              <a:extLst>
                <a:ext uri="{FF2B5EF4-FFF2-40B4-BE49-F238E27FC236}">
                  <a16:creationId xmlns:a16="http://schemas.microsoft.com/office/drawing/2014/main" id="{8A499D10-888D-A0C3-4AFC-4D0025BD052C}"/>
                </a:ext>
              </a:extLst>
            </p:cNvPr>
            <p:cNvSpPr txBox="1"/>
            <p:nvPr/>
          </p:nvSpPr>
          <p:spPr>
            <a:xfrm>
              <a:off x="915516" y="5413591"/>
              <a:ext cx="1229289" cy="2169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Powered ON - 0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1300" name="Rectangle 1299">
              <a:extLst>
                <a:ext uri="{FF2B5EF4-FFF2-40B4-BE49-F238E27FC236}">
                  <a16:creationId xmlns:a16="http://schemas.microsoft.com/office/drawing/2014/main" id="{FB39A182-C54F-7D0B-6F32-1E372EF28186}"/>
                </a:ext>
              </a:extLst>
            </p:cNvPr>
            <p:cNvSpPr/>
            <p:nvPr/>
          </p:nvSpPr>
          <p:spPr bwMode="auto">
            <a:xfrm>
              <a:off x="831757" y="5473435"/>
              <a:ext cx="108000" cy="108000"/>
            </a:xfrm>
            <a:prstGeom prst="rect">
              <a:avLst/>
            </a:prstGeom>
            <a:solidFill>
              <a:srgbClr val="637CEF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1301" name="TextBox 1300" descr="Powered OFF - 2">
              <a:extLst>
                <a:ext uri="{FF2B5EF4-FFF2-40B4-BE49-F238E27FC236}">
                  <a16:creationId xmlns:a16="http://schemas.microsoft.com/office/drawing/2014/main" id="{9354845D-86C9-087E-651B-F7BE0B813B9C}"/>
                </a:ext>
              </a:extLst>
            </p:cNvPr>
            <p:cNvSpPr txBox="1"/>
            <p:nvPr/>
          </p:nvSpPr>
          <p:spPr>
            <a:xfrm>
              <a:off x="2280587" y="5405686"/>
              <a:ext cx="1208925" cy="2169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Powered OFF - 2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1302" name="Rectangle 1301">
              <a:extLst>
                <a:ext uri="{FF2B5EF4-FFF2-40B4-BE49-F238E27FC236}">
                  <a16:creationId xmlns:a16="http://schemas.microsoft.com/office/drawing/2014/main" id="{4A7A39A9-42D6-E849-E0A8-C43F09388CEA}"/>
                </a:ext>
              </a:extLst>
            </p:cNvPr>
            <p:cNvSpPr/>
            <p:nvPr/>
          </p:nvSpPr>
          <p:spPr bwMode="auto">
            <a:xfrm>
              <a:off x="2199311" y="5456940"/>
              <a:ext cx="108000" cy="108000"/>
            </a:xfrm>
            <a:prstGeom prst="rect">
              <a:avLst/>
            </a:prstGeom>
            <a:solidFill>
              <a:srgbClr val="E3008C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906" name="TextBox 905">
              <a:extLst>
                <a:ext uri="{FF2B5EF4-FFF2-40B4-BE49-F238E27FC236}">
                  <a16:creationId xmlns:a16="http://schemas.microsoft.com/office/drawing/2014/main" id="{F2D4C547-BE3A-5A1F-2C4F-D6EEE2AA1AB3}"/>
                </a:ext>
              </a:extLst>
            </p:cNvPr>
            <p:cNvSpPr txBox="1"/>
            <p:nvPr/>
          </p:nvSpPr>
          <p:spPr>
            <a:xfrm>
              <a:off x="730521" y="4977647"/>
              <a:ext cx="21027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Server power status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graphicFrame>
        <p:nvGraphicFramePr>
          <p:cNvPr id="1189" name="Chart 1188" descr="&lt;bar chart&gt;&lt;Total_Workloads_EnvironmentType_Split&gt;">
            <a:extLst>
              <a:ext uri="{FF2B5EF4-FFF2-40B4-BE49-F238E27FC236}">
                <a16:creationId xmlns:a16="http://schemas.microsoft.com/office/drawing/2014/main" id="{10E927DD-0682-9ACE-AFBA-92A0E0CC6DF7}"/>
              </a:ext>
            </a:extLst>
          </p:cNvPr>
          <p:cNvGraphicFramePr/>
          <p:nvPr/>
        </p:nvGraphicFramePr>
        <p:xfrm>
          <a:off x="8116486" y="851938"/>
          <a:ext cx="3190838" cy="4699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122" name="Chart 1121" descr="&lt;bar chart&gt;&lt;Total_Workloads_ResourceType_Split&gt;">
            <a:extLst>
              <a:ext uri="{FF2B5EF4-FFF2-40B4-BE49-F238E27FC236}">
                <a16:creationId xmlns:a16="http://schemas.microsoft.com/office/drawing/2014/main" id="{7E7045EB-ACE7-FBF0-9E25-7455D93BC9DB}"/>
              </a:ext>
            </a:extLst>
          </p:cNvPr>
          <p:cNvGraphicFramePr/>
          <p:nvPr/>
        </p:nvGraphicFramePr>
        <p:xfrm>
          <a:off x="3696112" y="851938"/>
          <a:ext cx="4175465" cy="4699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125" name="TextBox 1124" descr="Servers - 2&#10;">
            <a:extLst>
              <a:ext uri="{FF2B5EF4-FFF2-40B4-BE49-F238E27FC236}">
                <a16:creationId xmlns:a16="http://schemas.microsoft.com/office/drawing/2014/main" id="{C59EBEC5-D160-A1CF-8A33-6284383E7310}"/>
              </a:ext>
            </a:extLst>
          </p:cNvPr>
          <p:cNvSpPr txBox="1"/>
          <p:nvPr/>
        </p:nvSpPr>
        <p:spPr>
          <a:xfrm>
            <a:off x="3926246" y="1148673"/>
            <a:ext cx="1046012" cy="216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Servers - 2
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6766AC21-E04B-AAD4-B38B-DBD4C06E0791}"/>
              </a:ext>
            </a:extLst>
          </p:cNvPr>
          <p:cNvSpPr>
            <a:spLocks noChangeAspect="1"/>
          </p:cNvSpPr>
          <p:nvPr/>
        </p:nvSpPr>
        <p:spPr bwMode="auto">
          <a:xfrm>
            <a:off x="3846897" y="1198827"/>
            <a:ext cx="108000" cy="108000"/>
          </a:xfrm>
          <a:prstGeom prst="rect">
            <a:avLst/>
          </a:prstGeom>
          <a:solidFill>
            <a:srgbClr val="9373C0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27" name="TextBox 1126" descr="Databases - 1&#10;">
            <a:extLst>
              <a:ext uri="{FF2B5EF4-FFF2-40B4-BE49-F238E27FC236}">
                <a16:creationId xmlns:a16="http://schemas.microsoft.com/office/drawing/2014/main" id="{FACE80F7-B60E-E960-251C-3D4C835BA267}"/>
              </a:ext>
            </a:extLst>
          </p:cNvPr>
          <p:cNvSpPr txBox="1"/>
          <p:nvPr/>
        </p:nvSpPr>
        <p:spPr>
          <a:xfrm>
            <a:off x="4850352" y="1148673"/>
            <a:ext cx="1067878" cy="216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Databases - 1
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6B2880B1-FE66-F375-FE5D-C6164F1D158B}"/>
              </a:ext>
            </a:extLst>
          </p:cNvPr>
          <p:cNvSpPr>
            <a:spLocks noChangeAspect="1"/>
          </p:cNvSpPr>
          <p:nvPr/>
        </p:nvSpPr>
        <p:spPr bwMode="auto">
          <a:xfrm>
            <a:off x="4771001" y="1198827"/>
            <a:ext cx="108000" cy="108000"/>
          </a:xfrm>
          <a:prstGeom prst="rect">
            <a:avLst/>
          </a:prstGeom>
          <a:solidFill>
            <a:srgbClr val="11A20C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DEE01-61C1-BF61-C240-2F2D814A4974}"/>
              </a:ext>
            </a:extLst>
          </p:cNvPr>
          <p:cNvSpPr>
            <a:spLocks noChangeAspect="1"/>
          </p:cNvSpPr>
          <p:nvPr/>
        </p:nvSpPr>
        <p:spPr bwMode="auto">
          <a:xfrm>
            <a:off x="5921214" y="1198827"/>
            <a:ext cx="108000" cy="108000"/>
          </a:xfrm>
          <a:prstGeom prst="rect">
            <a:avLst/>
          </a:prstGeom>
          <a:solidFill>
            <a:srgbClr val="3996DD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 pitchFamily="2" charset="0"/>
              <a:ea typeface="Segoe UI" pitchFamily="34" charset="0"/>
              <a:cs typeface="Segoe Sans Text" pitchFamily="2" charset="0"/>
            </a:endParaRPr>
          </a:p>
        </p:txBody>
      </p:sp>
      <p:sp>
        <p:nvSpPr>
          <p:cNvPr id="1130" name="TextBox 1129" descr=" Webapps - 2">
            <a:extLst>
              <a:ext uri="{FF2B5EF4-FFF2-40B4-BE49-F238E27FC236}">
                <a16:creationId xmlns:a16="http://schemas.microsoft.com/office/drawing/2014/main" id="{600FE37C-973E-4FD4-085C-0A3AE7744C44}"/>
              </a:ext>
            </a:extLst>
          </p:cNvPr>
          <p:cNvSpPr txBox="1"/>
          <p:nvPr/>
        </p:nvSpPr>
        <p:spPr>
          <a:xfrm>
            <a:off x="5999461" y="1148673"/>
            <a:ext cx="1046011" cy="216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 Webapps - 2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32" name="TextBox 1131" descr="Production - 5">
            <a:extLst>
              <a:ext uri="{FF2B5EF4-FFF2-40B4-BE49-F238E27FC236}">
                <a16:creationId xmlns:a16="http://schemas.microsoft.com/office/drawing/2014/main" id="{90623059-CB66-656D-4652-8E47659D10B1}"/>
              </a:ext>
            </a:extLst>
          </p:cNvPr>
          <p:cNvSpPr txBox="1"/>
          <p:nvPr/>
        </p:nvSpPr>
        <p:spPr>
          <a:xfrm>
            <a:off x="9572988" y="1148673"/>
            <a:ext cx="1143034" cy="216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Production - 5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F37B7B69-A4C1-C20C-C4E9-40F1ECBBC2D6}"/>
              </a:ext>
            </a:extLst>
          </p:cNvPr>
          <p:cNvSpPr>
            <a:spLocks noChangeAspect="1"/>
          </p:cNvSpPr>
          <p:nvPr/>
        </p:nvSpPr>
        <p:spPr bwMode="auto">
          <a:xfrm>
            <a:off x="9503919" y="1200576"/>
            <a:ext cx="108000" cy="108000"/>
          </a:xfrm>
          <a:prstGeom prst="rect">
            <a:avLst/>
          </a:prstGeom>
          <a:solidFill>
            <a:srgbClr val="E3008C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34" name="TextBox 1133" descr="Dev/Test - 0">
            <a:extLst>
              <a:ext uri="{FF2B5EF4-FFF2-40B4-BE49-F238E27FC236}">
                <a16:creationId xmlns:a16="http://schemas.microsoft.com/office/drawing/2014/main" id="{0B174AD0-0D63-29D3-3D3A-A7E51A43CE8B}"/>
              </a:ext>
            </a:extLst>
          </p:cNvPr>
          <p:cNvSpPr txBox="1"/>
          <p:nvPr/>
        </p:nvSpPr>
        <p:spPr>
          <a:xfrm>
            <a:off x="8382107" y="1141748"/>
            <a:ext cx="10531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Dev/Test - 0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0DC84D8E-487C-0D50-CC19-98B5AF9CA5D1}"/>
              </a:ext>
            </a:extLst>
          </p:cNvPr>
          <p:cNvSpPr>
            <a:spLocks noChangeAspect="1"/>
          </p:cNvSpPr>
          <p:nvPr/>
        </p:nvSpPr>
        <p:spPr bwMode="auto">
          <a:xfrm>
            <a:off x="8282287" y="1196388"/>
            <a:ext cx="108000" cy="108000"/>
          </a:xfrm>
          <a:prstGeom prst="rect">
            <a:avLst/>
          </a:prstGeom>
          <a:solidFill>
            <a:srgbClr val="637CEF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6B52F3-8417-B17C-B558-7470DC6E81B4}"/>
              </a:ext>
            </a:extLst>
          </p:cNvPr>
          <p:cNvSpPr>
            <a:spLocks noChangeAspect="1"/>
          </p:cNvSpPr>
          <p:nvPr/>
        </p:nvSpPr>
        <p:spPr bwMode="auto">
          <a:xfrm>
            <a:off x="6945434" y="1191595"/>
            <a:ext cx="108000" cy="108000"/>
          </a:xfrm>
          <a:prstGeom prst="rect">
            <a:avLst/>
          </a:prstGeom>
          <a:solidFill>
            <a:srgbClr val="CB500E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 pitchFamily="2" charset="0"/>
              <a:ea typeface="Segoe UI" pitchFamily="34" charset="0"/>
              <a:cs typeface="Segoe Sans Text" pitchFamily="2" charset="0"/>
            </a:endParaRPr>
          </a:p>
        </p:txBody>
      </p:sp>
      <p:sp>
        <p:nvSpPr>
          <p:cNvPr id="17" name="TextBox 16" descr="Fileshares - 0">
            <a:extLst>
              <a:ext uri="{FF2B5EF4-FFF2-40B4-BE49-F238E27FC236}">
                <a16:creationId xmlns:a16="http://schemas.microsoft.com/office/drawing/2014/main" id="{B3ABAAB0-96F7-05DD-38B6-9C21E2441FC0}"/>
              </a:ext>
            </a:extLst>
          </p:cNvPr>
          <p:cNvSpPr txBox="1"/>
          <p:nvPr/>
        </p:nvSpPr>
        <p:spPr>
          <a:xfrm>
            <a:off x="7023682" y="1141441"/>
            <a:ext cx="1113516" cy="216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Fileshares - 0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91" name="TextBox 1190" descr="5">
            <a:extLst>
              <a:ext uri="{FF2B5EF4-FFF2-40B4-BE49-F238E27FC236}">
                <a16:creationId xmlns:a16="http://schemas.microsoft.com/office/drawing/2014/main" id="{0074DB7B-727A-2E4E-13F9-A422F203BC3D}"/>
              </a:ext>
            </a:extLst>
          </p:cNvPr>
          <p:cNvSpPr txBox="1"/>
          <p:nvPr/>
        </p:nvSpPr>
        <p:spPr>
          <a:xfrm>
            <a:off x="4059046" y="2258078"/>
            <a:ext cx="7977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5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egoe Sans Text" pitchFamily="2" charset="0"/>
              <a:ea typeface="Segoe UI" pitchFamily="34" charset="0"/>
              <a:cs typeface="Segoe Sans Text" pitchFamily="2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868DCA7-4D5C-FF2C-6B1C-CA2248D7EF65}"/>
              </a:ext>
            </a:extLst>
          </p:cNvPr>
          <p:cNvSpPr txBox="1"/>
          <p:nvPr/>
        </p:nvSpPr>
        <p:spPr>
          <a:xfrm>
            <a:off x="4032561" y="1567294"/>
            <a:ext cx="1163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Workload summary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pic>
        <p:nvPicPr>
          <p:cNvPr id="180" name="Picture 179" descr="A blue box with white arrows">
            <a:extLst>
              <a:ext uri="{FF2B5EF4-FFF2-40B4-BE49-F238E27FC236}">
                <a16:creationId xmlns:a16="http://schemas.microsoft.com/office/drawing/2014/main" id="{F320DB13-0CEB-9AA6-E3C7-79BD14C9DF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2787" y="1603616"/>
            <a:ext cx="251999" cy="251999"/>
          </a:xfrm>
          <a:prstGeom prst="rect">
            <a:avLst/>
          </a:prstGeom>
        </p:spPr>
      </p:pic>
      <p:sp>
        <p:nvSpPr>
          <p:cNvPr id="1190" name="TextBox 1189">
            <a:extLst>
              <a:ext uri="{FF2B5EF4-FFF2-40B4-BE49-F238E27FC236}">
                <a16:creationId xmlns:a16="http://schemas.microsoft.com/office/drawing/2014/main" id="{59B62172-70F4-1651-5498-AB2EA8FEFB41}"/>
              </a:ext>
            </a:extLst>
          </p:cNvPr>
          <p:cNvSpPr txBox="1"/>
          <p:nvPr/>
        </p:nvSpPr>
        <p:spPr>
          <a:xfrm>
            <a:off x="4054968" y="2057898"/>
            <a:ext cx="10718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Total Workloads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egoe Sans Text" pitchFamily="2" charset="0"/>
              <a:ea typeface="Segoe UI" pitchFamily="34" charset="0"/>
              <a:cs typeface="Segoe Sans Text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D87D255-70FA-8837-F207-DBF824DB2489}"/>
              </a:ext>
            </a:extLst>
          </p:cNvPr>
          <p:cNvGrpSpPr/>
          <p:nvPr/>
        </p:nvGrpSpPr>
        <p:grpSpPr>
          <a:xfrm>
            <a:off x="8845715" y="1565344"/>
            <a:ext cx="2625998" cy="3527334"/>
            <a:chOff x="8845715" y="1565344"/>
            <a:chExt cx="2625998" cy="3527334"/>
          </a:xfrm>
        </p:grpSpPr>
        <p:pic>
          <p:nvPicPr>
            <p:cNvPr id="35" name="Picture 34" descr="A red and white spiral&#10;&#10;AI-generated content may be incorrect.">
              <a:extLst>
                <a:ext uri="{FF2B5EF4-FFF2-40B4-BE49-F238E27FC236}">
                  <a16:creationId xmlns:a16="http://schemas.microsoft.com/office/drawing/2014/main" id="{4E826239-2C2D-FB90-7928-90CDC9C1E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957952" y="2032737"/>
              <a:ext cx="180000" cy="180000"/>
            </a:xfrm>
            <a:prstGeom prst="rect">
              <a:avLst/>
            </a:prstGeom>
          </p:spPr>
        </p:pic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023B9753-2DF1-7A5A-3A31-37BCEA78D44B}"/>
                </a:ext>
              </a:extLst>
            </p:cNvPr>
            <p:cNvSpPr/>
            <p:nvPr/>
          </p:nvSpPr>
          <p:spPr>
            <a:xfrm rot="16200000">
              <a:off x="10103102" y="445744"/>
              <a:ext cx="28800" cy="2268000"/>
            </a:xfrm>
            <a:prstGeom prst="rect">
              <a:avLst/>
            </a:prstGeom>
            <a:solidFill>
              <a:srgbClr val="11A20C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304" name="TextBox 303" descr="1">
              <a:extLst>
                <a:ext uri="{FF2B5EF4-FFF2-40B4-BE49-F238E27FC236}">
                  <a16:creationId xmlns:a16="http://schemas.microsoft.com/office/drawing/2014/main" id="{9D415FEF-555B-DB29-EB37-0325E9A5188E}"/>
                </a:ext>
              </a:extLst>
            </p:cNvPr>
            <p:cNvSpPr txBox="1"/>
            <p:nvPr/>
          </p:nvSpPr>
          <p:spPr>
            <a:xfrm>
              <a:off x="8882241" y="1585809"/>
              <a:ext cx="62167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1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6FB52D91-DF84-3BFE-E6F3-CF3882B3B5E7}"/>
                </a:ext>
              </a:extLst>
            </p:cNvPr>
            <p:cNvSpPr txBox="1"/>
            <p:nvPr/>
          </p:nvSpPr>
          <p:spPr>
            <a:xfrm>
              <a:off x="9278789" y="1603616"/>
              <a:ext cx="10336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Databases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603" name="TextBox 602">
              <a:extLst>
                <a:ext uri="{FF2B5EF4-FFF2-40B4-BE49-F238E27FC236}">
                  <a16:creationId xmlns:a16="http://schemas.microsoft.com/office/drawing/2014/main" id="{DC0083AE-6B0A-F61C-FBD3-E9349379F9D5}"/>
                </a:ext>
              </a:extLst>
            </p:cNvPr>
            <p:cNvSpPr txBox="1"/>
            <p:nvPr/>
          </p:nvSpPr>
          <p:spPr>
            <a:xfrm>
              <a:off x="10497494" y="1813385"/>
              <a:ext cx="54307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Prod.</a:t>
              </a:r>
              <a:endPara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605" name="TextBox 604">
              <a:extLst>
                <a:ext uri="{FF2B5EF4-FFF2-40B4-BE49-F238E27FC236}">
                  <a16:creationId xmlns:a16="http://schemas.microsoft.com/office/drawing/2014/main" id="{303EF2C4-8481-E507-840A-3A6EE1778F6A}"/>
                </a:ext>
              </a:extLst>
            </p:cNvPr>
            <p:cNvSpPr txBox="1"/>
            <p:nvPr/>
          </p:nvSpPr>
          <p:spPr>
            <a:xfrm>
              <a:off x="10919767" y="1813385"/>
              <a:ext cx="54307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Dev.</a:t>
              </a:r>
              <a:endPara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596" name="TextBox 595">
              <a:extLst>
                <a:ext uri="{FF2B5EF4-FFF2-40B4-BE49-F238E27FC236}">
                  <a16:creationId xmlns:a16="http://schemas.microsoft.com/office/drawing/2014/main" id="{90081F1B-0239-5F51-1A8A-814953B4E52A}"/>
                </a:ext>
              </a:extLst>
            </p:cNvPr>
            <p:cNvSpPr txBox="1"/>
            <p:nvPr/>
          </p:nvSpPr>
          <p:spPr>
            <a:xfrm>
              <a:off x="9143858" y="1995779"/>
              <a:ext cx="78208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SQL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597" name="TextBox 596" descr="1">
              <a:extLst>
                <a:ext uri="{FF2B5EF4-FFF2-40B4-BE49-F238E27FC236}">
                  <a16:creationId xmlns:a16="http://schemas.microsoft.com/office/drawing/2014/main" id="{B2FA5664-3735-F293-5B3F-C9F19435EB76}"/>
                </a:ext>
              </a:extLst>
            </p:cNvPr>
            <p:cNvSpPr txBox="1"/>
            <p:nvPr/>
          </p:nvSpPr>
          <p:spPr>
            <a:xfrm>
              <a:off x="10414000" y="1995779"/>
              <a:ext cx="47314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50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1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602" name="TextBox 601" descr="0">
              <a:extLst>
                <a:ext uri="{FF2B5EF4-FFF2-40B4-BE49-F238E27FC236}">
                  <a16:creationId xmlns:a16="http://schemas.microsoft.com/office/drawing/2014/main" id="{BF352F3A-EEC8-F180-00B7-CF6CA82FA005}"/>
                </a:ext>
              </a:extLst>
            </p:cNvPr>
            <p:cNvSpPr txBox="1"/>
            <p:nvPr/>
          </p:nvSpPr>
          <p:spPr>
            <a:xfrm>
              <a:off x="10860208" y="1995779"/>
              <a:ext cx="50271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50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pic>
          <p:nvPicPr>
            <p:cNvPr id="37" name="Picture 36" descr="A green leaf with grey text&#10;&#10;AI-generated content may be incorrect.">
              <a:extLst>
                <a:ext uri="{FF2B5EF4-FFF2-40B4-BE49-F238E27FC236}">
                  <a16:creationId xmlns:a16="http://schemas.microsoft.com/office/drawing/2014/main" id="{5EE521AB-8464-6E16-3DE7-0B282CCC5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57952" y="2572755"/>
              <a:ext cx="180000" cy="180000"/>
            </a:xfrm>
            <a:prstGeom prst="rect">
              <a:avLst/>
            </a:prstGeom>
          </p:spPr>
        </p:pic>
        <p:sp>
          <p:nvSpPr>
            <p:cNvPr id="583" name="TextBox 582">
              <a:extLst>
                <a:ext uri="{FF2B5EF4-FFF2-40B4-BE49-F238E27FC236}">
                  <a16:creationId xmlns:a16="http://schemas.microsoft.com/office/drawing/2014/main" id="{D857954A-A52A-081A-1B01-801EA815A321}"/>
                </a:ext>
              </a:extLst>
            </p:cNvPr>
            <p:cNvSpPr txBox="1"/>
            <p:nvPr/>
          </p:nvSpPr>
          <p:spPr>
            <a:xfrm>
              <a:off x="9143858" y="2535797"/>
              <a:ext cx="93408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Mongo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584" name="TextBox 583" descr="0">
              <a:extLst>
                <a:ext uri="{FF2B5EF4-FFF2-40B4-BE49-F238E27FC236}">
                  <a16:creationId xmlns:a16="http://schemas.microsoft.com/office/drawing/2014/main" id="{13DB7CCA-7355-833C-2DD0-5B9A933A8B07}"/>
                </a:ext>
              </a:extLst>
            </p:cNvPr>
            <p:cNvSpPr txBox="1"/>
            <p:nvPr/>
          </p:nvSpPr>
          <p:spPr>
            <a:xfrm>
              <a:off x="10414000" y="2535797"/>
              <a:ext cx="46931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590" name="TextBox 589" descr="0">
              <a:extLst>
                <a:ext uri="{FF2B5EF4-FFF2-40B4-BE49-F238E27FC236}">
                  <a16:creationId xmlns:a16="http://schemas.microsoft.com/office/drawing/2014/main" id="{538E8B4F-6141-90F3-D477-6E6EC6331EAA}"/>
                </a:ext>
              </a:extLst>
            </p:cNvPr>
            <p:cNvSpPr txBox="1"/>
            <p:nvPr/>
          </p:nvSpPr>
          <p:spPr>
            <a:xfrm>
              <a:off x="10883084" y="2535797"/>
              <a:ext cx="47984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pic>
          <p:nvPicPr>
            <p:cNvPr id="34" name="Picture 33" descr="A blue elephant with white outline&#10;&#10;AI-generated content may be incorrect.">
              <a:extLst>
                <a:ext uri="{FF2B5EF4-FFF2-40B4-BE49-F238E27FC236}">
                  <a16:creationId xmlns:a16="http://schemas.microsoft.com/office/drawing/2014/main" id="{3EDA6476-D5E6-B284-D583-C03EBADEF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957952" y="2850474"/>
              <a:ext cx="180000" cy="180000"/>
            </a:xfrm>
            <a:prstGeom prst="rect">
              <a:avLst/>
            </a:prstGeom>
          </p:spPr>
        </p:pic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F1FF6985-CB25-7BCA-E8E9-61171489A33C}"/>
                </a:ext>
              </a:extLst>
            </p:cNvPr>
            <p:cNvSpPr txBox="1"/>
            <p:nvPr/>
          </p:nvSpPr>
          <p:spPr>
            <a:xfrm>
              <a:off x="9143858" y="2813516"/>
              <a:ext cx="92897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PostgreSQL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576" name="TextBox 575" descr="0">
              <a:extLst>
                <a:ext uri="{FF2B5EF4-FFF2-40B4-BE49-F238E27FC236}">
                  <a16:creationId xmlns:a16="http://schemas.microsoft.com/office/drawing/2014/main" id="{029D1D34-9715-BA75-E0F0-81DDA8864AC6}"/>
                </a:ext>
              </a:extLst>
            </p:cNvPr>
            <p:cNvSpPr txBox="1"/>
            <p:nvPr/>
          </p:nvSpPr>
          <p:spPr>
            <a:xfrm>
              <a:off x="10414000" y="2813516"/>
              <a:ext cx="47566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581" name="TextBox 580" descr="0">
              <a:extLst>
                <a:ext uri="{FF2B5EF4-FFF2-40B4-BE49-F238E27FC236}">
                  <a16:creationId xmlns:a16="http://schemas.microsoft.com/office/drawing/2014/main" id="{36DEA902-8406-AC88-D471-567E14007EEA}"/>
                </a:ext>
              </a:extLst>
            </p:cNvPr>
            <p:cNvSpPr txBox="1"/>
            <p:nvPr/>
          </p:nvSpPr>
          <p:spPr>
            <a:xfrm>
              <a:off x="10883084" y="2813516"/>
              <a:ext cx="47984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pic>
          <p:nvPicPr>
            <p:cNvPr id="16" name="Picture 15" descr="A logo of a cup of coffee&#10;&#10;AI-generated content may be incorrect.">
              <a:extLst>
                <a:ext uri="{FF2B5EF4-FFF2-40B4-BE49-F238E27FC236}">
                  <a16:creationId xmlns:a16="http://schemas.microsoft.com/office/drawing/2014/main" id="{C3CABD98-86AD-7CB4-5586-B7F725479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933257" y="4213975"/>
              <a:ext cx="180000" cy="180000"/>
            </a:xfrm>
            <a:prstGeom prst="rect">
              <a:avLst/>
            </a:prstGeom>
          </p:spPr>
        </p:pic>
        <p:sp>
          <p:nvSpPr>
            <p:cNvPr id="609" name="Rectangle 608">
              <a:extLst>
                <a:ext uri="{FF2B5EF4-FFF2-40B4-BE49-F238E27FC236}">
                  <a16:creationId xmlns:a16="http://schemas.microsoft.com/office/drawing/2014/main" id="{1178C2DA-8CB6-BD0A-8B11-99B8CF91472C}"/>
                </a:ext>
              </a:extLst>
            </p:cNvPr>
            <p:cNvSpPr/>
            <p:nvPr/>
          </p:nvSpPr>
          <p:spPr>
            <a:xfrm rot="16200000">
              <a:off x="10085231" y="2633450"/>
              <a:ext cx="28800" cy="2268000"/>
            </a:xfrm>
            <a:prstGeom prst="rect">
              <a:avLst/>
            </a:prstGeom>
            <a:solidFill>
              <a:srgbClr val="3996DD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610" name="TextBox 609" descr="2">
              <a:extLst>
                <a:ext uri="{FF2B5EF4-FFF2-40B4-BE49-F238E27FC236}">
                  <a16:creationId xmlns:a16="http://schemas.microsoft.com/office/drawing/2014/main" id="{6E151B4F-6544-D0E4-F1B5-EF82AF5E176D}"/>
                </a:ext>
              </a:extLst>
            </p:cNvPr>
            <p:cNvSpPr txBox="1"/>
            <p:nvPr/>
          </p:nvSpPr>
          <p:spPr>
            <a:xfrm>
              <a:off x="8864371" y="3773515"/>
              <a:ext cx="63954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2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611" name="TextBox 610">
              <a:extLst>
                <a:ext uri="{FF2B5EF4-FFF2-40B4-BE49-F238E27FC236}">
                  <a16:creationId xmlns:a16="http://schemas.microsoft.com/office/drawing/2014/main" id="{21ECAD8A-4F82-3783-AA6D-A8BC5B771EEA}"/>
                </a:ext>
              </a:extLst>
            </p:cNvPr>
            <p:cNvSpPr txBox="1"/>
            <p:nvPr/>
          </p:nvSpPr>
          <p:spPr>
            <a:xfrm>
              <a:off x="9272363" y="3811094"/>
              <a:ext cx="96144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Webapps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738" name="TextBox 737">
              <a:extLst>
                <a:ext uri="{FF2B5EF4-FFF2-40B4-BE49-F238E27FC236}">
                  <a16:creationId xmlns:a16="http://schemas.microsoft.com/office/drawing/2014/main" id="{5210FA43-2505-9D55-8958-5A96DA5E55FC}"/>
                </a:ext>
              </a:extLst>
            </p:cNvPr>
            <p:cNvSpPr txBox="1"/>
            <p:nvPr/>
          </p:nvSpPr>
          <p:spPr>
            <a:xfrm>
              <a:off x="10506368" y="3992624"/>
              <a:ext cx="54307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Prod.</a:t>
              </a:r>
              <a:endPara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739" name="TextBox 738">
              <a:extLst>
                <a:ext uri="{FF2B5EF4-FFF2-40B4-BE49-F238E27FC236}">
                  <a16:creationId xmlns:a16="http://schemas.microsoft.com/office/drawing/2014/main" id="{EA10842C-E711-9D85-34B8-45E4CE1DE9A2}"/>
                </a:ext>
              </a:extLst>
            </p:cNvPr>
            <p:cNvSpPr txBox="1"/>
            <p:nvPr/>
          </p:nvSpPr>
          <p:spPr>
            <a:xfrm>
              <a:off x="10928641" y="3992624"/>
              <a:ext cx="54307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Dev.</a:t>
              </a:r>
              <a:endPara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734" name="TextBox 733">
              <a:extLst>
                <a:ext uri="{FF2B5EF4-FFF2-40B4-BE49-F238E27FC236}">
                  <a16:creationId xmlns:a16="http://schemas.microsoft.com/office/drawing/2014/main" id="{8B538EB9-D6C8-190D-FB53-C65B4349057A}"/>
                </a:ext>
              </a:extLst>
            </p:cNvPr>
            <p:cNvSpPr txBox="1"/>
            <p:nvPr/>
          </p:nvSpPr>
          <p:spPr>
            <a:xfrm>
              <a:off x="9125987" y="4183485"/>
              <a:ext cx="78208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Java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735" name="TextBox 734" descr="0">
              <a:extLst>
                <a:ext uri="{FF2B5EF4-FFF2-40B4-BE49-F238E27FC236}">
                  <a16:creationId xmlns:a16="http://schemas.microsoft.com/office/drawing/2014/main" id="{B947BFAE-5AB9-2CEF-C716-D27B43069C8E}"/>
                </a:ext>
              </a:extLst>
            </p:cNvPr>
            <p:cNvSpPr txBox="1"/>
            <p:nvPr/>
          </p:nvSpPr>
          <p:spPr>
            <a:xfrm>
              <a:off x="10420350" y="4183485"/>
              <a:ext cx="48201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50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737" name="TextBox 736" descr="0">
              <a:extLst>
                <a:ext uri="{FF2B5EF4-FFF2-40B4-BE49-F238E27FC236}">
                  <a16:creationId xmlns:a16="http://schemas.microsoft.com/office/drawing/2014/main" id="{359408B0-5B4C-C1D7-3441-D786A96FF5AF}"/>
                </a:ext>
              </a:extLst>
            </p:cNvPr>
            <p:cNvSpPr txBox="1"/>
            <p:nvPr/>
          </p:nvSpPr>
          <p:spPr>
            <a:xfrm>
              <a:off x="10870033" y="4183485"/>
              <a:ext cx="49889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50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pic>
          <p:nvPicPr>
            <p:cNvPr id="36" name="Picture 35" descr="A logo of a dolphin&#10;&#10;AI-generated content may be incorrect.">
              <a:extLst>
                <a:ext uri="{FF2B5EF4-FFF2-40B4-BE49-F238E27FC236}">
                  <a16:creationId xmlns:a16="http://schemas.microsoft.com/office/drawing/2014/main" id="{0B699DE2-5223-7CDE-3168-77D8C691C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957952" y="2295036"/>
              <a:ext cx="180000" cy="180000"/>
            </a:xfrm>
            <a:prstGeom prst="rect">
              <a:avLst/>
            </a:prstGeom>
          </p:spPr>
        </p:pic>
        <p:sp>
          <p:nvSpPr>
            <p:cNvPr id="592" name="TextBox 591">
              <a:extLst>
                <a:ext uri="{FF2B5EF4-FFF2-40B4-BE49-F238E27FC236}">
                  <a16:creationId xmlns:a16="http://schemas.microsoft.com/office/drawing/2014/main" id="{2B5EDD22-7A66-0CE6-9979-EE2EBC36DEF4}"/>
                </a:ext>
              </a:extLst>
            </p:cNvPr>
            <p:cNvSpPr txBox="1"/>
            <p:nvPr/>
          </p:nvSpPr>
          <p:spPr>
            <a:xfrm>
              <a:off x="9143858" y="2258078"/>
              <a:ext cx="98410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MySQL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593" name="TextBox 592" descr="0">
              <a:extLst>
                <a:ext uri="{FF2B5EF4-FFF2-40B4-BE49-F238E27FC236}">
                  <a16:creationId xmlns:a16="http://schemas.microsoft.com/office/drawing/2014/main" id="{44855328-BC71-7915-34E7-A2B35F3469CE}"/>
                </a:ext>
              </a:extLst>
            </p:cNvPr>
            <p:cNvSpPr txBox="1"/>
            <p:nvPr/>
          </p:nvSpPr>
          <p:spPr>
            <a:xfrm>
              <a:off x="10414000" y="2258078"/>
              <a:ext cx="48836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595" name="TextBox 594" descr="0">
              <a:extLst>
                <a:ext uri="{FF2B5EF4-FFF2-40B4-BE49-F238E27FC236}">
                  <a16:creationId xmlns:a16="http://schemas.microsoft.com/office/drawing/2014/main" id="{CCA4289B-CC6B-A5BF-EBDD-15759A162BE0}"/>
                </a:ext>
              </a:extLst>
            </p:cNvPr>
            <p:cNvSpPr txBox="1"/>
            <p:nvPr/>
          </p:nvSpPr>
          <p:spPr>
            <a:xfrm>
              <a:off x="10876734" y="2258078"/>
              <a:ext cx="48619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pic>
          <p:nvPicPr>
            <p:cNvPr id="19" name="Picture 18" descr="A blue logo with black background&#10;&#10;AI-generated content may be incorrect.">
              <a:extLst>
                <a:ext uri="{FF2B5EF4-FFF2-40B4-BE49-F238E27FC236}">
                  <a16:creationId xmlns:a16="http://schemas.microsoft.com/office/drawing/2014/main" id="{D8578071-D11C-90BE-BD2B-60A9C8EBE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938542" y="4484657"/>
              <a:ext cx="180000" cy="180000"/>
            </a:xfrm>
            <a:prstGeom prst="rect">
              <a:avLst/>
            </a:prstGeom>
          </p:spPr>
        </p:pic>
        <p:sp>
          <p:nvSpPr>
            <p:cNvPr id="730" name="TextBox 729">
              <a:extLst>
                <a:ext uri="{FF2B5EF4-FFF2-40B4-BE49-F238E27FC236}">
                  <a16:creationId xmlns:a16="http://schemas.microsoft.com/office/drawing/2014/main" id="{A3958E06-638F-9B9A-2D92-F14D35247E8E}"/>
                </a:ext>
              </a:extLst>
            </p:cNvPr>
            <p:cNvSpPr txBox="1"/>
            <p:nvPr/>
          </p:nvSpPr>
          <p:spPr>
            <a:xfrm>
              <a:off x="9125987" y="4445784"/>
              <a:ext cx="98410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ASP.Net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731" name="TextBox 730" descr="2">
              <a:extLst>
                <a:ext uri="{FF2B5EF4-FFF2-40B4-BE49-F238E27FC236}">
                  <a16:creationId xmlns:a16="http://schemas.microsoft.com/office/drawing/2014/main" id="{41D7F65A-2EF5-758C-C9FC-A16409F7530F}"/>
                </a:ext>
              </a:extLst>
            </p:cNvPr>
            <p:cNvSpPr txBox="1"/>
            <p:nvPr/>
          </p:nvSpPr>
          <p:spPr>
            <a:xfrm>
              <a:off x="10420350" y="4445784"/>
              <a:ext cx="49089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2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733" name="TextBox 732" descr="0">
              <a:extLst>
                <a:ext uri="{FF2B5EF4-FFF2-40B4-BE49-F238E27FC236}">
                  <a16:creationId xmlns:a16="http://schemas.microsoft.com/office/drawing/2014/main" id="{01C11292-1300-AA30-7036-0D3F0C527B57}"/>
                </a:ext>
              </a:extLst>
            </p:cNvPr>
            <p:cNvSpPr txBox="1"/>
            <p:nvPr/>
          </p:nvSpPr>
          <p:spPr>
            <a:xfrm>
              <a:off x="10899259" y="4445784"/>
              <a:ext cx="46966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7AE20266-37C1-6A62-B041-EA301F27B6F9}"/>
                </a:ext>
              </a:extLst>
            </p:cNvPr>
            <p:cNvSpPr txBox="1"/>
            <p:nvPr/>
          </p:nvSpPr>
          <p:spPr>
            <a:xfrm>
              <a:off x="8845715" y="3095948"/>
              <a:ext cx="5338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Total</a:t>
              </a:r>
              <a:endPara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313" name="TextBox 312" descr="1">
              <a:extLst>
                <a:ext uri="{FF2B5EF4-FFF2-40B4-BE49-F238E27FC236}">
                  <a16:creationId xmlns:a16="http://schemas.microsoft.com/office/drawing/2014/main" id="{2CA18B4B-0C87-32CF-BF08-0FFFBC41D28F}"/>
                </a:ext>
              </a:extLst>
            </p:cNvPr>
            <p:cNvSpPr txBox="1"/>
            <p:nvPr/>
          </p:nvSpPr>
          <p:spPr>
            <a:xfrm>
              <a:off x="10414000" y="3095948"/>
              <a:ext cx="4939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00" i="1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1</a:t>
              </a:r>
              <a:endPara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314" name="TextBox 313" descr="0">
              <a:extLst>
                <a:ext uri="{FF2B5EF4-FFF2-40B4-BE49-F238E27FC236}">
                  <a16:creationId xmlns:a16="http://schemas.microsoft.com/office/drawing/2014/main" id="{FCEC6467-8BEE-DF9E-5D9F-0A1C25690183}"/>
                </a:ext>
              </a:extLst>
            </p:cNvPr>
            <p:cNvSpPr txBox="1"/>
            <p:nvPr/>
          </p:nvSpPr>
          <p:spPr>
            <a:xfrm>
              <a:off x="10839450" y="3095948"/>
              <a:ext cx="52347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00" i="1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626" name="TextBox 625">
              <a:extLst>
                <a:ext uri="{FF2B5EF4-FFF2-40B4-BE49-F238E27FC236}">
                  <a16:creationId xmlns:a16="http://schemas.microsoft.com/office/drawing/2014/main" id="{076A0E1C-36B4-DAA0-7D6E-7BC242A72AE6}"/>
                </a:ext>
              </a:extLst>
            </p:cNvPr>
            <p:cNvSpPr txBox="1"/>
            <p:nvPr/>
          </p:nvSpPr>
          <p:spPr>
            <a:xfrm>
              <a:off x="8845715" y="4846457"/>
              <a:ext cx="5338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Total</a:t>
              </a:r>
              <a:endPara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627" name="TextBox 626" descr="2">
              <a:extLst>
                <a:ext uri="{FF2B5EF4-FFF2-40B4-BE49-F238E27FC236}">
                  <a16:creationId xmlns:a16="http://schemas.microsoft.com/office/drawing/2014/main" id="{8D153B2D-E9FE-AE54-58BA-9F4D7C8B14D7}"/>
                </a:ext>
              </a:extLst>
            </p:cNvPr>
            <p:cNvSpPr txBox="1"/>
            <p:nvPr/>
          </p:nvSpPr>
          <p:spPr>
            <a:xfrm>
              <a:off x="10420350" y="4846457"/>
              <a:ext cx="48296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00" i="1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2</a:t>
              </a:r>
              <a:endPara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628" name="TextBox 627" descr="0">
              <a:extLst>
                <a:ext uri="{FF2B5EF4-FFF2-40B4-BE49-F238E27FC236}">
                  <a16:creationId xmlns:a16="http://schemas.microsoft.com/office/drawing/2014/main" id="{0DA97CC7-D32A-3C00-8074-F6C66AA14EE4}"/>
                </a:ext>
              </a:extLst>
            </p:cNvPr>
            <p:cNvSpPr txBox="1"/>
            <p:nvPr/>
          </p:nvSpPr>
          <p:spPr>
            <a:xfrm>
              <a:off x="10864850" y="4846457"/>
              <a:ext cx="5040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00" i="1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E7C5D9C-3D92-B57C-6241-49CBFA4307AB}"/>
              </a:ext>
            </a:extLst>
          </p:cNvPr>
          <p:cNvSpPr txBox="1"/>
          <p:nvPr/>
        </p:nvSpPr>
        <p:spPr>
          <a:xfrm>
            <a:off x="3888786" y="5400015"/>
            <a:ext cx="13652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400" dirty="0">
                <a:solidFill>
                  <a:srgbClr val="0E2841">
                    <a:lumMod val="75000"/>
                    <a:lumOff val="25000"/>
                  </a:srgbClr>
                </a:solidFill>
                <a:latin typeface="Segoe Sans Text" pitchFamily="2" charset="0"/>
                <a:cs typeface="Segoe Sans Text" pitchFamily="2" charset="0"/>
              </a:rPr>
              <a:t>Customer preference</a:t>
            </a:r>
            <a:endParaRPr lang="en-US" sz="1400" dirty="0">
              <a:solidFill>
                <a:srgbClr val="0E2841">
                  <a:lumMod val="75000"/>
                  <a:lumOff val="25000"/>
                </a:srgbClr>
              </a:solidFill>
              <a:latin typeface="Segoe Sans Text" pitchFamily="2" charset="0"/>
              <a:cs typeface="Segoe Sans Text" pitchFamily="2" charset="0"/>
            </a:endParaRPr>
          </a:p>
        </p:txBody>
      </p: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A5010D5A-B16F-2F64-72FE-E9C7966F468D}"/>
              </a:ext>
            </a:extLst>
          </p:cNvPr>
          <p:cNvGraphicFramePr>
            <a:graphicFrameLocks noGrp="1"/>
          </p:cNvGraphicFramePr>
          <p:nvPr/>
        </p:nvGraphicFramePr>
        <p:xfrm>
          <a:off x="5323114" y="5306419"/>
          <a:ext cx="6512151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6529">
                  <a:extLst>
                    <a:ext uri="{9D8B030D-6E8A-4147-A177-3AD203B41FA5}">
                      <a16:colId xmlns:a16="http://schemas.microsoft.com/office/drawing/2014/main" val="2228012007"/>
                    </a:ext>
                  </a:extLst>
                </a:gridCol>
                <a:gridCol w="988332">
                  <a:extLst>
                    <a:ext uri="{9D8B030D-6E8A-4147-A177-3AD203B41FA5}">
                      <a16:colId xmlns:a16="http://schemas.microsoft.com/office/drawing/2014/main" val="896981367"/>
                    </a:ext>
                  </a:extLst>
                </a:gridCol>
                <a:gridCol w="1302430">
                  <a:extLst>
                    <a:ext uri="{9D8B030D-6E8A-4147-A177-3AD203B41FA5}">
                      <a16:colId xmlns:a16="http://schemas.microsoft.com/office/drawing/2014/main" val="1158356404"/>
                    </a:ext>
                  </a:extLst>
                </a:gridCol>
                <a:gridCol w="1302430">
                  <a:extLst>
                    <a:ext uri="{9D8B030D-6E8A-4147-A177-3AD203B41FA5}">
                      <a16:colId xmlns:a16="http://schemas.microsoft.com/office/drawing/2014/main" val="3045927909"/>
                    </a:ext>
                  </a:extLst>
                </a:gridCol>
                <a:gridCol w="1302430">
                  <a:extLst>
                    <a:ext uri="{9D8B030D-6E8A-4147-A177-3AD203B41FA5}">
                      <a16:colId xmlns:a16="http://schemas.microsoft.com/office/drawing/2014/main" val="1833996382"/>
                    </a:ext>
                  </a:extLst>
                </a:gridCol>
              </a:tblGrid>
              <a:tr h="2104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>
                        <a:solidFill>
                          <a:prstClr val="black"/>
                        </a:solidFill>
                        <a:latin typeface="Segoe Sans Text" pitchFamily="2" charset="0"/>
                        <a:ea typeface="Segoe UI" pitchFamily="34" charset="0"/>
                        <a:cs typeface="Segoe Sans Text" pitchFamily="2" charset="0"/>
                      </a:endParaRPr>
                    </a:p>
                  </a:txBody>
                  <a:tcPr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latin typeface="Segoe Sans Text" pitchFamily="2" charset="0"/>
                          <a:cs typeface="Segoe Sans Text" pitchFamily="2" charset="0"/>
                        </a:rPr>
                        <a:t>Servers</a:t>
                      </a:r>
                    </a:p>
                  </a:txBody>
                  <a:tcPr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>
                          <a:latin typeface="Segoe Sans Text" pitchFamily="2" charset="0"/>
                          <a:cs typeface="Segoe Sans Text" pitchFamily="2" charset="0"/>
                        </a:rPr>
                        <a:t>Databases</a:t>
                      </a:r>
                    </a:p>
                  </a:txBody>
                  <a:tcPr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>
                          <a:latin typeface="Segoe Sans Text" pitchFamily="2" charset="0"/>
                          <a:cs typeface="Segoe Sans Text" pitchFamily="2" charset="0"/>
                        </a:rPr>
                        <a:t>Webapps</a:t>
                      </a:r>
                    </a:p>
                  </a:txBody>
                  <a:tcPr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latin typeface="Segoe Sans Text" pitchFamily="2" charset="0"/>
                          <a:cs typeface="Segoe Sans Text" pitchFamily="2" charset="0"/>
                        </a:rPr>
                        <a:t>Fileshares</a:t>
                      </a:r>
                    </a:p>
                  </a:txBody>
                  <a:tcPr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792341"/>
                  </a:ext>
                </a:extLst>
              </a:tr>
              <a:tr h="2104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dirty="0">
                          <a:solidFill>
                            <a:prstClr val="black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Modernization / Migration </a:t>
                      </a:r>
                      <a:endParaRPr lang="en-US" sz="900" dirty="0">
                        <a:solidFill>
                          <a:prstClr val="black"/>
                        </a:solidFill>
                        <a:latin typeface="Segoe Sans Text" pitchFamily="2" charset="0"/>
                        <a:ea typeface="Segoe UI" pitchFamily="34" charset="0"/>
                        <a:cs typeface="Segoe Sans Text" pitchFamily="2" charset="0"/>
                      </a:endParaRP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0653940"/>
                  </a:ext>
                </a:extLst>
              </a:tr>
              <a:tr h="210451">
                <a:tc>
                  <a:txBody>
                    <a:bodyPr/>
                    <a:lstStyle/>
                    <a:p>
                      <a:r>
                        <a:rPr kumimoji="0" lang="en-IN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Segoe UI" pitchFamily="34" charset="0"/>
                          <a:cs typeface="Segoe Sans Text" pitchFamily="2" charset="0"/>
                        </a:rPr>
                        <a:t>Retain</a:t>
                      </a:r>
                      <a:endParaRPr lang="en-US" sz="90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latin typeface="Segoe Sans Text" pitchFamily="2" charset="0"/>
                          <a:cs typeface="Segoe Sans Text" pitchFamily="2" charset="0"/>
                        </a:rPr>
                        <a:t>NA</a:t>
                      </a: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3649229"/>
                  </a:ext>
                </a:extLst>
              </a:tr>
              <a:tr h="210451">
                <a:tc>
                  <a:txBody>
                    <a:bodyPr/>
                    <a:lstStyle/>
                    <a:p>
                      <a:r>
                        <a:rPr kumimoji="0" lang="en-I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Segoe UI" pitchFamily="34" charset="0"/>
                          <a:cs typeface="Segoe Sans Text" pitchFamily="2" charset="0"/>
                        </a:rPr>
                        <a:t>Retire</a:t>
                      </a:r>
                      <a:endParaRPr lang="en-US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>
                          <a:latin typeface="Segoe Sans Text" pitchFamily="2" charset="0"/>
                          <a:cs typeface="Segoe Sans Text" pitchFamily="2" charset="0"/>
                        </a:rPr>
                        <a:t>NA</a:t>
                      </a: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5098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1356656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FE3CDE87-3D70-8A3E-6C5A-3CCA3B0B1295}"/>
              </a:ext>
            </a:extLst>
          </p:cNvPr>
          <p:cNvGrpSpPr/>
          <p:nvPr/>
        </p:nvGrpSpPr>
        <p:grpSpPr>
          <a:xfrm>
            <a:off x="5406289" y="1565344"/>
            <a:ext cx="2660522" cy="3527334"/>
            <a:chOff x="5201765" y="1565344"/>
            <a:chExt cx="2660522" cy="3527334"/>
          </a:xfrm>
        </p:grpSpPr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7F06162E-881E-F8D4-0885-992464CF4F68}"/>
                </a:ext>
              </a:extLst>
            </p:cNvPr>
            <p:cNvSpPr/>
            <p:nvPr/>
          </p:nvSpPr>
          <p:spPr>
            <a:xfrm rot="16200000">
              <a:off x="6492571" y="445744"/>
              <a:ext cx="28800" cy="2268000"/>
            </a:xfrm>
            <a:prstGeom prst="rect">
              <a:avLst/>
            </a:prstGeom>
            <a:solidFill>
              <a:srgbClr val="9373C0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66" name="TextBox 265" descr="2">
              <a:extLst>
                <a:ext uri="{FF2B5EF4-FFF2-40B4-BE49-F238E27FC236}">
                  <a16:creationId xmlns:a16="http://schemas.microsoft.com/office/drawing/2014/main" id="{69F30663-D545-7E75-3AFF-101B0E5A1855}"/>
                </a:ext>
              </a:extLst>
            </p:cNvPr>
            <p:cNvSpPr txBox="1"/>
            <p:nvPr/>
          </p:nvSpPr>
          <p:spPr>
            <a:xfrm>
              <a:off x="5255770" y="1587467"/>
              <a:ext cx="63570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2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31235015-7219-77CA-5A2D-5EA3BBEE67F7}"/>
                </a:ext>
              </a:extLst>
            </p:cNvPr>
            <p:cNvSpPr txBox="1"/>
            <p:nvPr/>
          </p:nvSpPr>
          <p:spPr>
            <a:xfrm>
              <a:off x="5623214" y="1613473"/>
              <a:ext cx="96144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Servers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D7CBD1F3-EB47-312C-8BD1-8353F5988DF9}"/>
                </a:ext>
              </a:extLst>
            </p:cNvPr>
            <p:cNvSpPr txBox="1"/>
            <p:nvPr/>
          </p:nvSpPr>
          <p:spPr>
            <a:xfrm>
              <a:off x="6896942" y="1813385"/>
              <a:ext cx="54307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Prod.</a:t>
              </a:r>
              <a:endPara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E69498F7-AC3D-C3BC-F3B7-6797695C32E6}"/>
                </a:ext>
              </a:extLst>
            </p:cNvPr>
            <p:cNvSpPr txBox="1"/>
            <p:nvPr/>
          </p:nvSpPr>
          <p:spPr>
            <a:xfrm>
              <a:off x="7319215" y="1813385"/>
              <a:ext cx="54307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Dev.</a:t>
              </a:r>
              <a:endPara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523614DB-9B6B-82D7-0033-7A788C8D7C7B}"/>
                </a:ext>
              </a:extLst>
            </p:cNvPr>
            <p:cNvSpPr txBox="1"/>
            <p:nvPr/>
          </p:nvSpPr>
          <p:spPr>
            <a:xfrm>
              <a:off x="5533328" y="1995779"/>
              <a:ext cx="78208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Windows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73" name="TextBox 272" descr="2">
              <a:extLst>
                <a:ext uri="{FF2B5EF4-FFF2-40B4-BE49-F238E27FC236}">
                  <a16:creationId xmlns:a16="http://schemas.microsoft.com/office/drawing/2014/main" id="{FC225A88-CF8D-0531-A334-29366936C31B}"/>
                </a:ext>
              </a:extLst>
            </p:cNvPr>
            <p:cNvSpPr txBox="1"/>
            <p:nvPr/>
          </p:nvSpPr>
          <p:spPr>
            <a:xfrm>
              <a:off x="6819158" y="1995779"/>
              <a:ext cx="47378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50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2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pic>
          <p:nvPicPr>
            <p:cNvPr id="274" name="Picture 273" descr="A blue square with black border&#10;&#10;AI-generated content may be incorrect.">
              <a:extLst>
                <a:ext uri="{FF2B5EF4-FFF2-40B4-BE49-F238E27FC236}">
                  <a16:creationId xmlns:a16="http://schemas.microsoft.com/office/drawing/2014/main" id="{89853F51-AE46-56E8-BF37-757A7834E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337663" y="2032737"/>
              <a:ext cx="180000" cy="180000"/>
            </a:xfrm>
            <a:prstGeom prst="rect">
              <a:avLst/>
            </a:prstGeom>
          </p:spPr>
        </p:pic>
        <p:sp>
          <p:nvSpPr>
            <p:cNvPr id="275" name="TextBox 274" descr="0">
              <a:extLst>
                <a:ext uri="{FF2B5EF4-FFF2-40B4-BE49-F238E27FC236}">
                  <a16:creationId xmlns:a16="http://schemas.microsoft.com/office/drawing/2014/main" id="{A4B4C6CF-A369-EA81-4935-7A7437EAF569}"/>
                </a:ext>
              </a:extLst>
            </p:cNvPr>
            <p:cNvSpPr txBox="1"/>
            <p:nvPr/>
          </p:nvSpPr>
          <p:spPr>
            <a:xfrm>
              <a:off x="7269426" y="1995779"/>
              <a:ext cx="4785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50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1758740D-ADFC-1A06-E060-31013BBF9894}"/>
                </a:ext>
              </a:extLst>
            </p:cNvPr>
            <p:cNvSpPr txBox="1"/>
            <p:nvPr/>
          </p:nvSpPr>
          <p:spPr>
            <a:xfrm>
              <a:off x="5533328" y="2535797"/>
              <a:ext cx="93408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RHEL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83" name="TextBox 282" descr="0">
              <a:extLst>
                <a:ext uri="{FF2B5EF4-FFF2-40B4-BE49-F238E27FC236}">
                  <a16:creationId xmlns:a16="http://schemas.microsoft.com/office/drawing/2014/main" id="{D19FFA04-FD66-5402-ED57-6C6F91A09633}"/>
                </a:ext>
              </a:extLst>
            </p:cNvPr>
            <p:cNvSpPr txBox="1"/>
            <p:nvPr/>
          </p:nvSpPr>
          <p:spPr>
            <a:xfrm>
              <a:off x="6819158" y="2535797"/>
              <a:ext cx="48265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pic>
          <p:nvPicPr>
            <p:cNvPr id="284" name="Picture 283" descr="A red hat with a black band&#10;&#10;AI-generated content may be incorrect.">
              <a:extLst>
                <a:ext uri="{FF2B5EF4-FFF2-40B4-BE49-F238E27FC236}">
                  <a16:creationId xmlns:a16="http://schemas.microsoft.com/office/drawing/2014/main" id="{025F491F-530A-528E-24CB-04A1BB184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337663" y="2584751"/>
              <a:ext cx="180000" cy="180000"/>
            </a:xfrm>
            <a:prstGeom prst="rect">
              <a:avLst/>
            </a:prstGeom>
          </p:spPr>
        </p:pic>
        <p:sp>
          <p:nvSpPr>
            <p:cNvPr id="285" name="TextBox 284" descr="0">
              <a:extLst>
                <a:ext uri="{FF2B5EF4-FFF2-40B4-BE49-F238E27FC236}">
                  <a16:creationId xmlns:a16="http://schemas.microsoft.com/office/drawing/2014/main" id="{4895A7BE-3465-FB62-6EDC-8BA3AC60E07B}"/>
                </a:ext>
              </a:extLst>
            </p:cNvPr>
            <p:cNvSpPr txBox="1"/>
            <p:nvPr/>
          </p:nvSpPr>
          <p:spPr>
            <a:xfrm>
              <a:off x="7256726" y="2535797"/>
              <a:ext cx="50011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1E311005-609B-9ED3-918A-F0BE7C98CDD8}"/>
                </a:ext>
              </a:extLst>
            </p:cNvPr>
            <p:cNvSpPr txBox="1"/>
            <p:nvPr/>
          </p:nvSpPr>
          <p:spPr>
            <a:xfrm>
              <a:off x="5533327" y="2813516"/>
              <a:ext cx="105689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Other Linux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88" name="TextBox 287" descr="0">
              <a:extLst>
                <a:ext uri="{FF2B5EF4-FFF2-40B4-BE49-F238E27FC236}">
                  <a16:creationId xmlns:a16="http://schemas.microsoft.com/office/drawing/2014/main" id="{6D27DC4F-49E7-B43E-D992-6DDAC7418B19}"/>
                </a:ext>
              </a:extLst>
            </p:cNvPr>
            <p:cNvSpPr txBox="1"/>
            <p:nvPr/>
          </p:nvSpPr>
          <p:spPr>
            <a:xfrm>
              <a:off x="6819158" y="2813516"/>
              <a:ext cx="48265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pic>
          <p:nvPicPr>
            <p:cNvPr id="289" name="Picture 288" descr="A cartoon penguin with yellow feet&#10;&#10;AI-generated content may be incorrect.">
              <a:extLst>
                <a:ext uri="{FF2B5EF4-FFF2-40B4-BE49-F238E27FC236}">
                  <a16:creationId xmlns:a16="http://schemas.microsoft.com/office/drawing/2014/main" id="{C4F0A0C4-C0C7-0303-AA02-62E14E224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338588" y="2850474"/>
              <a:ext cx="180000" cy="180000"/>
            </a:xfrm>
            <a:prstGeom prst="rect">
              <a:avLst/>
            </a:prstGeom>
          </p:spPr>
        </p:pic>
        <p:sp>
          <p:nvSpPr>
            <p:cNvPr id="290" name="TextBox 289" descr="0">
              <a:extLst>
                <a:ext uri="{FF2B5EF4-FFF2-40B4-BE49-F238E27FC236}">
                  <a16:creationId xmlns:a16="http://schemas.microsoft.com/office/drawing/2014/main" id="{B17137B0-7E86-C038-EEE9-F3E2C85E030A}"/>
                </a:ext>
              </a:extLst>
            </p:cNvPr>
            <p:cNvSpPr txBox="1"/>
            <p:nvPr/>
          </p:nvSpPr>
          <p:spPr>
            <a:xfrm>
              <a:off x="7275776" y="2813516"/>
              <a:ext cx="48106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FF0CF124-71B3-E0FF-977E-ADE1EED05EEB}"/>
                </a:ext>
              </a:extLst>
            </p:cNvPr>
            <p:cNvSpPr txBox="1"/>
            <p:nvPr/>
          </p:nvSpPr>
          <p:spPr>
            <a:xfrm>
              <a:off x="5533328" y="2258078"/>
              <a:ext cx="98410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SLES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78" name="TextBox 277" descr="0">
              <a:extLst>
                <a:ext uri="{FF2B5EF4-FFF2-40B4-BE49-F238E27FC236}">
                  <a16:creationId xmlns:a16="http://schemas.microsoft.com/office/drawing/2014/main" id="{1A2207DB-892F-4FDD-DF56-9204D1C567D8}"/>
                </a:ext>
              </a:extLst>
            </p:cNvPr>
            <p:cNvSpPr txBox="1"/>
            <p:nvPr/>
          </p:nvSpPr>
          <p:spPr>
            <a:xfrm>
              <a:off x="6819158" y="2258078"/>
              <a:ext cx="48265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50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80" name="TextBox 279" descr="0">
              <a:extLst>
                <a:ext uri="{FF2B5EF4-FFF2-40B4-BE49-F238E27FC236}">
                  <a16:creationId xmlns:a16="http://schemas.microsoft.com/office/drawing/2014/main" id="{D345A8F6-BE79-0BD4-EE1D-00251967FC99}"/>
                </a:ext>
              </a:extLst>
            </p:cNvPr>
            <p:cNvSpPr txBox="1"/>
            <p:nvPr/>
          </p:nvSpPr>
          <p:spPr>
            <a:xfrm>
              <a:off x="7275776" y="2258078"/>
              <a:ext cx="48106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3159510A-B03F-C7BF-C1E2-64B8DDC06758}"/>
                </a:ext>
              </a:extLst>
            </p:cNvPr>
            <p:cNvSpPr txBox="1"/>
            <p:nvPr/>
          </p:nvSpPr>
          <p:spPr>
            <a:xfrm>
              <a:off x="5201765" y="3095948"/>
              <a:ext cx="5338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Total</a:t>
              </a:r>
              <a:endPara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97" name="TextBox 296" descr="2">
              <a:extLst>
                <a:ext uri="{FF2B5EF4-FFF2-40B4-BE49-F238E27FC236}">
                  <a16:creationId xmlns:a16="http://schemas.microsoft.com/office/drawing/2014/main" id="{A6F58F85-D98C-D386-A4FA-B2E5300FB979}"/>
                </a:ext>
              </a:extLst>
            </p:cNvPr>
            <p:cNvSpPr txBox="1"/>
            <p:nvPr/>
          </p:nvSpPr>
          <p:spPr>
            <a:xfrm>
              <a:off x="6819158" y="3095948"/>
              <a:ext cx="48024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00" i="1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2</a:t>
              </a:r>
              <a:endPara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98" name="TextBox 297" descr="0">
              <a:extLst>
                <a:ext uri="{FF2B5EF4-FFF2-40B4-BE49-F238E27FC236}">
                  <a16:creationId xmlns:a16="http://schemas.microsoft.com/office/drawing/2014/main" id="{17628A04-3937-B207-7863-8651FA2021F6}"/>
                </a:ext>
              </a:extLst>
            </p:cNvPr>
            <p:cNvSpPr txBox="1"/>
            <p:nvPr/>
          </p:nvSpPr>
          <p:spPr>
            <a:xfrm>
              <a:off x="7224976" y="3095948"/>
              <a:ext cx="5294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00" i="1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C50C5EC-2BDF-9AB5-4395-F87E8E75F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337663" y="2308744"/>
              <a:ext cx="180000" cy="180000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C474D35-4260-CF29-146A-41C9CE046ABD}"/>
                </a:ext>
              </a:extLst>
            </p:cNvPr>
            <p:cNvSpPr/>
            <p:nvPr/>
          </p:nvSpPr>
          <p:spPr>
            <a:xfrm rot="16200000">
              <a:off x="6481057" y="2638707"/>
              <a:ext cx="28800" cy="2268000"/>
            </a:xfrm>
            <a:prstGeom prst="rect">
              <a:avLst/>
            </a:prstGeom>
            <a:solidFill>
              <a:srgbClr val="CB500E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2" name="TextBox 21" descr="0">
              <a:extLst>
                <a:ext uri="{FF2B5EF4-FFF2-40B4-BE49-F238E27FC236}">
                  <a16:creationId xmlns:a16="http://schemas.microsoft.com/office/drawing/2014/main" id="{6F6B07AF-F4DA-F5A0-3BDA-E45D5C6D6253}"/>
                </a:ext>
              </a:extLst>
            </p:cNvPr>
            <p:cNvSpPr txBox="1"/>
            <p:nvPr/>
          </p:nvSpPr>
          <p:spPr>
            <a:xfrm>
              <a:off x="5234810" y="3778772"/>
              <a:ext cx="65666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5B68DE4-0751-56B0-61FD-B35E08B8628C}"/>
                </a:ext>
              </a:extLst>
            </p:cNvPr>
            <p:cNvSpPr txBox="1"/>
            <p:nvPr/>
          </p:nvSpPr>
          <p:spPr>
            <a:xfrm>
              <a:off x="5665551" y="3811093"/>
              <a:ext cx="100173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Fileshares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C927D9A-DE80-6428-EC57-6CFAECDBAF6D}"/>
                </a:ext>
              </a:extLst>
            </p:cNvPr>
            <p:cNvSpPr txBox="1"/>
            <p:nvPr/>
          </p:nvSpPr>
          <p:spPr>
            <a:xfrm>
              <a:off x="5521813" y="4188742"/>
              <a:ext cx="78208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NFS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39" name="TextBox 38" descr="0">
              <a:extLst>
                <a:ext uri="{FF2B5EF4-FFF2-40B4-BE49-F238E27FC236}">
                  <a16:creationId xmlns:a16="http://schemas.microsoft.com/office/drawing/2014/main" id="{21E75FF5-EA4D-7CCE-AF09-73447D7F149B}"/>
                </a:ext>
              </a:extLst>
            </p:cNvPr>
            <p:cNvSpPr txBox="1"/>
            <p:nvPr/>
          </p:nvSpPr>
          <p:spPr>
            <a:xfrm>
              <a:off x="6848910" y="4188742"/>
              <a:ext cx="50064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50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52" name="TextBox 51" descr="0">
              <a:extLst>
                <a:ext uri="{FF2B5EF4-FFF2-40B4-BE49-F238E27FC236}">
                  <a16:creationId xmlns:a16="http://schemas.microsoft.com/office/drawing/2014/main" id="{6385DF92-F93F-9834-9B5C-BE6DFDA30020}"/>
                </a:ext>
              </a:extLst>
            </p:cNvPr>
            <p:cNvSpPr txBox="1"/>
            <p:nvPr/>
          </p:nvSpPr>
          <p:spPr>
            <a:xfrm>
              <a:off x="6848910" y="4451041"/>
              <a:ext cx="50951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297C8FE-25E2-D21C-1483-B2EFB7E43A02}"/>
                </a:ext>
              </a:extLst>
            </p:cNvPr>
            <p:cNvSpPr txBox="1"/>
            <p:nvPr/>
          </p:nvSpPr>
          <p:spPr>
            <a:xfrm>
              <a:off x="5272134" y="4846457"/>
              <a:ext cx="5338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Total</a:t>
              </a:r>
              <a:endPara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6" name="TextBox 5" descr="0">
              <a:extLst>
                <a:ext uri="{FF2B5EF4-FFF2-40B4-BE49-F238E27FC236}">
                  <a16:creationId xmlns:a16="http://schemas.microsoft.com/office/drawing/2014/main" id="{EA61590A-9C7D-2355-8EE5-D12B40E03564}"/>
                </a:ext>
              </a:extLst>
            </p:cNvPr>
            <p:cNvSpPr txBox="1"/>
            <p:nvPr/>
          </p:nvSpPr>
          <p:spPr>
            <a:xfrm>
              <a:off x="6848910" y="4846457"/>
              <a:ext cx="47941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00" i="1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626AEF5-BA07-741F-E1A9-ECCB1743817B}"/>
                </a:ext>
              </a:extLst>
            </p:cNvPr>
            <p:cNvSpPr txBox="1"/>
            <p:nvPr/>
          </p:nvSpPr>
          <p:spPr>
            <a:xfrm>
              <a:off x="5521813" y="4449018"/>
              <a:ext cx="78208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SMB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sp>
        <p:nvSpPr>
          <p:cNvPr id="13" name="TextBox 12" descr="Visit Azure Migrate portal for details">
            <a:extLst>
              <a:ext uri="{FF2B5EF4-FFF2-40B4-BE49-F238E27FC236}">
                <a16:creationId xmlns:a16="http://schemas.microsoft.com/office/drawing/2014/main" id="{A082EDF8-D6F6-2E91-0790-802051AAC20C}"/>
              </a:ext>
            </a:extLst>
          </p:cNvPr>
          <p:cNvSpPr txBox="1"/>
          <p:nvPr/>
        </p:nvSpPr>
        <p:spPr>
          <a:xfrm>
            <a:off x="9435295" y="564386"/>
            <a:ext cx="256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latin typeface="Aptos"/>
              </a:rPr>
              <a:t>Visit </a:t>
            </a:r>
            <a:r>
              <a:rPr sz="1050" b="0" i="0">
                <a:latin typeface="Aptos"/>
                <a:hlinkClick r:id="rId19"/>
              </a:rPr>
              <a:t>Azure Migrate</a:t>
            </a:r>
            <a:r>
              <a:rPr sz="1050" b="0" i="0">
                <a:latin typeface="Aptos"/>
              </a:rPr>
              <a:t> portal for details</a:t>
            </a:r>
          </a:p>
        </p:txBody>
      </p:sp>
      <p:sp>
        <p:nvSpPr>
          <p:cNvPr id="15" name="TextBox 14" descr="2">
            <a:extLst>
              <a:ext uri="{FF2B5EF4-FFF2-40B4-BE49-F238E27FC236}">
                <a16:creationId xmlns:a16="http://schemas.microsoft.com/office/drawing/2014/main" id="{AC74B74F-C6A0-639E-9D8A-E7F6B9A65721}"/>
              </a:ext>
            </a:extLst>
          </p:cNvPr>
          <p:cNvSpPr txBox="1"/>
          <p:nvPr/>
        </p:nvSpPr>
        <p:spPr>
          <a:xfrm>
            <a:off x="7334250" y="5552771"/>
            <a:ext cx="592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Segoe UI" pitchFamily="34" charset="0"/>
                <a:cs typeface="Segoe Sans Text" pitchFamily="2" charset="0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32" name="TextBox 31" descr="0">
            <a:extLst>
              <a:ext uri="{FF2B5EF4-FFF2-40B4-BE49-F238E27FC236}">
                <a16:creationId xmlns:a16="http://schemas.microsoft.com/office/drawing/2014/main" id="{020FFAC5-BF85-5FA5-97F5-1AE65C77F1B8}"/>
              </a:ext>
            </a:extLst>
          </p:cNvPr>
          <p:cNvSpPr txBox="1"/>
          <p:nvPr/>
        </p:nvSpPr>
        <p:spPr>
          <a:xfrm>
            <a:off x="7334250" y="5775229"/>
            <a:ext cx="592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Segoe UI" pitchFamily="34" charset="0"/>
                <a:cs typeface="Segoe Sans Text" pitchFamily="2" charset="0"/>
              </a:rPr>
              <a:t>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33" name="TextBox 32" descr="0">
            <a:extLst>
              <a:ext uri="{FF2B5EF4-FFF2-40B4-BE49-F238E27FC236}">
                <a16:creationId xmlns:a16="http://schemas.microsoft.com/office/drawing/2014/main" id="{CADDC776-60A5-C8B9-C979-74C4F99E3FFC}"/>
              </a:ext>
            </a:extLst>
          </p:cNvPr>
          <p:cNvSpPr txBox="1"/>
          <p:nvPr/>
        </p:nvSpPr>
        <p:spPr>
          <a:xfrm>
            <a:off x="7334250" y="5996099"/>
            <a:ext cx="592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Segoe UI" pitchFamily="34" charset="0"/>
                <a:cs typeface="Segoe Sans Text" pitchFamily="2" charset="0"/>
              </a:rPr>
              <a:t>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0" name="TextBox 39" descr="1">
            <a:extLst>
              <a:ext uri="{FF2B5EF4-FFF2-40B4-BE49-F238E27FC236}">
                <a16:creationId xmlns:a16="http://schemas.microsoft.com/office/drawing/2014/main" id="{E388B8B5-E0FC-C30E-E83A-19C1E925B6A8}"/>
              </a:ext>
            </a:extLst>
          </p:cNvPr>
          <p:cNvSpPr txBox="1"/>
          <p:nvPr/>
        </p:nvSpPr>
        <p:spPr>
          <a:xfrm>
            <a:off x="8627954" y="5537988"/>
            <a:ext cx="592280" cy="23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Segoe UI" pitchFamily="34" charset="0"/>
                <a:cs typeface="Segoe Sans Text" pitchFamily="2" charset="0"/>
              </a:rPr>
              <a:t>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1" name="TextBox 40" descr="0">
            <a:extLst>
              <a:ext uri="{FF2B5EF4-FFF2-40B4-BE49-F238E27FC236}">
                <a16:creationId xmlns:a16="http://schemas.microsoft.com/office/drawing/2014/main" id="{0E619BE4-407B-6573-650F-E50E516FB012}"/>
              </a:ext>
            </a:extLst>
          </p:cNvPr>
          <p:cNvSpPr txBox="1"/>
          <p:nvPr/>
        </p:nvSpPr>
        <p:spPr>
          <a:xfrm>
            <a:off x="8627954" y="5768820"/>
            <a:ext cx="592280" cy="23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Segoe UI" pitchFamily="34" charset="0"/>
                <a:cs typeface="Segoe Sans Text" pitchFamily="2" charset="0"/>
              </a:rPr>
              <a:t>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2" name="TextBox 41" descr="0">
            <a:extLst>
              <a:ext uri="{FF2B5EF4-FFF2-40B4-BE49-F238E27FC236}">
                <a16:creationId xmlns:a16="http://schemas.microsoft.com/office/drawing/2014/main" id="{130C870C-1251-2FEE-3148-E5DFA12265EE}"/>
              </a:ext>
            </a:extLst>
          </p:cNvPr>
          <p:cNvSpPr txBox="1"/>
          <p:nvPr/>
        </p:nvSpPr>
        <p:spPr>
          <a:xfrm>
            <a:off x="8627954" y="5996099"/>
            <a:ext cx="592280" cy="23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Segoe UI" pitchFamily="34" charset="0"/>
                <a:cs typeface="Segoe Sans Text" pitchFamily="2" charset="0"/>
              </a:rPr>
              <a:t>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3" name="TextBox 42" descr="2">
            <a:extLst>
              <a:ext uri="{FF2B5EF4-FFF2-40B4-BE49-F238E27FC236}">
                <a16:creationId xmlns:a16="http://schemas.microsoft.com/office/drawing/2014/main" id="{8C55ACA5-B5B6-4742-5742-DB86054B7B32}"/>
              </a:ext>
            </a:extLst>
          </p:cNvPr>
          <p:cNvSpPr txBox="1"/>
          <p:nvPr/>
        </p:nvSpPr>
        <p:spPr>
          <a:xfrm>
            <a:off x="9921658" y="5535429"/>
            <a:ext cx="608288" cy="23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Segoe UI" pitchFamily="34" charset="0"/>
                <a:cs typeface="Segoe Sans Text" pitchFamily="2" charset="0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4" name="TextBox 43" descr="0">
            <a:extLst>
              <a:ext uri="{FF2B5EF4-FFF2-40B4-BE49-F238E27FC236}">
                <a16:creationId xmlns:a16="http://schemas.microsoft.com/office/drawing/2014/main" id="{EA822E78-3629-C61D-F5A6-9E4DFA60D8BA}"/>
              </a:ext>
            </a:extLst>
          </p:cNvPr>
          <p:cNvSpPr txBox="1"/>
          <p:nvPr/>
        </p:nvSpPr>
        <p:spPr>
          <a:xfrm>
            <a:off x="9937666" y="5768820"/>
            <a:ext cx="592280" cy="23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900" dirty="0">
                <a:solidFill>
                  <a:srgbClr val="000000"/>
                </a:solidFill>
                <a:latin typeface="Segoe Sans Text" pitchFamily="2" charset="0"/>
                <a:cs typeface="Segoe Sans Text" pitchFamily="2" charset="0"/>
              </a:rPr>
              <a:t>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5" name="TextBox 44" descr="0">
            <a:extLst>
              <a:ext uri="{FF2B5EF4-FFF2-40B4-BE49-F238E27FC236}">
                <a16:creationId xmlns:a16="http://schemas.microsoft.com/office/drawing/2014/main" id="{BBCBCBDA-AFFB-0E4E-8C4A-E2A7694A4D5B}"/>
              </a:ext>
            </a:extLst>
          </p:cNvPr>
          <p:cNvSpPr txBox="1"/>
          <p:nvPr/>
        </p:nvSpPr>
        <p:spPr>
          <a:xfrm>
            <a:off x="9921658" y="6012472"/>
            <a:ext cx="6082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Segoe UI" pitchFamily="34" charset="0"/>
                <a:cs typeface="Segoe Sans Text" pitchFamily="2" charset="0"/>
              </a:rPr>
              <a:t>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6" name="TextBox 45" descr="0">
            <a:extLst>
              <a:ext uri="{FF2B5EF4-FFF2-40B4-BE49-F238E27FC236}">
                <a16:creationId xmlns:a16="http://schemas.microsoft.com/office/drawing/2014/main" id="{08EDC5AC-12A1-E210-0CD3-49AB4E1B9735}"/>
              </a:ext>
            </a:extLst>
          </p:cNvPr>
          <p:cNvSpPr txBox="1"/>
          <p:nvPr/>
        </p:nvSpPr>
        <p:spPr>
          <a:xfrm>
            <a:off x="11156950" y="5534137"/>
            <a:ext cx="666700" cy="23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Segoe UI" pitchFamily="34" charset="0"/>
                <a:cs typeface="Segoe Sans Text" pitchFamily="2" charset="0"/>
              </a:rPr>
              <a:t>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599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2BA14-49F7-9D97-AAD2-39592FFF0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A02ACAB-0673-6FC0-59B3-840E3AEF4CFC}"/>
              </a:ext>
            </a:extLst>
          </p:cNvPr>
          <p:cNvSpPr>
            <a:spLocks/>
          </p:cNvSpPr>
          <p:nvPr/>
        </p:nvSpPr>
        <p:spPr>
          <a:xfrm rot="10800000" flipH="1" flipV="1">
            <a:off x="633704" y="1011198"/>
            <a:ext cx="2216373" cy="5454556"/>
          </a:xfrm>
          <a:prstGeom prst="roundRect">
            <a:avLst>
              <a:gd name="adj" fmla="val 2564"/>
            </a:avLst>
          </a:prstGeom>
          <a:gradFill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9" name="Title">
            <a:extLst>
              <a:ext uri="{FF2B5EF4-FFF2-40B4-BE49-F238E27FC236}">
                <a16:creationId xmlns:a16="http://schemas.microsoft.com/office/drawing/2014/main" id="{B1A4BFA9-AE79-66A9-394D-5DBAD1E21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7200"/>
            <a:ext cx="11018520" cy="553998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Segoe Sans Text" pitchFamily="2" charset="0"/>
                <a:cs typeface="Segoe Sans Text" pitchFamily="2" charset="0"/>
              </a:rPr>
              <a:t>Assessed inventory summary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6AF9D0D9-A4B6-D463-EE8C-10B180ECF0B5}"/>
              </a:ext>
            </a:extLst>
          </p:cNvPr>
          <p:cNvSpPr txBox="1"/>
          <p:nvPr/>
        </p:nvSpPr>
        <p:spPr>
          <a:xfrm>
            <a:off x="650754" y="6564309"/>
            <a:ext cx="10656570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373C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  <a:hlinkClick r:id="" action="ppaction://noaction"/>
              </a:rPr>
              <a:t>View assessment details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373C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for migration of workloads to Azure, highlighting target details, readiness insights, Azure cost and clear recommendations aligned with the 6R migration framework.</a:t>
            </a:r>
          </a:p>
        </p:txBody>
      </p:sp>
      <p:sp>
        <p:nvSpPr>
          <p:cNvPr id="847" name="TextBox 846">
            <a:extLst>
              <a:ext uri="{FF2B5EF4-FFF2-40B4-BE49-F238E27FC236}">
                <a16:creationId xmlns:a16="http://schemas.microsoft.com/office/drawing/2014/main" id="{D97A5A01-A82B-3935-7754-D645DF9ABE16}"/>
              </a:ext>
            </a:extLst>
          </p:cNvPr>
          <p:cNvSpPr txBox="1"/>
          <p:nvPr/>
        </p:nvSpPr>
        <p:spPr>
          <a:xfrm>
            <a:off x="742003" y="1109753"/>
            <a:ext cx="16568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Total discovered workloads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Segoe UI" pitchFamily="34" charset="0"/>
              <a:cs typeface="Segoe Sans Text" pitchFamily="2" charset="0"/>
            </a:endParaRPr>
          </a:p>
        </p:txBody>
      </p:sp>
      <p:sp>
        <p:nvSpPr>
          <p:cNvPr id="848" name="TextBox 847" descr="5">
            <a:extLst>
              <a:ext uri="{FF2B5EF4-FFF2-40B4-BE49-F238E27FC236}">
                <a16:creationId xmlns:a16="http://schemas.microsoft.com/office/drawing/2014/main" id="{0AA615B1-9C73-9533-8C08-BF38C534892F}"/>
              </a:ext>
            </a:extLst>
          </p:cNvPr>
          <p:cNvSpPr txBox="1"/>
          <p:nvPr/>
        </p:nvSpPr>
        <p:spPr>
          <a:xfrm>
            <a:off x="747459" y="1649548"/>
            <a:ext cx="7977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Segoe UI" pitchFamily="34" charset="0"/>
              <a:cs typeface="Segoe Sans Text" pitchFamily="2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A14F3DC0-0474-A922-4497-3DB8CEE09879}"/>
              </a:ext>
            </a:extLst>
          </p:cNvPr>
          <p:cNvSpPr txBox="1"/>
          <p:nvPr/>
        </p:nvSpPr>
        <p:spPr>
          <a:xfrm>
            <a:off x="3043059" y="1129881"/>
            <a:ext cx="30422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32472" fontAlgn="base">
              <a:spcBef>
                <a:spcPct val="0"/>
              </a:spcBef>
              <a:spcAft>
                <a:spcPts val="600"/>
              </a:spcAft>
              <a:defRPr/>
            </a:pPr>
            <a:r>
              <a:rPr lang="en-IN" sz="1400" dirty="0">
                <a:solidFill>
                  <a:srgbClr val="0E2841">
                    <a:lumMod val="75000"/>
                    <a:lumOff val="25000"/>
                  </a:srgbClr>
                </a:solidFill>
                <a:latin typeface="Segoe Sans Text" pitchFamily="2" charset="0"/>
                <a:cs typeface="Segoe Sans Text" pitchFamily="2" charset="0"/>
              </a:rPr>
              <a:t>Out of support workloads summary</a:t>
            </a:r>
            <a:endParaRPr lang="en-US" sz="1400" dirty="0">
              <a:solidFill>
                <a:srgbClr val="0E2841">
                  <a:lumMod val="75000"/>
                  <a:lumOff val="25000"/>
                </a:srgbClr>
              </a:solidFill>
              <a:latin typeface="Segoe Sans Text" pitchFamily="2" charset="0"/>
              <a:cs typeface="Segoe Sans Text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C20707-FFD4-60A6-73BA-91667357A0DD}"/>
              </a:ext>
            </a:extLst>
          </p:cNvPr>
          <p:cNvSpPr txBox="1"/>
          <p:nvPr/>
        </p:nvSpPr>
        <p:spPr>
          <a:xfrm>
            <a:off x="742003" y="2390902"/>
            <a:ext cx="1973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Out of support workloads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5" name="TextBox 14" descr="0">
            <a:extLst>
              <a:ext uri="{FF2B5EF4-FFF2-40B4-BE49-F238E27FC236}">
                <a16:creationId xmlns:a16="http://schemas.microsoft.com/office/drawing/2014/main" id="{5674FE5E-6436-0448-2BC5-CAF441C78DFA}"/>
              </a:ext>
            </a:extLst>
          </p:cNvPr>
          <p:cNvSpPr txBox="1"/>
          <p:nvPr/>
        </p:nvSpPr>
        <p:spPr>
          <a:xfrm>
            <a:off x="747459" y="2649708"/>
            <a:ext cx="6304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0DEBD5-8BAD-D45A-0F87-38C8FE0A5AEA}"/>
              </a:ext>
            </a:extLst>
          </p:cNvPr>
          <p:cNvSpPr txBox="1"/>
          <p:nvPr/>
        </p:nvSpPr>
        <p:spPr>
          <a:xfrm>
            <a:off x="1171515" y="2730433"/>
            <a:ext cx="9009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Current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8" name="Graphic 6">
            <a:extLst>
              <a:ext uri="{FF2B5EF4-FFF2-40B4-BE49-F238E27FC236}">
                <a16:creationId xmlns:a16="http://schemas.microsoft.com/office/drawing/2014/main" id="{C86D9387-ECF0-4862-4FE3-9411E54A4124}"/>
              </a:ext>
            </a:extLst>
          </p:cNvPr>
          <p:cNvSpPr/>
          <p:nvPr/>
        </p:nvSpPr>
        <p:spPr>
          <a:xfrm rot="5400000">
            <a:off x="1521418" y="3353157"/>
            <a:ext cx="300870" cy="267452"/>
          </a:xfrm>
          <a:custGeom>
            <a:avLst/>
            <a:gdLst>
              <a:gd name="connsiteX0" fmla="*/ 481680 w 810011"/>
              <a:gd name="connsiteY0" fmla="*/ 13935 h 720044"/>
              <a:gd name="connsiteX1" fmla="*/ 418059 w 810011"/>
              <a:gd name="connsiteY1" fmla="*/ 12443 h 720044"/>
              <a:gd name="connsiteX2" fmla="*/ 416565 w 810011"/>
              <a:gd name="connsiteY2" fmla="*/ 76065 h 720044"/>
              <a:gd name="connsiteX3" fmla="*/ 418545 w 810011"/>
              <a:gd name="connsiteY3" fmla="*/ 78015 h 720044"/>
              <a:gd name="connsiteX4" fmla="*/ 660150 w 810011"/>
              <a:gd name="connsiteY4" fmla="*/ 316155 h 720044"/>
              <a:gd name="connsiteX5" fmla="*/ 45000 w 810011"/>
              <a:gd name="connsiteY5" fmla="*/ 316155 h 720044"/>
              <a:gd name="connsiteX6" fmla="*/ 0 w 810011"/>
              <a:gd name="connsiteY6" fmla="*/ 361155 h 720044"/>
              <a:gd name="connsiteX7" fmla="*/ 45000 w 810011"/>
              <a:gd name="connsiteY7" fmla="*/ 406155 h 720044"/>
              <a:gd name="connsiteX8" fmla="*/ 659925 w 810011"/>
              <a:gd name="connsiteY8" fmla="*/ 406155 h 720044"/>
              <a:gd name="connsiteX9" fmla="*/ 418500 w 810011"/>
              <a:gd name="connsiteY9" fmla="*/ 643980 h 720044"/>
              <a:gd name="connsiteX10" fmla="*/ 419994 w 810011"/>
              <a:gd name="connsiteY10" fmla="*/ 707601 h 720044"/>
              <a:gd name="connsiteX11" fmla="*/ 481635 w 810011"/>
              <a:gd name="connsiteY11" fmla="*/ 708060 h 720044"/>
              <a:gd name="connsiteX12" fmla="*/ 793260 w 810011"/>
              <a:gd name="connsiteY12" fmla="*/ 401070 h 720044"/>
              <a:gd name="connsiteX13" fmla="*/ 793814 w 810011"/>
              <a:gd name="connsiteY13" fmla="*/ 321524 h 720044"/>
              <a:gd name="connsiteX14" fmla="*/ 793260 w 810011"/>
              <a:gd name="connsiteY14" fmla="*/ 320970 h 720044"/>
              <a:gd name="connsiteX15" fmla="*/ 481635 w 810011"/>
              <a:gd name="connsiteY15" fmla="*/ 13935 h 72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10011" h="720044">
                <a:moveTo>
                  <a:pt x="481680" y="13935"/>
                </a:moveTo>
                <a:cubicBezTo>
                  <a:pt x="464521" y="-4046"/>
                  <a:pt x="436041" y="-4714"/>
                  <a:pt x="418059" y="12443"/>
                </a:cubicBezTo>
                <a:cubicBezTo>
                  <a:pt x="400077" y="29599"/>
                  <a:pt x="399407" y="58084"/>
                  <a:pt x="416565" y="76065"/>
                </a:cubicBezTo>
                <a:cubicBezTo>
                  <a:pt x="417204" y="76735"/>
                  <a:pt x="417866" y="77386"/>
                  <a:pt x="418545" y="78015"/>
                </a:cubicBezTo>
                <a:lnTo>
                  <a:pt x="660150" y="316155"/>
                </a:lnTo>
                <a:lnTo>
                  <a:pt x="45000" y="316155"/>
                </a:lnTo>
                <a:cubicBezTo>
                  <a:pt x="20147" y="316155"/>
                  <a:pt x="0" y="336302"/>
                  <a:pt x="0" y="361155"/>
                </a:cubicBezTo>
                <a:cubicBezTo>
                  <a:pt x="0" y="386009"/>
                  <a:pt x="20147" y="406155"/>
                  <a:pt x="45000" y="406155"/>
                </a:cubicBezTo>
                <a:lnTo>
                  <a:pt x="659925" y="406155"/>
                </a:lnTo>
                <a:lnTo>
                  <a:pt x="418500" y="643980"/>
                </a:lnTo>
                <a:cubicBezTo>
                  <a:pt x="401342" y="661963"/>
                  <a:pt x="402012" y="690447"/>
                  <a:pt x="419994" y="707601"/>
                </a:cubicBezTo>
                <a:cubicBezTo>
                  <a:pt x="437193" y="724013"/>
                  <a:pt x="464193" y="724216"/>
                  <a:pt x="481635" y="708060"/>
                </a:cubicBezTo>
                <a:lnTo>
                  <a:pt x="793260" y="401070"/>
                </a:lnTo>
                <a:cubicBezTo>
                  <a:pt x="815377" y="379254"/>
                  <a:pt x="815625" y="343641"/>
                  <a:pt x="793814" y="321524"/>
                </a:cubicBezTo>
                <a:cubicBezTo>
                  <a:pt x="793629" y="321339"/>
                  <a:pt x="793444" y="321155"/>
                  <a:pt x="793260" y="320970"/>
                </a:cubicBezTo>
                <a:lnTo>
                  <a:pt x="481635" y="1393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5238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8" name="TextBox 17" descr="(0.0%) of total workloads">
            <a:extLst>
              <a:ext uri="{FF2B5EF4-FFF2-40B4-BE49-F238E27FC236}">
                <a16:creationId xmlns:a16="http://schemas.microsoft.com/office/drawing/2014/main" id="{42C29460-7F11-2CDB-EFE0-5EAC2D705D95}"/>
              </a:ext>
            </a:extLst>
          </p:cNvPr>
          <p:cNvSpPr txBox="1"/>
          <p:nvPr/>
        </p:nvSpPr>
        <p:spPr>
          <a:xfrm>
            <a:off x="771635" y="2926706"/>
            <a:ext cx="201459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IN" sz="900" dirty="0">
                <a:solidFill>
                  <a:prstClr val="black">
                    <a:lumMod val="95000"/>
                    <a:lumOff val="5000"/>
                  </a:prstClr>
                </a:solidFill>
                <a:latin typeface="Segoe Sans Text" pitchFamily="2" charset="0"/>
                <a:cs typeface="Segoe Sans Text" pitchFamily="2" charset="0"/>
              </a:rPr>
              <a:t>(0.0%) of total workloads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0" name="TextBox 19" descr="0">
            <a:extLst>
              <a:ext uri="{FF2B5EF4-FFF2-40B4-BE49-F238E27FC236}">
                <a16:creationId xmlns:a16="http://schemas.microsoft.com/office/drawing/2014/main" id="{923C183A-8E5B-1537-45D0-A52B932F9B56}"/>
              </a:ext>
            </a:extLst>
          </p:cNvPr>
          <p:cNvSpPr txBox="1"/>
          <p:nvPr/>
        </p:nvSpPr>
        <p:spPr>
          <a:xfrm>
            <a:off x="773415" y="3679515"/>
            <a:ext cx="6807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B6FCA0-41A1-DB10-F216-D67DEFB4FB73}"/>
              </a:ext>
            </a:extLst>
          </p:cNvPr>
          <p:cNvSpPr txBox="1"/>
          <p:nvPr/>
        </p:nvSpPr>
        <p:spPr>
          <a:xfrm>
            <a:off x="1221385" y="3745034"/>
            <a:ext cx="9009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In 3 Yrs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2" name="TextBox 21" descr="(0.0%) of total workloads">
            <a:extLst>
              <a:ext uri="{FF2B5EF4-FFF2-40B4-BE49-F238E27FC236}">
                <a16:creationId xmlns:a16="http://schemas.microsoft.com/office/drawing/2014/main" id="{BDA22D0F-E928-D2CB-631E-B4320FBD23F2}"/>
              </a:ext>
            </a:extLst>
          </p:cNvPr>
          <p:cNvSpPr txBox="1"/>
          <p:nvPr/>
        </p:nvSpPr>
        <p:spPr>
          <a:xfrm>
            <a:off x="797591" y="3932279"/>
            <a:ext cx="191838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IN" sz="900" dirty="0">
                <a:solidFill>
                  <a:prstClr val="black">
                    <a:lumMod val="95000"/>
                    <a:lumOff val="5000"/>
                  </a:prstClr>
                </a:solidFill>
                <a:latin typeface="Segoe Sans Text" pitchFamily="2" charset="0"/>
                <a:cs typeface="Segoe Sans Text" pitchFamily="2" charset="0"/>
              </a:rPr>
              <a:t>(0.0%) of total workloads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A61FF1-4E16-6D95-EC68-0B3E8FFEF6FF}"/>
              </a:ext>
            </a:extLst>
          </p:cNvPr>
          <p:cNvGrpSpPr/>
          <p:nvPr/>
        </p:nvGrpSpPr>
        <p:grpSpPr>
          <a:xfrm>
            <a:off x="2989571" y="2053038"/>
            <a:ext cx="2194263" cy="2028216"/>
            <a:chOff x="3043059" y="1679908"/>
            <a:chExt cx="2194263" cy="2028216"/>
          </a:xfrm>
        </p:grpSpPr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23F59202-1BDC-737A-0C3E-C5AD0E1DC476}"/>
                </a:ext>
              </a:extLst>
            </p:cNvPr>
            <p:cNvSpPr/>
            <p:nvPr/>
          </p:nvSpPr>
          <p:spPr>
            <a:xfrm rot="16200000">
              <a:off x="4150266" y="743908"/>
              <a:ext cx="36000" cy="1908000"/>
            </a:xfrm>
            <a:prstGeom prst="rect">
              <a:avLst/>
            </a:prstGeom>
            <a:solidFill>
              <a:srgbClr val="9373C0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66" name="TextBox 265" descr="0">
              <a:extLst>
                <a:ext uri="{FF2B5EF4-FFF2-40B4-BE49-F238E27FC236}">
                  <a16:creationId xmlns:a16="http://schemas.microsoft.com/office/drawing/2014/main" id="{F017F05C-0EED-53D1-3414-C1FC092131B4}"/>
                </a:ext>
              </a:extLst>
            </p:cNvPr>
            <p:cNvSpPr txBox="1"/>
            <p:nvPr/>
          </p:nvSpPr>
          <p:spPr>
            <a:xfrm>
              <a:off x="3113005" y="1823367"/>
              <a:ext cx="63618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906855EB-2078-FA10-010F-2C27D8C30C43}"/>
                </a:ext>
              </a:extLst>
            </p:cNvPr>
            <p:cNvSpPr txBox="1"/>
            <p:nvPr/>
          </p:nvSpPr>
          <p:spPr>
            <a:xfrm>
              <a:off x="4271977" y="1838756"/>
              <a:ext cx="96144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Servers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023E1786-3028-ECD2-AAA4-9F989DC562FC}"/>
                </a:ext>
              </a:extLst>
            </p:cNvPr>
            <p:cNvSpPr txBox="1"/>
            <p:nvPr/>
          </p:nvSpPr>
          <p:spPr>
            <a:xfrm>
              <a:off x="4271977" y="2179340"/>
              <a:ext cx="54307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Prod.</a:t>
              </a:r>
              <a:endPara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6FA83663-9BB1-0F3B-00DC-D0230EF578C9}"/>
                </a:ext>
              </a:extLst>
            </p:cNvPr>
            <p:cNvSpPr txBox="1"/>
            <p:nvPr/>
          </p:nvSpPr>
          <p:spPr>
            <a:xfrm>
              <a:off x="4694250" y="2179340"/>
              <a:ext cx="54307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Dev.</a:t>
              </a:r>
              <a:endPara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1169CF39-95EE-C011-9B5F-0FD03C41AB9A}"/>
                </a:ext>
              </a:extLst>
            </p:cNvPr>
            <p:cNvSpPr txBox="1"/>
            <p:nvPr/>
          </p:nvSpPr>
          <p:spPr>
            <a:xfrm>
              <a:off x="3374622" y="2361734"/>
              <a:ext cx="78208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Windows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73" name="TextBox 272" descr="0">
              <a:extLst>
                <a:ext uri="{FF2B5EF4-FFF2-40B4-BE49-F238E27FC236}">
                  <a16:creationId xmlns:a16="http://schemas.microsoft.com/office/drawing/2014/main" id="{70053FEF-86E0-AA6D-FD37-8ABAFFD9F082}"/>
                </a:ext>
              </a:extLst>
            </p:cNvPr>
            <p:cNvSpPr txBox="1"/>
            <p:nvPr/>
          </p:nvSpPr>
          <p:spPr>
            <a:xfrm>
              <a:off x="4155588" y="2361734"/>
              <a:ext cx="512389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50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pic>
          <p:nvPicPr>
            <p:cNvPr id="274" name="Picture 273" descr="A blue square with black border&#10;&#10;AI-generated content may be incorrect.">
              <a:extLst>
                <a:ext uri="{FF2B5EF4-FFF2-40B4-BE49-F238E27FC236}">
                  <a16:creationId xmlns:a16="http://schemas.microsoft.com/office/drawing/2014/main" id="{33390F2E-C8C8-A6A4-CED8-33F7338AB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78957" y="2398692"/>
              <a:ext cx="180000" cy="180000"/>
            </a:xfrm>
            <a:prstGeom prst="rect">
              <a:avLst/>
            </a:prstGeom>
          </p:spPr>
        </p:pic>
        <p:sp>
          <p:nvSpPr>
            <p:cNvPr id="275" name="TextBox 274" descr="0">
              <a:extLst>
                <a:ext uri="{FF2B5EF4-FFF2-40B4-BE49-F238E27FC236}">
                  <a16:creationId xmlns:a16="http://schemas.microsoft.com/office/drawing/2014/main" id="{B3383F61-FD59-BD74-F957-367D01C4ADC0}"/>
                </a:ext>
              </a:extLst>
            </p:cNvPr>
            <p:cNvSpPr txBox="1"/>
            <p:nvPr/>
          </p:nvSpPr>
          <p:spPr>
            <a:xfrm>
              <a:off x="4638188" y="2361734"/>
              <a:ext cx="48481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50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26C00501-F82C-5336-C11D-DD375FB46985}"/>
                </a:ext>
              </a:extLst>
            </p:cNvPr>
            <p:cNvSpPr txBox="1"/>
            <p:nvPr/>
          </p:nvSpPr>
          <p:spPr>
            <a:xfrm>
              <a:off x="3374622" y="2901752"/>
              <a:ext cx="93408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RHEL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83" name="TextBox 282" descr="0">
              <a:extLst>
                <a:ext uri="{FF2B5EF4-FFF2-40B4-BE49-F238E27FC236}">
                  <a16:creationId xmlns:a16="http://schemas.microsoft.com/office/drawing/2014/main" id="{F28A78B8-63E8-13DD-A839-95115C9BA69E}"/>
                </a:ext>
              </a:extLst>
            </p:cNvPr>
            <p:cNvSpPr txBox="1"/>
            <p:nvPr/>
          </p:nvSpPr>
          <p:spPr>
            <a:xfrm>
              <a:off x="4193688" y="2901752"/>
              <a:ext cx="48316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pic>
          <p:nvPicPr>
            <p:cNvPr id="284" name="Picture 283" descr="A red hat with a black band&#10;&#10;AI-generated content may be incorrect.">
              <a:extLst>
                <a:ext uri="{FF2B5EF4-FFF2-40B4-BE49-F238E27FC236}">
                  <a16:creationId xmlns:a16="http://schemas.microsoft.com/office/drawing/2014/main" id="{175F7D70-2831-99B9-0EBB-D1797BAC8B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78957" y="2950706"/>
              <a:ext cx="180000" cy="180000"/>
            </a:xfrm>
            <a:prstGeom prst="rect">
              <a:avLst/>
            </a:prstGeom>
          </p:spPr>
        </p:pic>
        <p:sp>
          <p:nvSpPr>
            <p:cNvPr id="285" name="TextBox 284" descr="0">
              <a:extLst>
                <a:ext uri="{FF2B5EF4-FFF2-40B4-BE49-F238E27FC236}">
                  <a16:creationId xmlns:a16="http://schemas.microsoft.com/office/drawing/2014/main" id="{4456C811-80F3-8E52-843D-9ACEE087E984}"/>
                </a:ext>
              </a:extLst>
            </p:cNvPr>
            <p:cNvSpPr txBox="1"/>
            <p:nvPr/>
          </p:nvSpPr>
          <p:spPr>
            <a:xfrm>
              <a:off x="4644538" y="2901752"/>
              <a:ext cx="48733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7CAD2D44-A15F-5F9F-35C1-2C9D51F2BDF9}"/>
                </a:ext>
              </a:extLst>
            </p:cNvPr>
            <p:cNvSpPr txBox="1"/>
            <p:nvPr/>
          </p:nvSpPr>
          <p:spPr>
            <a:xfrm>
              <a:off x="3374621" y="3179471"/>
              <a:ext cx="105689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Other Linux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88" name="TextBox 287" descr="0">
              <a:extLst>
                <a:ext uri="{FF2B5EF4-FFF2-40B4-BE49-F238E27FC236}">
                  <a16:creationId xmlns:a16="http://schemas.microsoft.com/office/drawing/2014/main" id="{82A21A06-43F1-E9CA-97A9-2C7EB88505C6}"/>
                </a:ext>
              </a:extLst>
            </p:cNvPr>
            <p:cNvSpPr txBox="1"/>
            <p:nvPr/>
          </p:nvSpPr>
          <p:spPr>
            <a:xfrm>
              <a:off x="4193688" y="3179471"/>
              <a:ext cx="48316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pic>
          <p:nvPicPr>
            <p:cNvPr id="289" name="Picture 288" descr="A cartoon penguin with yellow feet&#10;&#10;AI-generated content may be incorrect.">
              <a:extLst>
                <a:ext uri="{FF2B5EF4-FFF2-40B4-BE49-F238E27FC236}">
                  <a16:creationId xmlns:a16="http://schemas.microsoft.com/office/drawing/2014/main" id="{3CB62631-B97F-51B8-2B47-E0D3813B1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79882" y="3216429"/>
              <a:ext cx="180000" cy="180000"/>
            </a:xfrm>
            <a:prstGeom prst="rect">
              <a:avLst/>
            </a:prstGeom>
          </p:spPr>
        </p:pic>
        <p:sp>
          <p:nvSpPr>
            <p:cNvPr id="290" name="TextBox 289" descr="0">
              <a:extLst>
                <a:ext uri="{FF2B5EF4-FFF2-40B4-BE49-F238E27FC236}">
                  <a16:creationId xmlns:a16="http://schemas.microsoft.com/office/drawing/2014/main" id="{A62E3274-FF99-7866-5B06-47307B4CB1AB}"/>
                </a:ext>
              </a:extLst>
            </p:cNvPr>
            <p:cNvSpPr txBox="1"/>
            <p:nvPr/>
          </p:nvSpPr>
          <p:spPr>
            <a:xfrm>
              <a:off x="4644538" y="3179471"/>
              <a:ext cx="48733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FDABF875-9C94-0B1E-3CF9-FBABECA55EB4}"/>
                </a:ext>
              </a:extLst>
            </p:cNvPr>
            <p:cNvSpPr txBox="1"/>
            <p:nvPr/>
          </p:nvSpPr>
          <p:spPr>
            <a:xfrm>
              <a:off x="3374622" y="2624033"/>
              <a:ext cx="98410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SLES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78" name="TextBox 277" descr="0">
              <a:extLst>
                <a:ext uri="{FF2B5EF4-FFF2-40B4-BE49-F238E27FC236}">
                  <a16:creationId xmlns:a16="http://schemas.microsoft.com/office/drawing/2014/main" id="{F18E087F-54EF-C54E-A0A5-37100DFD81CA}"/>
                </a:ext>
              </a:extLst>
            </p:cNvPr>
            <p:cNvSpPr txBox="1"/>
            <p:nvPr/>
          </p:nvSpPr>
          <p:spPr>
            <a:xfrm>
              <a:off x="4180988" y="2624033"/>
              <a:ext cx="49586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80" name="TextBox 279" descr="0">
              <a:extLst>
                <a:ext uri="{FF2B5EF4-FFF2-40B4-BE49-F238E27FC236}">
                  <a16:creationId xmlns:a16="http://schemas.microsoft.com/office/drawing/2014/main" id="{86A4958E-B0F6-2A94-5F26-E871F4456F00}"/>
                </a:ext>
              </a:extLst>
            </p:cNvPr>
            <p:cNvSpPr txBox="1"/>
            <p:nvPr/>
          </p:nvSpPr>
          <p:spPr>
            <a:xfrm>
              <a:off x="4625488" y="2624033"/>
              <a:ext cx="50638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5A749FD3-FCD2-6BBF-F15D-37B906B4E4A7}"/>
                </a:ext>
              </a:extLst>
            </p:cNvPr>
            <p:cNvSpPr txBox="1"/>
            <p:nvPr/>
          </p:nvSpPr>
          <p:spPr>
            <a:xfrm>
              <a:off x="3043059" y="3461903"/>
              <a:ext cx="5338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Total</a:t>
              </a:r>
              <a:endPara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97" name="TextBox 296" descr="0">
              <a:extLst>
                <a:ext uri="{FF2B5EF4-FFF2-40B4-BE49-F238E27FC236}">
                  <a16:creationId xmlns:a16="http://schemas.microsoft.com/office/drawing/2014/main" id="{35D38F7C-0D22-9C10-EAD8-B395048B8180}"/>
                </a:ext>
              </a:extLst>
            </p:cNvPr>
            <p:cNvSpPr txBox="1"/>
            <p:nvPr/>
          </p:nvSpPr>
          <p:spPr>
            <a:xfrm>
              <a:off x="4142888" y="3461903"/>
              <a:ext cx="5315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00" i="1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98" name="TextBox 297" descr="0">
              <a:extLst>
                <a:ext uri="{FF2B5EF4-FFF2-40B4-BE49-F238E27FC236}">
                  <a16:creationId xmlns:a16="http://schemas.microsoft.com/office/drawing/2014/main" id="{A8902C3C-9916-084B-6DB9-C16E2BADC189}"/>
                </a:ext>
              </a:extLst>
            </p:cNvPr>
            <p:cNvSpPr txBox="1"/>
            <p:nvPr/>
          </p:nvSpPr>
          <p:spPr>
            <a:xfrm>
              <a:off x="4644538" y="3461903"/>
              <a:ext cx="48492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00" i="1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1934DFF-FE2F-4C07-D308-B73AD8554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78957" y="2674699"/>
              <a:ext cx="180000" cy="180000"/>
            </a:xfrm>
            <a:prstGeom prst="rect">
              <a:avLst/>
            </a:prstGeom>
          </p:spPr>
        </p:pic>
        <p:sp>
          <p:nvSpPr>
            <p:cNvPr id="23" name="TextBox 22" descr="(0.0%)&#10;">
              <a:extLst>
                <a:ext uri="{FF2B5EF4-FFF2-40B4-BE49-F238E27FC236}">
                  <a16:creationId xmlns:a16="http://schemas.microsoft.com/office/drawing/2014/main" id="{41BC5DEE-8F8E-F73B-E3D6-F94C2BE84E5D}"/>
                </a:ext>
              </a:extLst>
            </p:cNvPr>
            <p:cNvSpPr txBox="1"/>
            <p:nvPr/>
          </p:nvSpPr>
          <p:spPr>
            <a:xfrm>
              <a:off x="3398675" y="1838756"/>
              <a:ext cx="93097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(0.0%)
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A9D593E-F978-49F0-78C4-9EE91AAECFB7}"/>
              </a:ext>
            </a:extLst>
          </p:cNvPr>
          <p:cNvGrpSpPr/>
          <p:nvPr/>
        </p:nvGrpSpPr>
        <p:grpSpPr>
          <a:xfrm>
            <a:off x="6471438" y="2058720"/>
            <a:ext cx="2160843" cy="2018357"/>
            <a:chOff x="5846495" y="1685590"/>
            <a:chExt cx="2160843" cy="2018357"/>
          </a:xfrm>
        </p:grpSpPr>
        <p:pic>
          <p:nvPicPr>
            <p:cNvPr id="35" name="Picture 34" descr="A red and white spiral&#10;&#10;AI-generated content may be incorrect.">
              <a:extLst>
                <a:ext uri="{FF2B5EF4-FFF2-40B4-BE49-F238E27FC236}">
                  <a16:creationId xmlns:a16="http://schemas.microsoft.com/office/drawing/2014/main" id="{17BD093C-8188-C7C8-5AA3-70C948FCC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58732" y="2394515"/>
              <a:ext cx="180000" cy="180000"/>
            </a:xfrm>
            <a:prstGeom prst="rect">
              <a:avLst/>
            </a:prstGeom>
          </p:spPr>
        </p:pic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A688ACAB-AB9A-694C-E465-37C5F969C20F}"/>
                </a:ext>
              </a:extLst>
            </p:cNvPr>
            <p:cNvSpPr/>
            <p:nvPr/>
          </p:nvSpPr>
          <p:spPr>
            <a:xfrm rot="16200000">
              <a:off x="6920282" y="749590"/>
              <a:ext cx="36000" cy="1908000"/>
            </a:xfrm>
            <a:prstGeom prst="rect">
              <a:avLst/>
            </a:prstGeom>
            <a:solidFill>
              <a:srgbClr val="11A20C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304" name="TextBox 303" descr="0">
              <a:extLst>
                <a:ext uri="{FF2B5EF4-FFF2-40B4-BE49-F238E27FC236}">
                  <a16:creationId xmlns:a16="http://schemas.microsoft.com/office/drawing/2014/main" id="{BA8C61F5-4F5C-BA36-6F21-C6D1F5BCF6DF}"/>
                </a:ext>
              </a:extLst>
            </p:cNvPr>
            <p:cNvSpPr txBox="1"/>
            <p:nvPr/>
          </p:nvSpPr>
          <p:spPr>
            <a:xfrm>
              <a:off x="5883021" y="1829049"/>
              <a:ext cx="70563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600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D1DF657A-1D29-28E9-28D8-582E28D90C82}"/>
                </a:ext>
              </a:extLst>
            </p:cNvPr>
            <p:cNvSpPr txBox="1"/>
            <p:nvPr/>
          </p:nvSpPr>
          <p:spPr>
            <a:xfrm>
              <a:off x="6947448" y="1844438"/>
              <a:ext cx="10336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Databases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603" name="TextBox 602">
              <a:extLst>
                <a:ext uri="{FF2B5EF4-FFF2-40B4-BE49-F238E27FC236}">
                  <a16:creationId xmlns:a16="http://schemas.microsoft.com/office/drawing/2014/main" id="{90197F57-7EB7-50BF-5233-309CA7F3348A}"/>
                </a:ext>
              </a:extLst>
            </p:cNvPr>
            <p:cNvSpPr txBox="1"/>
            <p:nvPr/>
          </p:nvSpPr>
          <p:spPr>
            <a:xfrm>
              <a:off x="7041993" y="2192094"/>
              <a:ext cx="54307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Prod.</a:t>
              </a:r>
              <a:endPara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605" name="TextBox 604">
              <a:extLst>
                <a:ext uri="{FF2B5EF4-FFF2-40B4-BE49-F238E27FC236}">
                  <a16:creationId xmlns:a16="http://schemas.microsoft.com/office/drawing/2014/main" id="{C4F394D4-12B5-5E09-0B8A-7F6BCF9BD560}"/>
                </a:ext>
              </a:extLst>
            </p:cNvPr>
            <p:cNvSpPr txBox="1"/>
            <p:nvPr/>
          </p:nvSpPr>
          <p:spPr>
            <a:xfrm>
              <a:off x="7464266" y="2192094"/>
              <a:ext cx="54307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Dev.</a:t>
              </a:r>
              <a:endPara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596" name="TextBox 595">
              <a:extLst>
                <a:ext uri="{FF2B5EF4-FFF2-40B4-BE49-F238E27FC236}">
                  <a16:creationId xmlns:a16="http://schemas.microsoft.com/office/drawing/2014/main" id="{FFFA281A-8E47-544C-F9B3-E5F86202A0A4}"/>
                </a:ext>
              </a:extLst>
            </p:cNvPr>
            <p:cNvSpPr txBox="1"/>
            <p:nvPr/>
          </p:nvSpPr>
          <p:spPr>
            <a:xfrm>
              <a:off x="6144638" y="2357557"/>
              <a:ext cx="78208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SQL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597" name="TextBox 596" descr="0">
              <a:extLst>
                <a:ext uri="{FF2B5EF4-FFF2-40B4-BE49-F238E27FC236}">
                  <a16:creationId xmlns:a16="http://schemas.microsoft.com/office/drawing/2014/main" id="{540C7F39-58AD-E44E-FFFE-1343912CC26C}"/>
                </a:ext>
              </a:extLst>
            </p:cNvPr>
            <p:cNvSpPr txBox="1"/>
            <p:nvPr/>
          </p:nvSpPr>
          <p:spPr>
            <a:xfrm>
              <a:off x="6829957" y="2357557"/>
              <a:ext cx="60803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50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602" name="TextBox 601" descr="0">
              <a:extLst>
                <a:ext uri="{FF2B5EF4-FFF2-40B4-BE49-F238E27FC236}">
                  <a16:creationId xmlns:a16="http://schemas.microsoft.com/office/drawing/2014/main" id="{F6DD2FFF-777E-2F0F-BB25-83B63FC6EA83}"/>
                </a:ext>
              </a:extLst>
            </p:cNvPr>
            <p:cNvSpPr txBox="1"/>
            <p:nvPr/>
          </p:nvSpPr>
          <p:spPr>
            <a:xfrm>
              <a:off x="7414157" y="2357557"/>
              <a:ext cx="47886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50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pic>
          <p:nvPicPr>
            <p:cNvPr id="37" name="Picture 36" descr="A green leaf with grey text&#10;&#10;AI-generated content may be incorrect.">
              <a:extLst>
                <a:ext uri="{FF2B5EF4-FFF2-40B4-BE49-F238E27FC236}">
                  <a16:creationId xmlns:a16="http://schemas.microsoft.com/office/drawing/2014/main" id="{32D5CB9E-34CE-9FC0-16FE-EF59891DA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58732" y="2934533"/>
              <a:ext cx="180000" cy="180000"/>
            </a:xfrm>
            <a:prstGeom prst="rect">
              <a:avLst/>
            </a:prstGeom>
          </p:spPr>
        </p:pic>
        <p:sp>
          <p:nvSpPr>
            <p:cNvPr id="583" name="TextBox 582">
              <a:extLst>
                <a:ext uri="{FF2B5EF4-FFF2-40B4-BE49-F238E27FC236}">
                  <a16:creationId xmlns:a16="http://schemas.microsoft.com/office/drawing/2014/main" id="{5636DBA6-DCF8-9186-DA8E-80E9F48AE0C6}"/>
                </a:ext>
              </a:extLst>
            </p:cNvPr>
            <p:cNvSpPr txBox="1"/>
            <p:nvPr/>
          </p:nvSpPr>
          <p:spPr>
            <a:xfrm>
              <a:off x="6144638" y="2897575"/>
              <a:ext cx="93408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Mongo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584" name="TextBox 583" descr="0">
              <a:extLst>
                <a:ext uri="{FF2B5EF4-FFF2-40B4-BE49-F238E27FC236}">
                  <a16:creationId xmlns:a16="http://schemas.microsoft.com/office/drawing/2014/main" id="{81919213-982F-8450-A0E3-C43E049310F6}"/>
                </a:ext>
              </a:extLst>
            </p:cNvPr>
            <p:cNvSpPr txBox="1"/>
            <p:nvPr/>
          </p:nvSpPr>
          <p:spPr>
            <a:xfrm>
              <a:off x="6969657" y="2897575"/>
              <a:ext cx="47721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590" name="TextBox 589" descr="0">
              <a:extLst>
                <a:ext uri="{FF2B5EF4-FFF2-40B4-BE49-F238E27FC236}">
                  <a16:creationId xmlns:a16="http://schemas.microsoft.com/office/drawing/2014/main" id="{BE1D5431-D190-0CF1-142B-8904F1091ED9}"/>
                </a:ext>
              </a:extLst>
            </p:cNvPr>
            <p:cNvSpPr txBox="1"/>
            <p:nvPr/>
          </p:nvSpPr>
          <p:spPr>
            <a:xfrm>
              <a:off x="7395107" y="2897575"/>
              <a:ext cx="50678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pic>
          <p:nvPicPr>
            <p:cNvPr id="34" name="Picture 33" descr="A blue elephant with white outline&#10;&#10;AI-generated content may be incorrect.">
              <a:extLst>
                <a:ext uri="{FF2B5EF4-FFF2-40B4-BE49-F238E27FC236}">
                  <a16:creationId xmlns:a16="http://schemas.microsoft.com/office/drawing/2014/main" id="{5A2ED4C3-8E91-5F68-380A-25D62A428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58732" y="3212252"/>
              <a:ext cx="180000" cy="180000"/>
            </a:xfrm>
            <a:prstGeom prst="rect">
              <a:avLst/>
            </a:prstGeom>
          </p:spPr>
        </p:pic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4D61164E-EF22-F7D0-EBD2-CD76343BA1A9}"/>
                </a:ext>
              </a:extLst>
            </p:cNvPr>
            <p:cNvSpPr txBox="1"/>
            <p:nvPr/>
          </p:nvSpPr>
          <p:spPr>
            <a:xfrm>
              <a:off x="6144638" y="3175294"/>
              <a:ext cx="92897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PostgreSQL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576" name="TextBox 575" descr="0">
              <a:extLst>
                <a:ext uri="{FF2B5EF4-FFF2-40B4-BE49-F238E27FC236}">
                  <a16:creationId xmlns:a16="http://schemas.microsoft.com/office/drawing/2014/main" id="{B3F62CBC-EB2B-7793-0AA7-955130AA92C4}"/>
                </a:ext>
              </a:extLst>
            </p:cNvPr>
            <p:cNvSpPr txBox="1"/>
            <p:nvPr/>
          </p:nvSpPr>
          <p:spPr>
            <a:xfrm>
              <a:off x="6976007" y="3175294"/>
              <a:ext cx="47086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581" name="TextBox 580" descr="0">
              <a:extLst>
                <a:ext uri="{FF2B5EF4-FFF2-40B4-BE49-F238E27FC236}">
                  <a16:creationId xmlns:a16="http://schemas.microsoft.com/office/drawing/2014/main" id="{8ED8BB95-4BB1-6ADC-D78D-8837E4F0F576}"/>
                </a:ext>
              </a:extLst>
            </p:cNvPr>
            <p:cNvSpPr txBox="1"/>
            <p:nvPr/>
          </p:nvSpPr>
          <p:spPr>
            <a:xfrm>
              <a:off x="7318907" y="3175294"/>
              <a:ext cx="58298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pic>
          <p:nvPicPr>
            <p:cNvPr id="36" name="Picture 35" descr="A logo of a dolphin&#10;&#10;AI-generated content may be incorrect.">
              <a:extLst>
                <a:ext uri="{FF2B5EF4-FFF2-40B4-BE49-F238E27FC236}">
                  <a16:creationId xmlns:a16="http://schemas.microsoft.com/office/drawing/2014/main" id="{8F4D8B38-AEC6-BDAD-6581-F310AF9C9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958732" y="2656814"/>
              <a:ext cx="180000" cy="180000"/>
            </a:xfrm>
            <a:prstGeom prst="rect">
              <a:avLst/>
            </a:prstGeom>
          </p:spPr>
        </p:pic>
        <p:sp>
          <p:nvSpPr>
            <p:cNvPr id="592" name="TextBox 591">
              <a:extLst>
                <a:ext uri="{FF2B5EF4-FFF2-40B4-BE49-F238E27FC236}">
                  <a16:creationId xmlns:a16="http://schemas.microsoft.com/office/drawing/2014/main" id="{DD9DCDA5-D2CD-8B78-012F-A62DC0FFF5C0}"/>
                </a:ext>
              </a:extLst>
            </p:cNvPr>
            <p:cNvSpPr txBox="1"/>
            <p:nvPr/>
          </p:nvSpPr>
          <p:spPr>
            <a:xfrm>
              <a:off x="6144638" y="2619856"/>
              <a:ext cx="98410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MySQL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593" name="TextBox 592" descr="0">
              <a:extLst>
                <a:ext uri="{FF2B5EF4-FFF2-40B4-BE49-F238E27FC236}">
                  <a16:creationId xmlns:a16="http://schemas.microsoft.com/office/drawing/2014/main" id="{72916859-C690-B83E-354C-4447D9FC5BE4}"/>
                </a:ext>
              </a:extLst>
            </p:cNvPr>
            <p:cNvSpPr txBox="1"/>
            <p:nvPr/>
          </p:nvSpPr>
          <p:spPr>
            <a:xfrm>
              <a:off x="6963307" y="2619856"/>
              <a:ext cx="48356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595" name="TextBox 594" descr="0">
              <a:extLst>
                <a:ext uri="{FF2B5EF4-FFF2-40B4-BE49-F238E27FC236}">
                  <a16:creationId xmlns:a16="http://schemas.microsoft.com/office/drawing/2014/main" id="{E6111D27-EDE0-B5A2-863A-F0E9A514AB1C}"/>
                </a:ext>
              </a:extLst>
            </p:cNvPr>
            <p:cNvSpPr txBox="1"/>
            <p:nvPr/>
          </p:nvSpPr>
          <p:spPr>
            <a:xfrm>
              <a:off x="7414157" y="2619856"/>
              <a:ext cx="48773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3FD1AB68-F9EB-1790-9F3A-ACC04C72E2C4}"/>
                </a:ext>
              </a:extLst>
            </p:cNvPr>
            <p:cNvSpPr txBox="1"/>
            <p:nvPr/>
          </p:nvSpPr>
          <p:spPr>
            <a:xfrm>
              <a:off x="5846495" y="3457726"/>
              <a:ext cx="5338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Total</a:t>
              </a:r>
              <a:endPara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313" name="TextBox 312" descr="0">
              <a:extLst>
                <a:ext uri="{FF2B5EF4-FFF2-40B4-BE49-F238E27FC236}">
                  <a16:creationId xmlns:a16="http://schemas.microsoft.com/office/drawing/2014/main" id="{9838DECD-93E3-1611-2375-8CCCEFF183F8}"/>
                </a:ext>
              </a:extLst>
            </p:cNvPr>
            <p:cNvSpPr txBox="1"/>
            <p:nvPr/>
          </p:nvSpPr>
          <p:spPr>
            <a:xfrm>
              <a:off x="6969657" y="3457726"/>
              <a:ext cx="48274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00" i="1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314" name="TextBox 313" descr="0">
              <a:extLst>
                <a:ext uri="{FF2B5EF4-FFF2-40B4-BE49-F238E27FC236}">
                  <a16:creationId xmlns:a16="http://schemas.microsoft.com/office/drawing/2014/main" id="{CD07A6D4-F110-2BA9-1737-62380975001B}"/>
                </a:ext>
              </a:extLst>
            </p:cNvPr>
            <p:cNvSpPr txBox="1"/>
            <p:nvPr/>
          </p:nvSpPr>
          <p:spPr>
            <a:xfrm>
              <a:off x="7420507" y="3457726"/>
              <a:ext cx="48691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00" i="1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4" name="TextBox 23" descr="(0.0%)">
              <a:extLst>
                <a:ext uri="{FF2B5EF4-FFF2-40B4-BE49-F238E27FC236}">
                  <a16:creationId xmlns:a16="http://schemas.microsoft.com/office/drawing/2014/main" id="{62C230B4-D450-98C0-B44F-D71717FE6A01}"/>
                </a:ext>
              </a:extLst>
            </p:cNvPr>
            <p:cNvSpPr txBox="1"/>
            <p:nvPr/>
          </p:nvSpPr>
          <p:spPr>
            <a:xfrm>
              <a:off x="6227600" y="1838756"/>
              <a:ext cx="88758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(0.0%)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468D5F5-DDCE-826B-B56B-3DFD91BCD97B}"/>
              </a:ext>
            </a:extLst>
          </p:cNvPr>
          <p:cNvGrpSpPr/>
          <p:nvPr/>
        </p:nvGrpSpPr>
        <p:grpSpPr>
          <a:xfrm>
            <a:off x="9866396" y="2049658"/>
            <a:ext cx="2142972" cy="2026821"/>
            <a:chOff x="8878283" y="1676528"/>
            <a:chExt cx="2142972" cy="2026821"/>
          </a:xfrm>
        </p:grpSpPr>
        <p:pic>
          <p:nvPicPr>
            <p:cNvPr id="16" name="Picture 15" descr="A logo of a cup of coffee&#10;&#10;AI-generated content may be incorrect.">
              <a:extLst>
                <a:ext uri="{FF2B5EF4-FFF2-40B4-BE49-F238E27FC236}">
                  <a16:creationId xmlns:a16="http://schemas.microsoft.com/office/drawing/2014/main" id="{29272885-ECEE-DB03-5A90-6D11065B4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965825" y="2387449"/>
              <a:ext cx="180000" cy="180000"/>
            </a:xfrm>
            <a:prstGeom prst="rect">
              <a:avLst/>
            </a:prstGeom>
          </p:spPr>
        </p:pic>
        <p:sp>
          <p:nvSpPr>
            <p:cNvPr id="609" name="Rectangle 608">
              <a:extLst>
                <a:ext uri="{FF2B5EF4-FFF2-40B4-BE49-F238E27FC236}">
                  <a16:creationId xmlns:a16="http://schemas.microsoft.com/office/drawing/2014/main" id="{E5C13997-B31E-F071-1484-CA504422BE00}"/>
                </a:ext>
              </a:extLst>
            </p:cNvPr>
            <p:cNvSpPr/>
            <p:nvPr/>
          </p:nvSpPr>
          <p:spPr>
            <a:xfrm rot="16200000">
              <a:off x="9934199" y="740528"/>
              <a:ext cx="36000" cy="1908000"/>
            </a:xfrm>
            <a:prstGeom prst="rect">
              <a:avLst/>
            </a:prstGeom>
            <a:solidFill>
              <a:srgbClr val="3996DD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610" name="TextBox 609" descr="0">
              <a:extLst>
                <a:ext uri="{FF2B5EF4-FFF2-40B4-BE49-F238E27FC236}">
                  <a16:creationId xmlns:a16="http://schemas.microsoft.com/office/drawing/2014/main" id="{BA4399D9-9414-AD7D-F3A9-82BF64AA3431}"/>
                </a:ext>
              </a:extLst>
            </p:cNvPr>
            <p:cNvSpPr txBox="1"/>
            <p:nvPr/>
          </p:nvSpPr>
          <p:spPr>
            <a:xfrm>
              <a:off x="8896939" y="1819987"/>
              <a:ext cx="66229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600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611" name="TextBox 610">
              <a:extLst>
                <a:ext uri="{FF2B5EF4-FFF2-40B4-BE49-F238E27FC236}">
                  <a16:creationId xmlns:a16="http://schemas.microsoft.com/office/drawing/2014/main" id="{A1011C0F-2165-E0C1-099A-BD59068DD656}"/>
                </a:ext>
              </a:extLst>
            </p:cNvPr>
            <p:cNvSpPr txBox="1"/>
            <p:nvPr/>
          </p:nvSpPr>
          <p:spPr>
            <a:xfrm>
              <a:off x="9971188" y="1835376"/>
              <a:ext cx="96144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Webapps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738" name="TextBox 737">
              <a:extLst>
                <a:ext uri="{FF2B5EF4-FFF2-40B4-BE49-F238E27FC236}">
                  <a16:creationId xmlns:a16="http://schemas.microsoft.com/office/drawing/2014/main" id="{394F78CB-F418-AADF-1E05-C25218BEBBBD}"/>
                </a:ext>
              </a:extLst>
            </p:cNvPr>
            <p:cNvSpPr txBox="1"/>
            <p:nvPr/>
          </p:nvSpPr>
          <p:spPr>
            <a:xfrm>
              <a:off x="10055910" y="2183032"/>
              <a:ext cx="54307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Prod.</a:t>
              </a:r>
              <a:endPara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739" name="TextBox 738">
              <a:extLst>
                <a:ext uri="{FF2B5EF4-FFF2-40B4-BE49-F238E27FC236}">
                  <a16:creationId xmlns:a16="http://schemas.microsoft.com/office/drawing/2014/main" id="{FC192955-0F1C-B5A6-3160-8144B053EAE0}"/>
                </a:ext>
              </a:extLst>
            </p:cNvPr>
            <p:cNvSpPr txBox="1"/>
            <p:nvPr/>
          </p:nvSpPr>
          <p:spPr>
            <a:xfrm>
              <a:off x="10478183" y="2183032"/>
              <a:ext cx="54307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Dev.</a:t>
              </a:r>
              <a:endPara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734" name="TextBox 733">
              <a:extLst>
                <a:ext uri="{FF2B5EF4-FFF2-40B4-BE49-F238E27FC236}">
                  <a16:creationId xmlns:a16="http://schemas.microsoft.com/office/drawing/2014/main" id="{968EDDC6-1D7A-5CA5-3239-CBD9E8C72FE9}"/>
                </a:ext>
              </a:extLst>
            </p:cNvPr>
            <p:cNvSpPr txBox="1"/>
            <p:nvPr/>
          </p:nvSpPr>
          <p:spPr>
            <a:xfrm>
              <a:off x="9158555" y="2356959"/>
              <a:ext cx="78208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Java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735" name="TextBox 734" descr="0">
              <a:extLst>
                <a:ext uri="{FF2B5EF4-FFF2-40B4-BE49-F238E27FC236}">
                  <a16:creationId xmlns:a16="http://schemas.microsoft.com/office/drawing/2014/main" id="{37367202-3FDE-C17B-3DB2-99FE5077515A}"/>
                </a:ext>
              </a:extLst>
            </p:cNvPr>
            <p:cNvSpPr txBox="1"/>
            <p:nvPr/>
          </p:nvSpPr>
          <p:spPr>
            <a:xfrm>
              <a:off x="9902137" y="2356959"/>
              <a:ext cx="54977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50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737" name="TextBox 736" descr="0">
              <a:extLst>
                <a:ext uri="{FF2B5EF4-FFF2-40B4-BE49-F238E27FC236}">
                  <a16:creationId xmlns:a16="http://schemas.microsoft.com/office/drawing/2014/main" id="{2C4A1D9F-1F0D-B66E-FBB6-27D00B7DFC0D}"/>
                </a:ext>
              </a:extLst>
            </p:cNvPr>
            <p:cNvSpPr txBox="1"/>
            <p:nvPr/>
          </p:nvSpPr>
          <p:spPr>
            <a:xfrm>
              <a:off x="10432252" y="2356959"/>
              <a:ext cx="47468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50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pic>
          <p:nvPicPr>
            <p:cNvPr id="19" name="Picture 18" descr="A blue logo with black background&#10;&#10;AI-generated content may be incorrect.">
              <a:extLst>
                <a:ext uri="{FF2B5EF4-FFF2-40B4-BE49-F238E27FC236}">
                  <a16:creationId xmlns:a16="http://schemas.microsoft.com/office/drawing/2014/main" id="{0DF74681-D3AA-3AEB-148A-1CC68876F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971110" y="2658131"/>
              <a:ext cx="180000" cy="180000"/>
            </a:xfrm>
            <a:prstGeom prst="rect">
              <a:avLst/>
            </a:prstGeom>
          </p:spPr>
        </p:pic>
        <p:sp>
          <p:nvSpPr>
            <p:cNvPr id="730" name="TextBox 729">
              <a:extLst>
                <a:ext uri="{FF2B5EF4-FFF2-40B4-BE49-F238E27FC236}">
                  <a16:creationId xmlns:a16="http://schemas.microsoft.com/office/drawing/2014/main" id="{E28A65FF-B8AD-7DFE-0620-389DB44B0AFB}"/>
                </a:ext>
              </a:extLst>
            </p:cNvPr>
            <p:cNvSpPr txBox="1"/>
            <p:nvPr/>
          </p:nvSpPr>
          <p:spPr>
            <a:xfrm>
              <a:off x="9158555" y="2619258"/>
              <a:ext cx="98410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ASP.Net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731" name="TextBox 730" descr="0">
              <a:extLst>
                <a:ext uri="{FF2B5EF4-FFF2-40B4-BE49-F238E27FC236}">
                  <a16:creationId xmlns:a16="http://schemas.microsoft.com/office/drawing/2014/main" id="{7E36A5C0-C1D1-CB03-D412-DDD4526A47D2}"/>
                </a:ext>
              </a:extLst>
            </p:cNvPr>
            <p:cNvSpPr txBox="1"/>
            <p:nvPr/>
          </p:nvSpPr>
          <p:spPr>
            <a:xfrm>
              <a:off x="9946587" y="2619258"/>
              <a:ext cx="51419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733" name="TextBox 732" descr="0">
              <a:extLst>
                <a:ext uri="{FF2B5EF4-FFF2-40B4-BE49-F238E27FC236}">
                  <a16:creationId xmlns:a16="http://schemas.microsoft.com/office/drawing/2014/main" id="{BE66E9E0-7D7E-8CFB-0DBA-B21209F3712E}"/>
                </a:ext>
              </a:extLst>
            </p:cNvPr>
            <p:cNvSpPr txBox="1"/>
            <p:nvPr/>
          </p:nvSpPr>
          <p:spPr>
            <a:xfrm>
              <a:off x="10432252" y="2619258"/>
              <a:ext cx="483556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626" name="TextBox 625">
              <a:extLst>
                <a:ext uri="{FF2B5EF4-FFF2-40B4-BE49-F238E27FC236}">
                  <a16:creationId xmlns:a16="http://schemas.microsoft.com/office/drawing/2014/main" id="{58CFD9F6-8F45-BBF9-39C2-D17DB6DEFC84}"/>
                </a:ext>
              </a:extLst>
            </p:cNvPr>
            <p:cNvSpPr txBox="1"/>
            <p:nvPr/>
          </p:nvSpPr>
          <p:spPr>
            <a:xfrm>
              <a:off x="8878283" y="3457128"/>
              <a:ext cx="5338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Total</a:t>
              </a:r>
              <a:endPara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627" name="TextBox 626" descr="0">
              <a:extLst>
                <a:ext uri="{FF2B5EF4-FFF2-40B4-BE49-F238E27FC236}">
                  <a16:creationId xmlns:a16="http://schemas.microsoft.com/office/drawing/2014/main" id="{08FDD037-19B8-AC11-2160-C1E6A16ED08B}"/>
                </a:ext>
              </a:extLst>
            </p:cNvPr>
            <p:cNvSpPr txBox="1"/>
            <p:nvPr/>
          </p:nvSpPr>
          <p:spPr>
            <a:xfrm>
              <a:off x="9982502" y="3457128"/>
              <a:ext cx="51480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00" i="1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628" name="TextBox 627" descr="0">
              <a:extLst>
                <a:ext uri="{FF2B5EF4-FFF2-40B4-BE49-F238E27FC236}">
                  <a16:creationId xmlns:a16="http://schemas.microsoft.com/office/drawing/2014/main" id="{B7558623-6ECA-B62E-0A67-DF9B77044425}"/>
                </a:ext>
              </a:extLst>
            </p:cNvPr>
            <p:cNvSpPr txBox="1"/>
            <p:nvPr/>
          </p:nvSpPr>
          <p:spPr>
            <a:xfrm>
              <a:off x="10430472" y="3457128"/>
              <a:ext cx="52186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00" i="1" dirty="0">
                  <a:solidFill>
                    <a:srgbClr val="000000"/>
                  </a:solidFill>
                  <a:latin typeface="Segoe Sans Text" pitchFamily="2" charset="0"/>
                  <a:cs typeface="Segoe Sans Text" pitchFamily="2" charset="0"/>
                </a:rPr>
                <a:t>0</a:t>
              </a:r>
              <a:endPara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5" name="TextBox 24" descr="(0.0%)">
              <a:extLst>
                <a:ext uri="{FF2B5EF4-FFF2-40B4-BE49-F238E27FC236}">
                  <a16:creationId xmlns:a16="http://schemas.microsoft.com/office/drawing/2014/main" id="{DF178C95-300C-F5B8-95AF-A54E186CA1EA}"/>
                </a:ext>
              </a:extLst>
            </p:cNvPr>
            <p:cNvSpPr txBox="1"/>
            <p:nvPr/>
          </p:nvSpPr>
          <p:spPr>
            <a:xfrm>
              <a:off x="9242235" y="1849603"/>
              <a:ext cx="92533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 pitchFamily="2" charset="0"/>
                  <a:ea typeface="Segoe UI" pitchFamily="34" charset="0"/>
                  <a:cs typeface="Segoe Sans Text" pitchFamily="2" charset="0"/>
                </a:rPr>
                <a:t>(0.0%)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graphicFrame>
        <p:nvGraphicFramePr>
          <p:cNvPr id="50" name="Chart 49" descr="&lt;bar chart&gt;&lt;OOS_Total_Workloads_ResourceType_Split&gt;">
            <a:extLst>
              <a:ext uri="{FF2B5EF4-FFF2-40B4-BE49-F238E27FC236}">
                <a16:creationId xmlns:a16="http://schemas.microsoft.com/office/drawing/2014/main" id="{12A5274A-EC10-EDA8-ADA5-CF45F49CDA0C}"/>
              </a:ext>
            </a:extLst>
          </p:cNvPr>
          <p:cNvGraphicFramePr/>
          <p:nvPr/>
        </p:nvGraphicFramePr>
        <p:xfrm>
          <a:off x="3008716" y="1369085"/>
          <a:ext cx="4125000" cy="4699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52" name="TextBox 51" descr="Servers - 0">
            <a:extLst>
              <a:ext uri="{FF2B5EF4-FFF2-40B4-BE49-F238E27FC236}">
                <a16:creationId xmlns:a16="http://schemas.microsoft.com/office/drawing/2014/main" id="{6A7FAA09-C022-A1F6-9E80-E27CB68F640D}"/>
              </a:ext>
            </a:extLst>
          </p:cNvPr>
          <p:cNvSpPr txBox="1"/>
          <p:nvPr/>
        </p:nvSpPr>
        <p:spPr>
          <a:xfrm>
            <a:off x="3238849" y="1665820"/>
            <a:ext cx="1085166" cy="216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Servers - 0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D59A814-CFF8-7517-3783-A4FE05982277}"/>
              </a:ext>
            </a:extLst>
          </p:cNvPr>
          <p:cNvSpPr>
            <a:spLocks noChangeAspect="1"/>
          </p:cNvSpPr>
          <p:nvPr/>
        </p:nvSpPr>
        <p:spPr bwMode="auto">
          <a:xfrm>
            <a:off x="3159500" y="1715974"/>
            <a:ext cx="108000" cy="108000"/>
          </a:xfrm>
          <a:prstGeom prst="rect">
            <a:avLst/>
          </a:prstGeom>
          <a:solidFill>
            <a:srgbClr val="9373C0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63" name="TextBox 62" descr="Databases - 0">
            <a:extLst>
              <a:ext uri="{FF2B5EF4-FFF2-40B4-BE49-F238E27FC236}">
                <a16:creationId xmlns:a16="http://schemas.microsoft.com/office/drawing/2014/main" id="{5D035A3B-129B-F82E-2E90-8F5F9D783A1C}"/>
              </a:ext>
            </a:extLst>
          </p:cNvPr>
          <p:cNvSpPr txBox="1"/>
          <p:nvPr/>
        </p:nvSpPr>
        <p:spPr>
          <a:xfrm>
            <a:off x="4482653" y="1665820"/>
            <a:ext cx="1187945" cy="216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Databases - 0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FF2A9B4E-D083-6290-B5A9-D41081C9DE6A}"/>
              </a:ext>
            </a:extLst>
          </p:cNvPr>
          <p:cNvSpPr>
            <a:spLocks noChangeAspect="1"/>
          </p:cNvSpPr>
          <p:nvPr/>
        </p:nvSpPr>
        <p:spPr bwMode="auto">
          <a:xfrm>
            <a:off x="4403302" y="1715974"/>
            <a:ext cx="108000" cy="108000"/>
          </a:xfrm>
          <a:prstGeom prst="rect">
            <a:avLst/>
          </a:prstGeom>
          <a:solidFill>
            <a:srgbClr val="11A20C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EF28E3C-B1A7-7124-7294-1792C9F6582D}"/>
              </a:ext>
            </a:extLst>
          </p:cNvPr>
          <p:cNvSpPr>
            <a:spLocks noChangeAspect="1"/>
          </p:cNvSpPr>
          <p:nvPr/>
        </p:nvSpPr>
        <p:spPr bwMode="auto">
          <a:xfrm>
            <a:off x="5857885" y="1715974"/>
            <a:ext cx="108000" cy="108000"/>
          </a:xfrm>
          <a:prstGeom prst="rect">
            <a:avLst/>
          </a:prstGeom>
          <a:solidFill>
            <a:srgbClr val="3996DD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 pitchFamily="2" charset="0"/>
              <a:ea typeface="Segoe UI" pitchFamily="34" charset="0"/>
              <a:cs typeface="Segoe Sans Text" pitchFamily="2" charset="0"/>
            </a:endParaRPr>
          </a:p>
        </p:txBody>
      </p:sp>
      <p:sp>
        <p:nvSpPr>
          <p:cNvPr id="130" name="TextBox 129" descr="Webapps - 0">
            <a:extLst>
              <a:ext uri="{FF2B5EF4-FFF2-40B4-BE49-F238E27FC236}">
                <a16:creationId xmlns:a16="http://schemas.microsoft.com/office/drawing/2014/main" id="{CA107369-2EE3-D9E8-D56D-A2D0EE38B8B9}"/>
              </a:ext>
            </a:extLst>
          </p:cNvPr>
          <p:cNvSpPr txBox="1"/>
          <p:nvPr/>
        </p:nvSpPr>
        <p:spPr>
          <a:xfrm>
            <a:off x="5936133" y="1665820"/>
            <a:ext cx="1137020" cy="216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Webapps - 0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" name="TextBox 1" descr="Visit Azure Migrate portal for details">
            <a:extLst>
              <a:ext uri="{FF2B5EF4-FFF2-40B4-BE49-F238E27FC236}">
                <a16:creationId xmlns:a16="http://schemas.microsoft.com/office/drawing/2014/main" id="{6BA8DC8A-22BC-25C6-A3A1-6D78585D6B45}"/>
              </a:ext>
            </a:extLst>
          </p:cNvPr>
          <p:cNvSpPr txBox="1"/>
          <p:nvPr/>
        </p:nvSpPr>
        <p:spPr>
          <a:xfrm>
            <a:off x="9435295" y="564386"/>
            <a:ext cx="256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latin typeface="Aptos"/>
              </a:rPr>
              <a:t>Visit </a:t>
            </a:r>
            <a:r>
              <a:rPr sz="1050" b="0" i="0">
                <a:latin typeface="Aptos"/>
                <a:hlinkClick r:id="rId14"/>
              </a:rPr>
              <a:t>Azure Migrate</a:t>
            </a:r>
            <a:r>
              <a:rPr sz="1050" b="0" i="0">
                <a:latin typeface="Aptos"/>
              </a:rPr>
              <a:t> portal for details</a:t>
            </a:r>
          </a:p>
        </p:txBody>
      </p:sp>
    </p:spTree>
    <p:extLst>
      <p:ext uri="{BB962C8B-B14F-4D97-AF65-F5344CB8AC3E}">
        <p14:creationId xmlns:p14="http://schemas.microsoft.com/office/powerpoint/2010/main" val="2997405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03873-EFA2-AAE5-675C-828954A26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4F7F45A-BD66-E639-FFD8-699D914A948F}"/>
              </a:ext>
            </a:extLst>
          </p:cNvPr>
          <p:cNvSpPr>
            <a:spLocks/>
          </p:cNvSpPr>
          <p:nvPr/>
        </p:nvSpPr>
        <p:spPr>
          <a:xfrm flipH="1" flipV="1">
            <a:off x="623888" y="1220828"/>
            <a:ext cx="7552132" cy="4935369"/>
          </a:xfrm>
          <a:prstGeom prst="roundRect">
            <a:avLst>
              <a:gd name="adj" fmla="val 2564"/>
            </a:avLst>
          </a:prstGeom>
          <a:gradFill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9" name="Title">
            <a:extLst>
              <a:ext uri="{FF2B5EF4-FFF2-40B4-BE49-F238E27FC236}">
                <a16:creationId xmlns:a16="http://schemas.microsoft.com/office/drawing/2014/main" id="{E6E9A0A4-D545-260C-C758-344B1A807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7200"/>
            <a:ext cx="11018520" cy="553998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Segoe Sans Text" pitchFamily="2" charset="0"/>
                <a:cs typeface="Segoe Sans Text" pitchFamily="2" charset="0"/>
              </a:rPr>
              <a:t>Assessed Inventory Summary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D6803B56-58B6-6C25-0F7F-EE179ECC5B02}"/>
              </a:ext>
            </a:extLst>
          </p:cNvPr>
          <p:cNvSpPr txBox="1"/>
          <p:nvPr/>
        </p:nvSpPr>
        <p:spPr>
          <a:xfrm>
            <a:off x="5113675" y="1455885"/>
            <a:ext cx="20832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Customer preference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pic>
        <p:nvPicPr>
          <p:cNvPr id="1149" name="Picture 1148" descr="A blue cloud with a white arrow pointing to the sky">
            <a:extLst>
              <a:ext uri="{FF2B5EF4-FFF2-40B4-BE49-F238E27FC236}">
                <a16:creationId xmlns:a16="http://schemas.microsoft.com/office/drawing/2014/main" id="{2F0B4350-7587-1833-836B-2EA70FDD2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686" y="1500748"/>
            <a:ext cx="269941" cy="269941"/>
          </a:xfrm>
          <a:prstGeom prst="rect">
            <a:avLst/>
          </a:prstGeom>
        </p:spPr>
      </p:pic>
      <p:sp>
        <p:nvSpPr>
          <p:cNvPr id="1100" name="TextBox 1099">
            <a:extLst>
              <a:ext uri="{FF2B5EF4-FFF2-40B4-BE49-F238E27FC236}">
                <a16:creationId xmlns:a16="http://schemas.microsoft.com/office/drawing/2014/main" id="{B3A42268-AAD1-9CB7-2224-8110460A094C}"/>
              </a:ext>
            </a:extLst>
          </p:cNvPr>
          <p:cNvSpPr txBox="1"/>
          <p:nvPr/>
        </p:nvSpPr>
        <p:spPr>
          <a:xfrm>
            <a:off x="5118792" y="3784222"/>
            <a:ext cx="18133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Security posture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pic>
        <p:nvPicPr>
          <p:cNvPr id="1103" name="Picture 1102" descr="A green shield with a white padlock">
            <a:extLst>
              <a:ext uri="{FF2B5EF4-FFF2-40B4-BE49-F238E27FC236}">
                <a16:creationId xmlns:a16="http://schemas.microsoft.com/office/drawing/2014/main" id="{9648B329-B159-2911-C7A9-E05ABDFB0E4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844128"/>
            <a:ext cx="288514" cy="256457"/>
          </a:xfrm>
          <a:prstGeom prst="rect">
            <a:avLst/>
          </a:prstGeom>
        </p:spPr>
      </p:pic>
      <p:sp>
        <p:nvSpPr>
          <p:cNvPr id="1116" name="TextBox 1115">
            <a:extLst>
              <a:ext uri="{FF2B5EF4-FFF2-40B4-BE49-F238E27FC236}">
                <a16:creationId xmlns:a16="http://schemas.microsoft.com/office/drawing/2014/main" id="{5736F5ED-2EC4-C904-7D73-BE9BEA05D5B7}"/>
              </a:ext>
            </a:extLst>
          </p:cNvPr>
          <p:cNvSpPr txBox="1"/>
          <p:nvPr/>
        </p:nvSpPr>
        <p:spPr>
          <a:xfrm>
            <a:off x="4728907" y="4576615"/>
            <a:ext cx="74269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Servers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17" name="TextBox 1116" descr="2/2">
            <a:extLst>
              <a:ext uri="{FF2B5EF4-FFF2-40B4-BE49-F238E27FC236}">
                <a16:creationId xmlns:a16="http://schemas.microsoft.com/office/drawing/2014/main" id="{531AD381-4DF8-D8A9-C858-514161EBF1C5}"/>
              </a:ext>
            </a:extLst>
          </p:cNvPr>
          <p:cNvSpPr txBox="1"/>
          <p:nvPr/>
        </p:nvSpPr>
        <p:spPr>
          <a:xfrm>
            <a:off x="5250989" y="4541362"/>
            <a:ext cx="25128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2/2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2B5E575A-A5CA-F39D-3E57-47D895B50B51}"/>
              </a:ext>
            </a:extLst>
          </p:cNvPr>
          <p:cNvSpPr txBox="1"/>
          <p:nvPr/>
        </p:nvSpPr>
        <p:spPr>
          <a:xfrm>
            <a:off x="4747807" y="4200050"/>
            <a:ext cx="27787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Workloads with </a:t>
            </a: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critical security risks</a:t>
            </a: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 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F4254E26-76DF-F3E6-8448-C8D4ACFC4F1C}"/>
              </a:ext>
            </a:extLst>
          </p:cNvPr>
          <p:cNvSpPr txBox="1"/>
          <p:nvPr/>
        </p:nvSpPr>
        <p:spPr>
          <a:xfrm>
            <a:off x="4728907" y="4913076"/>
            <a:ext cx="83095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Software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15" name="TextBox 1114" descr="1 / 24">
            <a:extLst>
              <a:ext uri="{FF2B5EF4-FFF2-40B4-BE49-F238E27FC236}">
                <a16:creationId xmlns:a16="http://schemas.microsoft.com/office/drawing/2014/main" id="{BBD464B4-781E-16AC-6167-045145C50B35}"/>
              </a:ext>
            </a:extLst>
          </p:cNvPr>
          <p:cNvSpPr txBox="1"/>
          <p:nvPr/>
        </p:nvSpPr>
        <p:spPr>
          <a:xfrm>
            <a:off x="5347565" y="4869029"/>
            <a:ext cx="24162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1 / 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CE632370-BE51-3535-E0C8-8ECEEAA868D2}"/>
              </a:ext>
            </a:extLst>
          </p:cNvPr>
          <p:cNvSpPr txBox="1"/>
          <p:nvPr/>
        </p:nvSpPr>
        <p:spPr>
          <a:xfrm>
            <a:off x="4728907" y="5249537"/>
            <a:ext cx="95908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Databases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13" name="TextBox 1112" descr="0/1">
            <a:extLst>
              <a:ext uri="{FF2B5EF4-FFF2-40B4-BE49-F238E27FC236}">
                <a16:creationId xmlns:a16="http://schemas.microsoft.com/office/drawing/2014/main" id="{0D0810AD-C928-8A60-911D-D0033F859A18}"/>
              </a:ext>
            </a:extLst>
          </p:cNvPr>
          <p:cNvSpPr txBox="1"/>
          <p:nvPr/>
        </p:nvSpPr>
        <p:spPr>
          <a:xfrm>
            <a:off x="5471601" y="5220878"/>
            <a:ext cx="2292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0/1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1F291787-1886-8A06-98F4-274376022609}"/>
              </a:ext>
            </a:extLst>
          </p:cNvPr>
          <p:cNvSpPr txBox="1"/>
          <p:nvPr/>
        </p:nvSpPr>
        <p:spPr>
          <a:xfrm>
            <a:off x="4728907" y="5585997"/>
            <a:ext cx="95908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Webapps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11" name="TextBox 1110" descr="2/2">
            <a:extLst>
              <a:ext uri="{FF2B5EF4-FFF2-40B4-BE49-F238E27FC236}">
                <a16:creationId xmlns:a16="http://schemas.microsoft.com/office/drawing/2014/main" id="{BA6D1940-2CB6-6540-9CE6-B40979C7E635}"/>
              </a:ext>
            </a:extLst>
          </p:cNvPr>
          <p:cNvSpPr txBox="1"/>
          <p:nvPr/>
        </p:nvSpPr>
        <p:spPr>
          <a:xfrm>
            <a:off x="5417821" y="5577203"/>
            <a:ext cx="23459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2/2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21" name="TextBox 1120" descr="100.0%  CPU utilization &#10;">
            <a:extLst>
              <a:ext uri="{FF2B5EF4-FFF2-40B4-BE49-F238E27FC236}">
                <a16:creationId xmlns:a16="http://schemas.microsoft.com/office/drawing/2014/main" id="{CB5A1411-3664-73DD-5849-4C71A301697A}"/>
              </a:ext>
            </a:extLst>
          </p:cNvPr>
          <p:cNvSpPr txBox="1"/>
          <p:nvPr/>
        </p:nvSpPr>
        <p:spPr>
          <a:xfrm>
            <a:off x="8905072" y="2470934"/>
            <a:ext cx="2370041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100.0%  CPU utilization 
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23" name="TextBox 1122" descr="2 vCores allocated &#10;">
            <a:extLst>
              <a:ext uri="{FF2B5EF4-FFF2-40B4-BE49-F238E27FC236}">
                <a16:creationId xmlns:a16="http://schemas.microsoft.com/office/drawing/2014/main" id="{2A74CE52-F3DD-F5C5-07F9-B80F48C2BB45}"/>
              </a:ext>
            </a:extLst>
          </p:cNvPr>
          <p:cNvSpPr txBox="1"/>
          <p:nvPr/>
        </p:nvSpPr>
        <p:spPr>
          <a:xfrm>
            <a:off x="8911648" y="2697801"/>
            <a:ext cx="217311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2 vCores allocated 
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24" name="Graphic 6">
            <a:extLst>
              <a:ext uri="{FF2B5EF4-FFF2-40B4-BE49-F238E27FC236}">
                <a16:creationId xmlns:a16="http://schemas.microsoft.com/office/drawing/2014/main" id="{409B93AB-5FF3-8E4A-FD6F-A8043F0C75CB}"/>
              </a:ext>
            </a:extLst>
          </p:cNvPr>
          <p:cNvSpPr>
            <a:spLocks noChangeAspect="1"/>
          </p:cNvSpPr>
          <p:nvPr/>
        </p:nvSpPr>
        <p:spPr>
          <a:xfrm>
            <a:off x="8991943" y="2073022"/>
            <a:ext cx="371819" cy="360000"/>
          </a:xfrm>
          <a:custGeom>
            <a:avLst/>
            <a:gdLst>
              <a:gd name="connsiteX0" fmla="*/ 596250 w 900000"/>
              <a:gd name="connsiteY0" fmla="*/ 0 h 900000"/>
              <a:gd name="connsiteX1" fmla="*/ 629685 w 900000"/>
              <a:gd name="connsiteY1" fmla="*/ 29160 h 900000"/>
              <a:gd name="connsiteX2" fmla="*/ 630000 w 900000"/>
              <a:gd name="connsiteY2" fmla="*/ 33750 h 900000"/>
              <a:gd name="connsiteX3" fmla="*/ 630000 w 900000"/>
              <a:gd name="connsiteY3" fmla="*/ 138375 h 900000"/>
              <a:gd name="connsiteX4" fmla="*/ 761670 w 900000"/>
              <a:gd name="connsiteY4" fmla="*/ 270225 h 900000"/>
              <a:gd name="connsiteX5" fmla="*/ 866250 w 900000"/>
              <a:gd name="connsiteY5" fmla="*/ 270225 h 900000"/>
              <a:gd name="connsiteX6" fmla="*/ 899991 w 900000"/>
              <a:gd name="connsiteY6" fmla="*/ 303985 h 900000"/>
              <a:gd name="connsiteX7" fmla="*/ 870840 w 900000"/>
              <a:gd name="connsiteY7" fmla="*/ 337410 h 900000"/>
              <a:gd name="connsiteX8" fmla="*/ 866250 w 900000"/>
              <a:gd name="connsiteY8" fmla="*/ 337725 h 900000"/>
              <a:gd name="connsiteX9" fmla="*/ 765000 w 900000"/>
              <a:gd name="connsiteY9" fmla="*/ 337680 h 900000"/>
              <a:gd name="connsiteX10" fmla="*/ 765000 w 900000"/>
              <a:gd name="connsiteY10" fmla="*/ 416430 h 900000"/>
              <a:gd name="connsiteX11" fmla="*/ 866250 w 900000"/>
              <a:gd name="connsiteY11" fmla="*/ 416430 h 900000"/>
              <a:gd name="connsiteX12" fmla="*/ 899685 w 900000"/>
              <a:gd name="connsiteY12" fmla="*/ 445680 h 900000"/>
              <a:gd name="connsiteX13" fmla="*/ 900000 w 900000"/>
              <a:gd name="connsiteY13" fmla="*/ 450180 h 900000"/>
              <a:gd name="connsiteX14" fmla="*/ 870840 w 900000"/>
              <a:gd name="connsiteY14" fmla="*/ 483660 h 900000"/>
              <a:gd name="connsiteX15" fmla="*/ 866250 w 900000"/>
              <a:gd name="connsiteY15" fmla="*/ 483975 h 900000"/>
              <a:gd name="connsiteX16" fmla="*/ 765000 w 900000"/>
              <a:gd name="connsiteY16" fmla="*/ 483930 h 900000"/>
              <a:gd name="connsiteX17" fmla="*/ 765000 w 900000"/>
              <a:gd name="connsiteY17" fmla="*/ 562680 h 900000"/>
              <a:gd name="connsiteX18" fmla="*/ 866250 w 900000"/>
              <a:gd name="connsiteY18" fmla="*/ 562680 h 900000"/>
              <a:gd name="connsiteX19" fmla="*/ 899685 w 900000"/>
              <a:gd name="connsiteY19" fmla="*/ 591930 h 900000"/>
              <a:gd name="connsiteX20" fmla="*/ 900000 w 900000"/>
              <a:gd name="connsiteY20" fmla="*/ 596430 h 900000"/>
              <a:gd name="connsiteX21" fmla="*/ 870840 w 900000"/>
              <a:gd name="connsiteY21" fmla="*/ 629910 h 900000"/>
              <a:gd name="connsiteX22" fmla="*/ 866250 w 900000"/>
              <a:gd name="connsiteY22" fmla="*/ 630225 h 900000"/>
              <a:gd name="connsiteX23" fmla="*/ 761580 w 900000"/>
              <a:gd name="connsiteY23" fmla="*/ 630225 h 900000"/>
              <a:gd name="connsiteX24" fmla="*/ 630000 w 900000"/>
              <a:gd name="connsiteY24" fmla="*/ 761625 h 900000"/>
              <a:gd name="connsiteX25" fmla="*/ 630000 w 900000"/>
              <a:gd name="connsiteY25" fmla="*/ 866250 h 900000"/>
              <a:gd name="connsiteX26" fmla="*/ 596241 w 900000"/>
              <a:gd name="connsiteY26" fmla="*/ 899991 h 900000"/>
              <a:gd name="connsiteX27" fmla="*/ 562815 w 900000"/>
              <a:gd name="connsiteY27" fmla="*/ 870840 h 900000"/>
              <a:gd name="connsiteX28" fmla="*/ 562500 w 900000"/>
              <a:gd name="connsiteY28" fmla="*/ 866250 h 900000"/>
              <a:gd name="connsiteX29" fmla="*/ 562500 w 900000"/>
              <a:gd name="connsiteY29" fmla="*/ 764955 h 900000"/>
              <a:gd name="connsiteX30" fmla="*/ 483705 w 900000"/>
              <a:gd name="connsiteY30" fmla="*/ 764955 h 900000"/>
              <a:gd name="connsiteX31" fmla="*/ 483750 w 900000"/>
              <a:gd name="connsiteY31" fmla="*/ 866250 h 900000"/>
              <a:gd name="connsiteX32" fmla="*/ 454590 w 900000"/>
              <a:gd name="connsiteY32" fmla="*/ 899685 h 900000"/>
              <a:gd name="connsiteX33" fmla="*/ 450000 w 900000"/>
              <a:gd name="connsiteY33" fmla="*/ 900000 h 900000"/>
              <a:gd name="connsiteX34" fmla="*/ 416565 w 900000"/>
              <a:gd name="connsiteY34" fmla="*/ 870840 h 900000"/>
              <a:gd name="connsiteX35" fmla="*/ 416250 w 900000"/>
              <a:gd name="connsiteY35" fmla="*/ 866250 h 900000"/>
              <a:gd name="connsiteX36" fmla="*/ 416205 w 900000"/>
              <a:gd name="connsiteY36" fmla="*/ 764955 h 900000"/>
              <a:gd name="connsiteX37" fmla="*/ 337500 w 900000"/>
              <a:gd name="connsiteY37" fmla="*/ 764955 h 900000"/>
              <a:gd name="connsiteX38" fmla="*/ 337500 w 900000"/>
              <a:gd name="connsiteY38" fmla="*/ 866250 h 900000"/>
              <a:gd name="connsiteX39" fmla="*/ 308340 w 900000"/>
              <a:gd name="connsiteY39" fmla="*/ 899685 h 900000"/>
              <a:gd name="connsiteX40" fmla="*/ 303750 w 900000"/>
              <a:gd name="connsiteY40" fmla="*/ 900000 h 900000"/>
              <a:gd name="connsiteX41" fmla="*/ 270315 w 900000"/>
              <a:gd name="connsiteY41" fmla="*/ 870840 h 900000"/>
              <a:gd name="connsiteX42" fmla="*/ 270000 w 900000"/>
              <a:gd name="connsiteY42" fmla="*/ 866250 h 900000"/>
              <a:gd name="connsiteX43" fmla="*/ 270000 w 900000"/>
              <a:gd name="connsiteY43" fmla="*/ 761625 h 900000"/>
              <a:gd name="connsiteX44" fmla="*/ 138375 w 900000"/>
              <a:gd name="connsiteY44" fmla="*/ 630000 h 900000"/>
              <a:gd name="connsiteX45" fmla="*/ 33750 w 900000"/>
              <a:gd name="connsiteY45" fmla="*/ 630000 h 900000"/>
              <a:gd name="connsiteX46" fmla="*/ 10 w 900000"/>
              <a:gd name="connsiteY46" fmla="*/ 596241 h 900000"/>
              <a:gd name="connsiteX47" fmla="*/ 29160 w 900000"/>
              <a:gd name="connsiteY47" fmla="*/ 562815 h 900000"/>
              <a:gd name="connsiteX48" fmla="*/ 33750 w 900000"/>
              <a:gd name="connsiteY48" fmla="*/ 562500 h 900000"/>
              <a:gd name="connsiteX49" fmla="*/ 135000 w 900000"/>
              <a:gd name="connsiteY49" fmla="*/ 562455 h 900000"/>
              <a:gd name="connsiteX50" fmla="*/ 135000 w 900000"/>
              <a:gd name="connsiteY50" fmla="*/ 483705 h 900000"/>
              <a:gd name="connsiteX51" fmla="*/ 33750 w 900000"/>
              <a:gd name="connsiteY51" fmla="*/ 483750 h 900000"/>
              <a:gd name="connsiteX52" fmla="*/ 315 w 900000"/>
              <a:gd name="connsiteY52" fmla="*/ 454590 h 900000"/>
              <a:gd name="connsiteX53" fmla="*/ 0 w 900000"/>
              <a:gd name="connsiteY53" fmla="*/ 450000 h 900000"/>
              <a:gd name="connsiteX54" fmla="*/ 29160 w 900000"/>
              <a:gd name="connsiteY54" fmla="*/ 416565 h 900000"/>
              <a:gd name="connsiteX55" fmla="*/ 33750 w 900000"/>
              <a:gd name="connsiteY55" fmla="*/ 416250 h 900000"/>
              <a:gd name="connsiteX56" fmla="*/ 135000 w 900000"/>
              <a:gd name="connsiteY56" fmla="*/ 416205 h 900000"/>
              <a:gd name="connsiteX57" fmla="*/ 135000 w 900000"/>
              <a:gd name="connsiteY57" fmla="*/ 337455 h 900000"/>
              <a:gd name="connsiteX58" fmla="*/ 33750 w 900000"/>
              <a:gd name="connsiteY58" fmla="*/ 337500 h 900000"/>
              <a:gd name="connsiteX59" fmla="*/ 315 w 900000"/>
              <a:gd name="connsiteY59" fmla="*/ 308340 h 900000"/>
              <a:gd name="connsiteX60" fmla="*/ 0 w 900000"/>
              <a:gd name="connsiteY60" fmla="*/ 303750 h 900000"/>
              <a:gd name="connsiteX61" fmla="*/ 29160 w 900000"/>
              <a:gd name="connsiteY61" fmla="*/ 270315 h 900000"/>
              <a:gd name="connsiteX62" fmla="*/ 33750 w 900000"/>
              <a:gd name="connsiteY62" fmla="*/ 270000 h 900000"/>
              <a:gd name="connsiteX63" fmla="*/ 138375 w 900000"/>
              <a:gd name="connsiteY63" fmla="*/ 269955 h 900000"/>
              <a:gd name="connsiteX64" fmla="*/ 270000 w 900000"/>
              <a:gd name="connsiteY64" fmla="*/ 138375 h 900000"/>
              <a:gd name="connsiteX65" fmla="*/ 270000 w 900000"/>
              <a:gd name="connsiteY65" fmla="*/ 33750 h 900000"/>
              <a:gd name="connsiteX66" fmla="*/ 303760 w 900000"/>
              <a:gd name="connsiteY66" fmla="*/ 10 h 900000"/>
              <a:gd name="connsiteX67" fmla="*/ 337185 w 900000"/>
              <a:gd name="connsiteY67" fmla="*/ 29160 h 900000"/>
              <a:gd name="connsiteX68" fmla="*/ 337500 w 900000"/>
              <a:gd name="connsiteY68" fmla="*/ 33750 h 900000"/>
              <a:gd name="connsiteX69" fmla="*/ 337500 w 900000"/>
              <a:gd name="connsiteY69" fmla="*/ 134955 h 900000"/>
              <a:gd name="connsiteX70" fmla="*/ 416205 w 900000"/>
              <a:gd name="connsiteY70" fmla="*/ 134955 h 900000"/>
              <a:gd name="connsiteX71" fmla="*/ 416250 w 900000"/>
              <a:gd name="connsiteY71" fmla="*/ 33750 h 900000"/>
              <a:gd name="connsiteX72" fmla="*/ 445410 w 900000"/>
              <a:gd name="connsiteY72" fmla="*/ 315 h 900000"/>
              <a:gd name="connsiteX73" fmla="*/ 450000 w 900000"/>
              <a:gd name="connsiteY73" fmla="*/ 0 h 900000"/>
              <a:gd name="connsiteX74" fmla="*/ 483435 w 900000"/>
              <a:gd name="connsiteY74" fmla="*/ 29160 h 900000"/>
              <a:gd name="connsiteX75" fmla="*/ 483750 w 900000"/>
              <a:gd name="connsiteY75" fmla="*/ 33750 h 900000"/>
              <a:gd name="connsiteX76" fmla="*/ 483705 w 900000"/>
              <a:gd name="connsiteY76" fmla="*/ 134955 h 900000"/>
              <a:gd name="connsiteX77" fmla="*/ 562500 w 900000"/>
              <a:gd name="connsiteY77" fmla="*/ 134955 h 900000"/>
              <a:gd name="connsiteX78" fmla="*/ 562500 w 900000"/>
              <a:gd name="connsiteY78" fmla="*/ 33750 h 900000"/>
              <a:gd name="connsiteX79" fmla="*/ 587250 w 900000"/>
              <a:gd name="connsiteY79" fmla="*/ 1215 h 900000"/>
              <a:gd name="connsiteX80" fmla="*/ 591660 w 900000"/>
              <a:gd name="connsiteY80" fmla="*/ 315 h 900000"/>
              <a:gd name="connsiteX81" fmla="*/ 596250 w 900000"/>
              <a:gd name="connsiteY81" fmla="*/ 0 h 900000"/>
              <a:gd name="connsiteX82" fmla="*/ 450225 w 900000"/>
              <a:gd name="connsiteY82" fmla="*/ 315225 h 900000"/>
              <a:gd name="connsiteX83" fmla="*/ 315225 w 900000"/>
              <a:gd name="connsiteY83" fmla="*/ 450225 h 900000"/>
              <a:gd name="connsiteX84" fmla="*/ 450225 w 900000"/>
              <a:gd name="connsiteY84" fmla="*/ 585225 h 900000"/>
              <a:gd name="connsiteX85" fmla="*/ 585225 w 900000"/>
              <a:gd name="connsiteY85" fmla="*/ 450225 h 900000"/>
              <a:gd name="connsiteX86" fmla="*/ 450225 w 900000"/>
              <a:gd name="connsiteY86" fmla="*/ 315225 h 900000"/>
              <a:gd name="connsiteX87" fmla="*/ 450225 w 900000"/>
              <a:gd name="connsiteY87" fmla="*/ 382725 h 900000"/>
              <a:gd name="connsiteX88" fmla="*/ 517725 w 900000"/>
              <a:gd name="connsiteY88" fmla="*/ 450225 h 900000"/>
              <a:gd name="connsiteX89" fmla="*/ 450225 w 900000"/>
              <a:gd name="connsiteY89" fmla="*/ 517725 h 900000"/>
              <a:gd name="connsiteX90" fmla="*/ 382725 w 900000"/>
              <a:gd name="connsiteY90" fmla="*/ 450225 h 900000"/>
              <a:gd name="connsiteX91" fmla="*/ 450225 w 900000"/>
              <a:gd name="connsiteY91" fmla="*/ 382725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900000" h="900000">
                <a:moveTo>
                  <a:pt x="596250" y="0"/>
                </a:moveTo>
                <a:cubicBezTo>
                  <a:pt x="613116" y="1"/>
                  <a:pt x="627390" y="12452"/>
                  <a:pt x="629685" y="29160"/>
                </a:cubicBezTo>
                <a:lnTo>
                  <a:pt x="630000" y="33750"/>
                </a:lnTo>
                <a:lnTo>
                  <a:pt x="630000" y="138375"/>
                </a:lnTo>
                <a:cubicBezTo>
                  <a:pt x="696353" y="151956"/>
                  <a:pt x="748179" y="203854"/>
                  <a:pt x="761670" y="270225"/>
                </a:cubicBezTo>
                <a:lnTo>
                  <a:pt x="866250" y="270225"/>
                </a:lnTo>
                <a:cubicBezTo>
                  <a:pt x="884889" y="270231"/>
                  <a:pt x="899996" y="285346"/>
                  <a:pt x="899991" y="303985"/>
                </a:cubicBezTo>
                <a:cubicBezTo>
                  <a:pt x="899987" y="320843"/>
                  <a:pt x="887540" y="335112"/>
                  <a:pt x="870840" y="337410"/>
                </a:cubicBezTo>
                <a:lnTo>
                  <a:pt x="866250" y="337725"/>
                </a:lnTo>
                <a:lnTo>
                  <a:pt x="765000" y="337680"/>
                </a:lnTo>
                <a:lnTo>
                  <a:pt x="765000" y="416430"/>
                </a:lnTo>
                <a:lnTo>
                  <a:pt x="866250" y="416430"/>
                </a:lnTo>
                <a:cubicBezTo>
                  <a:pt x="883148" y="416439"/>
                  <a:pt x="897431" y="428936"/>
                  <a:pt x="899685" y="445680"/>
                </a:cubicBezTo>
                <a:lnTo>
                  <a:pt x="900000" y="450180"/>
                </a:lnTo>
                <a:cubicBezTo>
                  <a:pt x="900023" y="467064"/>
                  <a:pt x="887567" y="481365"/>
                  <a:pt x="870840" y="483660"/>
                </a:cubicBezTo>
                <a:lnTo>
                  <a:pt x="866250" y="483975"/>
                </a:lnTo>
                <a:lnTo>
                  <a:pt x="765000" y="483930"/>
                </a:lnTo>
                <a:lnTo>
                  <a:pt x="765000" y="562680"/>
                </a:lnTo>
                <a:lnTo>
                  <a:pt x="866250" y="562680"/>
                </a:lnTo>
                <a:cubicBezTo>
                  <a:pt x="883148" y="562689"/>
                  <a:pt x="897431" y="575186"/>
                  <a:pt x="899685" y="591930"/>
                </a:cubicBezTo>
                <a:lnTo>
                  <a:pt x="900000" y="596430"/>
                </a:lnTo>
                <a:cubicBezTo>
                  <a:pt x="900023" y="613314"/>
                  <a:pt x="887567" y="627615"/>
                  <a:pt x="870840" y="629910"/>
                </a:cubicBezTo>
                <a:lnTo>
                  <a:pt x="866250" y="630225"/>
                </a:lnTo>
                <a:lnTo>
                  <a:pt x="761580" y="630225"/>
                </a:lnTo>
                <a:cubicBezTo>
                  <a:pt x="747932" y="696389"/>
                  <a:pt x="696186" y="748066"/>
                  <a:pt x="630000" y="761625"/>
                </a:cubicBezTo>
                <a:lnTo>
                  <a:pt x="630000" y="866250"/>
                </a:lnTo>
                <a:cubicBezTo>
                  <a:pt x="629996" y="884889"/>
                  <a:pt x="614880" y="899996"/>
                  <a:pt x="596241" y="899991"/>
                </a:cubicBezTo>
                <a:cubicBezTo>
                  <a:pt x="579380" y="899987"/>
                  <a:pt x="565115" y="887540"/>
                  <a:pt x="562815" y="870840"/>
                </a:cubicBezTo>
                <a:lnTo>
                  <a:pt x="562500" y="866250"/>
                </a:lnTo>
                <a:lnTo>
                  <a:pt x="562500" y="764955"/>
                </a:lnTo>
                <a:lnTo>
                  <a:pt x="483705" y="764955"/>
                </a:lnTo>
                <a:lnTo>
                  <a:pt x="483750" y="866250"/>
                </a:lnTo>
                <a:cubicBezTo>
                  <a:pt x="483750" y="883116"/>
                  <a:pt x="471299" y="897390"/>
                  <a:pt x="454590" y="899685"/>
                </a:cubicBezTo>
                <a:lnTo>
                  <a:pt x="450000" y="900000"/>
                </a:lnTo>
                <a:cubicBezTo>
                  <a:pt x="433134" y="900000"/>
                  <a:pt x="418860" y="887549"/>
                  <a:pt x="416565" y="870840"/>
                </a:cubicBezTo>
                <a:lnTo>
                  <a:pt x="416250" y="866250"/>
                </a:lnTo>
                <a:lnTo>
                  <a:pt x="416205" y="764955"/>
                </a:lnTo>
                <a:lnTo>
                  <a:pt x="337500" y="764955"/>
                </a:lnTo>
                <a:lnTo>
                  <a:pt x="337500" y="866250"/>
                </a:lnTo>
                <a:cubicBezTo>
                  <a:pt x="337499" y="883116"/>
                  <a:pt x="325049" y="897390"/>
                  <a:pt x="308340" y="899685"/>
                </a:cubicBezTo>
                <a:lnTo>
                  <a:pt x="303750" y="900000"/>
                </a:lnTo>
                <a:cubicBezTo>
                  <a:pt x="286884" y="900000"/>
                  <a:pt x="272609" y="887549"/>
                  <a:pt x="270315" y="870840"/>
                </a:cubicBezTo>
                <a:lnTo>
                  <a:pt x="270000" y="866250"/>
                </a:lnTo>
                <a:lnTo>
                  <a:pt x="270000" y="761625"/>
                </a:lnTo>
                <a:cubicBezTo>
                  <a:pt x="203729" y="748062"/>
                  <a:pt x="151939" y="696272"/>
                  <a:pt x="138375" y="630000"/>
                </a:cubicBezTo>
                <a:lnTo>
                  <a:pt x="33750" y="630000"/>
                </a:lnTo>
                <a:cubicBezTo>
                  <a:pt x="15111" y="629996"/>
                  <a:pt x="4" y="614880"/>
                  <a:pt x="10" y="596241"/>
                </a:cubicBezTo>
                <a:cubicBezTo>
                  <a:pt x="15" y="579380"/>
                  <a:pt x="12459" y="565115"/>
                  <a:pt x="29160" y="562815"/>
                </a:cubicBezTo>
                <a:lnTo>
                  <a:pt x="33750" y="562500"/>
                </a:lnTo>
                <a:lnTo>
                  <a:pt x="135000" y="562455"/>
                </a:lnTo>
                <a:lnTo>
                  <a:pt x="135000" y="483705"/>
                </a:lnTo>
                <a:lnTo>
                  <a:pt x="33750" y="483750"/>
                </a:lnTo>
                <a:cubicBezTo>
                  <a:pt x="16884" y="483750"/>
                  <a:pt x="2609" y="471299"/>
                  <a:pt x="315" y="454590"/>
                </a:cubicBezTo>
                <a:lnTo>
                  <a:pt x="0" y="450000"/>
                </a:lnTo>
                <a:cubicBezTo>
                  <a:pt x="1" y="433134"/>
                  <a:pt x="12452" y="418860"/>
                  <a:pt x="29160" y="416565"/>
                </a:cubicBezTo>
                <a:lnTo>
                  <a:pt x="33750" y="416250"/>
                </a:lnTo>
                <a:lnTo>
                  <a:pt x="135000" y="416205"/>
                </a:lnTo>
                <a:lnTo>
                  <a:pt x="135000" y="337455"/>
                </a:lnTo>
                <a:lnTo>
                  <a:pt x="33750" y="337500"/>
                </a:lnTo>
                <a:cubicBezTo>
                  <a:pt x="16884" y="337499"/>
                  <a:pt x="2609" y="325049"/>
                  <a:pt x="315" y="308340"/>
                </a:cubicBezTo>
                <a:lnTo>
                  <a:pt x="0" y="303750"/>
                </a:lnTo>
                <a:cubicBezTo>
                  <a:pt x="1" y="286884"/>
                  <a:pt x="12452" y="272609"/>
                  <a:pt x="29160" y="270315"/>
                </a:cubicBezTo>
                <a:lnTo>
                  <a:pt x="33750" y="270000"/>
                </a:lnTo>
                <a:lnTo>
                  <a:pt x="138375" y="269955"/>
                </a:lnTo>
                <a:cubicBezTo>
                  <a:pt x="151955" y="203701"/>
                  <a:pt x="203742" y="151933"/>
                  <a:pt x="270000" y="138375"/>
                </a:cubicBezTo>
                <a:lnTo>
                  <a:pt x="270000" y="33750"/>
                </a:lnTo>
                <a:cubicBezTo>
                  <a:pt x="270006" y="15111"/>
                  <a:pt x="285121" y="4"/>
                  <a:pt x="303760" y="10"/>
                </a:cubicBezTo>
                <a:cubicBezTo>
                  <a:pt x="320618" y="15"/>
                  <a:pt x="334887" y="12459"/>
                  <a:pt x="337185" y="29160"/>
                </a:cubicBezTo>
                <a:lnTo>
                  <a:pt x="337500" y="33750"/>
                </a:lnTo>
                <a:lnTo>
                  <a:pt x="337500" y="134955"/>
                </a:lnTo>
                <a:lnTo>
                  <a:pt x="416205" y="134955"/>
                </a:lnTo>
                <a:lnTo>
                  <a:pt x="416250" y="33750"/>
                </a:lnTo>
                <a:cubicBezTo>
                  <a:pt x="416250" y="16884"/>
                  <a:pt x="428702" y="2609"/>
                  <a:pt x="445410" y="315"/>
                </a:cubicBezTo>
                <a:lnTo>
                  <a:pt x="450000" y="0"/>
                </a:lnTo>
                <a:cubicBezTo>
                  <a:pt x="466866" y="1"/>
                  <a:pt x="481140" y="12452"/>
                  <a:pt x="483435" y="29160"/>
                </a:cubicBezTo>
                <a:lnTo>
                  <a:pt x="483750" y="33750"/>
                </a:lnTo>
                <a:lnTo>
                  <a:pt x="483705" y="134955"/>
                </a:lnTo>
                <a:lnTo>
                  <a:pt x="562500" y="134955"/>
                </a:lnTo>
                <a:lnTo>
                  <a:pt x="562500" y="33750"/>
                </a:lnTo>
                <a:cubicBezTo>
                  <a:pt x="562496" y="18574"/>
                  <a:pt x="572625" y="5262"/>
                  <a:pt x="587250" y="1215"/>
                </a:cubicBezTo>
                <a:lnTo>
                  <a:pt x="591660" y="315"/>
                </a:lnTo>
                <a:lnTo>
                  <a:pt x="596250" y="0"/>
                </a:lnTo>
                <a:close/>
                <a:moveTo>
                  <a:pt x="450225" y="315225"/>
                </a:moveTo>
                <a:cubicBezTo>
                  <a:pt x="375665" y="315225"/>
                  <a:pt x="315225" y="375665"/>
                  <a:pt x="315225" y="450225"/>
                </a:cubicBezTo>
                <a:cubicBezTo>
                  <a:pt x="315225" y="524786"/>
                  <a:pt x="375665" y="585225"/>
                  <a:pt x="450225" y="585225"/>
                </a:cubicBezTo>
                <a:cubicBezTo>
                  <a:pt x="524786" y="585225"/>
                  <a:pt x="585225" y="524786"/>
                  <a:pt x="585225" y="450225"/>
                </a:cubicBezTo>
                <a:cubicBezTo>
                  <a:pt x="585225" y="375665"/>
                  <a:pt x="524786" y="315225"/>
                  <a:pt x="450225" y="315225"/>
                </a:cubicBezTo>
                <a:close/>
                <a:moveTo>
                  <a:pt x="450225" y="382725"/>
                </a:moveTo>
                <a:cubicBezTo>
                  <a:pt x="487503" y="382725"/>
                  <a:pt x="517725" y="412947"/>
                  <a:pt x="517725" y="450225"/>
                </a:cubicBezTo>
                <a:cubicBezTo>
                  <a:pt x="517725" y="487503"/>
                  <a:pt x="487503" y="517725"/>
                  <a:pt x="450225" y="517725"/>
                </a:cubicBezTo>
                <a:cubicBezTo>
                  <a:pt x="412947" y="517725"/>
                  <a:pt x="382725" y="487503"/>
                  <a:pt x="382725" y="450225"/>
                </a:cubicBezTo>
                <a:cubicBezTo>
                  <a:pt x="382725" y="412947"/>
                  <a:pt x="412947" y="382725"/>
                  <a:pt x="450225" y="382725"/>
                </a:cubicBezTo>
                <a:close/>
              </a:path>
            </a:pathLst>
          </a:custGeom>
          <a:gradFill flip="none" rotWithShape="1">
            <a:gsLst>
              <a:gs pos="50000">
                <a:schemeClr val="tx2">
                  <a:lumMod val="75000"/>
                  <a:lumOff val="25000"/>
                </a:schemeClr>
              </a:gs>
              <a:gs pos="0">
                <a:schemeClr val="tx2">
                  <a:lumMod val="50000"/>
                  <a:lumOff val="50000"/>
                </a:schemeClr>
              </a:gs>
            </a:gsLst>
            <a:lin ang="7800000" scaled="0"/>
            <a:tileRect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 Semibold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A220B874-7096-BFC3-F853-70375CFFD4F4}"/>
              </a:ext>
            </a:extLst>
          </p:cNvPr>
          <p:cNvSpPr txBox="1"/>
          <p:nvPr/>
        </p:nvSpPr>
        <p:spPr>
          <a:xfrm>
            <a:off x="8905072" y="1442451"/>
            <a:ext cx="15411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Utilization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204" name="TextBox 1203" descr="100.0% Storage utilization &#10;">
            <a:extLst>
              <a:ext uri="{FF2B5EF4-FFF2-40B4-BE49-F238E27FC236}">
                <a16:creationId xmlns:a16="http://schemas.microsoft.com/office/drawing/2014/main" id="{7A3757E9-4651-9BC4-C981-37ADCD1A613F}"/>
              </a:ext>
            </a:extLst>
          </p:cNvPr>
          <p:cNvSpPr txBox="1"/>
          <p:nvPr/>
        </p:nvSpPr>
        <p:spPr>
          <a:xfrm>
            <a:off x="8905072" y="5293241"/>
            <a:ext cx="2479207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100.0% Storage utilization 
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206" name="TextBox 1205" descr="100 GB Storage allocated">
            <a:extLst>
              <a:ext uri="{FF2B5EF4-FFF2-40B4-BE49-F238E27FC236}">
                <a16:creationId xmlns:a16="http://schemas.microsoft.com/office/drawing/2014/main" id="{C0D95089-3FCD-763F-3681-E9E897DF91D8}"/>
              </a:ext>
            </a:extLst>
          </p:cNvPr>
          <p:cNvSpPr txBox="1"/>
          <p:nvPr/>
        </p:nvSpPr>
        <p:spPr>
          <a:xfrm>
            <a:off x="8905072" y="5513578"/>
            <a:ext cx="24792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100 GB Storage allocated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210" name="Graphic 3">
            <a:extLst>
              <a:ext uri="{FF2B5EF4-FFF2-40B4-BE49-F238E27FC236}">
                <a16:creationId xmlns:a16="http://schemas.microsoft.com/office/drawing/2014/main" id="{CBF87605-DF5D-801E-E083-05D16C6C8CDE}"/>
              </a:ext>
            </a:extLst>
          </p:cNvPr>
          <p:cNvSpPr>
            <a:spLocks noChangeAspect="1"/>
          </p:cNvSpPr>
          <p:nvPr/>
        </p:nvSpPr>
        <p:spPr>
          <a:xfrm>
            <a:off x="9010258" y="4903946"/>
            <a:ext cx="288000" cy="360000"/>
          </a:xfrm>
          <a:custGeom>
            <a:avLst/>
            <a:gdLst>
              <a:gd name="connsiteX0" fmla="*/ 360000 w 720000"/>
              <a:gd name="connsiteY0" fmla="*/ 360000 h 900000"/>
              <a:gd name="connsiteX1" fmla="*/ 720000 w 720000"/>
              <a:gd name="connsiteY1" fmla="*/ 180000 h 900000"/>
              <a:gd name="connsiteX2" fmla="*/ 360000 w 720000"/>
              <a:gd name="connsiteY2" fmla="*/ 0 h 900000"/>
              <a:gd name="connsiteX3" fmla="*/ 0 w 720000"/>
              <a:gd name="connsiteY3" fmla="*/ 180000 h 900000"/>
              <a:gd name="connsiteX4" fmla="*/ 360000 w 720000"/>
              <a:gd name="connsiteY4" fmla="*/ 360000 h 900000"/>
              <a:gd name="connsiteX5" fmla="*/ 644760 w 720000"/>
              <a:gd name="connsiteY5" fmla="*/ 367650 h 900000"/>
              <a:gd name="connsiteX6" fmla="*/ 720000 w 720000"/>
              <a:gd name="connsiteY6" fmla="*/ 317385 h 900000"/>
              <a:gd name="connsiteX7" fmla="*/ 720000 w 720000"/>
              <a:gd name="connsiteY7" fmla="*/ 720000 h 900000"/>
              <a:gd name="connsiteX8" fmla="*/ 360000 w 720000"/>
              <a:gd name="connsiteY8" fmla="*/ 900000 h 900000"/>
              <a:gd name="connsiteX9" fmla="*/ 0 w 720000"/>
              <a:gd name="connsiteY9" fmla="*/ 720000 h 900000"/>
              <a:gd name="connsiteX10" fmla="*/ 0 w 720000"/>
              <a:gd name="connsiteY10" fmla="*/ 317385 h 900000"/>
              <a:gd name="connsiteX11" fmla="*/ 75240 w 720000"/>
              <a:gd name="connsiteY11" fmla="*/ 367650 h 900000"/>
              <a:gd name="connsiteX12" fmla="*/ 360000 w 720000"/>
              <a:gd name="connsiteY12" fmla="*/ 427500 h 900000"/>
              <a:gd name="connsiteX13" fmla="*/ 644760 w 720000"/>
              <a:gd name="connsiteY13" fmla="*/ 367650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20000" h="900000">
                <a:moveTo>
                  <a:pt x="360000" y="360000"/>
                </a:moveTo>
                <a:cubicBezTo>
                  <a:pt x="558810" y="360000"/>
                  <a:pt x="720000" y="279450"/>
                  <a:pt x="720000" y="180000"/>
                </a:cubicBezTo>
                <a:cubicBezTo>
                  <a:pt x="720000" y="80550"/>
                  <a:pt x="558810" y="0"/>
                  <a:pt x="360000" y="0"/>
                </a:cubicBezTo>
                <a:cubicBezTo>
                  <a:pt x="161190" y="0"/>
                  <a:pt x="0" y="80550"/>
                  <a:pt x="0" y="180000"/>
                </a:cubicBezTo>
                <a:cubicBezTo>
                  <a:pt x="0" y="279450"/>
                  <a:pt x="161190" y="360000"/>
                  <a:pt x="360000" y="360000"/>
                </a:cubicBezTo>
                <a:close/>
                <a:moveTo>
                  <a:pt x="644760" y="367650"/>
                </a:moveTo>
                <a:cubicBezTo>
                  <a:pt x="671954" y="354297"/>
                  <a:pt x="697252" y="337394"/>
                  <a:pt x="720000" y="317385"/>
                </a:cubicBezTo>
                <a:lnTo>
                  <a:pt x="720000" y="720000"/>
                </a:lnTo>
                <a:cubicBezTo>
                  <a:pt x="720000" y="819450"/>
                  <a:pt x="558810" y="900000"/>
                  <a:pt x="360000" y="900000"/>
                </a:cubicBezTo>
                <a:cubicBezTo>
                  <a:pt x="161190" y="900000"/>
                  <a:pt x="0" y="819450"/>
                  <a:pt x="0" y="720000"/>
                </a:cubicBezTo>
                <a:lnTo>
                  <a:pt x="0" y="317385"/>
                </a:lnTo>
                <a:cubicBezTo>
                  <a:pt x="22746" y="337394"/>
                  <a:pt x="48047" y="354297"/>
                  <a:pt x="75240" y="367650"/>
                </a:cubicBezTo>
                <a:cubicBezTo>
                  <a:pt x="151650" y="405810"/>
                  <a:pt x="252360" y="427500"/>
                  <a:pt x="360000" y="427500"/>
                </a:cubicBezTo>
                <a:cubicBezTo>
                  <a:pt x="467640" y="427500"/>
                  <a:pt x="568350" y="405810"/>
                  <a:pt x="644760" y="367650"/>
                </a:cubicBezTo>
                <a:close/>
              </a:path>
            </a:pathLst>
          </a:custGeom>
          <a:gradFill>
            <a:gsLst>
              <a:gs pos="50000">
                <a:schemeClr val="tx2">
                  <a:lumMod val="75000"/>
                  <a:lumOff val="25000"/>
                </a:schemeClr>
              </a:gs>
              <a:gs pos="0">
                <a:schemeClr val="tx2">
                  <a:lumMod val="50000"/>
                  <a:lumOff val="50000"/>
                </a:schemeClr>
              </a:gs>
            </a:gsLst>
            <a:lin ang="7800000" scaled="0"/>
          </a:gradFill>
          <a:ln w="5238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99" name="TextBox 1198" descr="47.8%  RAM utilization">
            <a:extLst>
              <a:ext uri="{FF2B5EF4-FFF2-40B4-BE49-F238E27FC236}">
                <a16:creationId xmlns:a16="http://schemas.microsoft.com/office/drawing/2014/main" id="{361A72DC-8788-A1C7-443E-E6A02F906E8E}"/>
              </a:ext>
            </a:extLst>
          </p:cNvPr>
          <p:cNvSpPr txBox="1"/>
          <p:nvPr/>
        </p:nvSpPr>
        <p:spPr>
          <a:xfrm>
            <a:off x="8905072" y="3882846"/>
            <a:ext cx="2424554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47.8%  RAM utilization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201" name="TextBox 1200" descr="8.00 GB  RAM allocated&#10;">
            <a:extLst>
              <a:ext uri="{FF2B5EF4-FFF2-40B4-BE49-F238E27FC236}">
                <a16:creationId xmlns:a16="http://schemas.microsoft.com/office/drawing/2014/main" id="{4E3CB80B-95BE-7733-C107-7054D6077832}"/>
              </a:ext>
            </a:extLst>
          </p:cNvPr>
          <p:cNvSpPr txBox="1"/>
          <p:nvPr/>
        </p:nvSpPr>
        <p:spPr>
          <a:xfrm>
            <a:off x="8905072" y="4125497"/>
            <a:ext cx="21796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8.00 GB  RAM allocated
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grpSp>
        <p:nvGrpSpPr>
          <p:cNvPr id="1211" name="Group 1210">
            <a:extLst>
              <a:ext uri="{FF2B5EF4-FFF2-40B4-BE49-F238E27FC236}">
                <a16:creationId xmlns:a16="http://schemas.microsoft.com/office/drawing/2014/main" id="{26A155D9-E19D-E226-98C1-20F879C4F03E}"/>
              </a:ext>
            </a:extLst>
          </p:cNvPr>
          <p:cNvGrpSpPr>
            <a:grpSpLocks noChangeAspect="1"/>
          </p:cNvGrpSpPr>
          <p:nvPr/>
        </p:nvGrpSpPr>
        <p:grpSpPr>
          <a:xfrm>
            <a:off x="8991981" y="3476250"/>
            <a:ext cx="411430" cy="360007"/>
            <a:chOff x="4487711" y="4641189"/>
            <a:chExt cx="401977" cy="382774"/>
          </a:xfrm>
        </p:grpSpPr>
        <p:sp>
          <p:nvSpPr>
            <p:cNvPr id="1212" name="Rectangle 1211">
              <a:extLst>
                <a:ext uri="{FF2B5EF4-FFF2-40B4-BE49-F238E27FC236}">
                  <a16:creationId xmlns:a16="http://schemas.microsoft.com/office/drawing/2014/main" id="{02D91083-C8CE-3C62-64A8-4C71B4969125}"/>
                </a:ext>
              </a:extLst>
            </p:cNvPr>
            <p:cNvSpPr/>
            <p:nvPr/>
          </p:nvSpPr>
          <p:spPr>
            <a:xfrm>
              <a:off x="4487711" y="4641189"/>
              <a:ext cx="401977" cy="23270"/>
            </a:xfrm>
            <a:prstGeom prst="rect">
              <a:avLst/>
            </a:prstGeom>
            <a:gradFill flip="none" rotWithShape="1">
              <a:gsLst>
                <a:gs pos="50000">
                  <a:schemeClr val="tx2">
                    <a:lumMod val="75000"/>
                    <a:lumOff val="25000"/>
                  </a:schemeClr>
                </a:gs>
                <a:gs pos="0">
                  <a:schemeClr val="tx2">
                    <a:lumMod val="50000"/>
                    <a:lumOff val="50000"/>
                  </a:schemeClr>
                </a:gs>
              </a:gsLst>
              <a:lin ang="7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1213" name="Rectangle 1212">
              <a:extLst>
                <a:ext uri="{FF2B5EF4-FFF2-40B4-BE49-F238E27FC236}">
                  <a16:creationId xmlns:a16="http://schemas.microsoft.com/office/drawing/2014/main" id="{AE598F3D-085C-8842-016E-5FA6BA1682F2}"/>
                </a:ext>
              </a:extLst>
            </p:cNvPr>
            <p:cNvSpPr/>
            <p:nvPr/>
          </p:nvSpPr>
          <p:spPr>
            <a:xfrm>
              <a:off x="4487711" y="4675498"/>
              <a:ext cx="401977" cy="132441"/>
            </a:xfrm>
            <a:prstGeom prst="rect">
              <a:avLst/>
            </a:prstGeom>
            <a:gradFill flip="none" rotWithShape="1">
              <a:gsLst>
                <a:gs pos="50000">
                  <a:schemeClr val="tx2">
                    <a:lumMod val="75000"/>
                    <a:lumOff val="25000"/>
                  </a:schemeClr>
                </a:gs>
                <a:gs pos="0">
                  <a:schemeClr val="tx2">
                    <a:lumMod val="50000"/>
                    <a:lumOff val="50000"/>
                  </a:schemeClr>
                </a:gs>
              </a:gsLst>
              <a:lin ang="7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1214" name="Rectangle 1213">
              <a:extLst>
                <a:ext uri="{FF2B5EF4-FFF2-40B4-BE49-F238E27FC236}">
                  <a16:creationId xmlns:a16="http://schemas.microsoft.com/office/drawing/2014/main" id="{9753B530-35A8-40F5-2040-0F55AE82DD02}"/>
                </a:ext>
              </a:extLst>
            </p:cNvPr>
            <p:cNvSpPr/>
            <p:nvPr/>
          </p:nvSpPr>
          <p:spPr>
            <a:xfrm>
              <a:off x="4509536" y="4694051"/>
              <a:ext cx="104837" cy="770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1215" name="Rectangle 1214">
              <a:extLst>
                <a:ext uri="{FF2B5EF4-FFF2-40B4-BE49-F238E27FC236}">
                  <a16:creationId xmlns:a16="http://schemas.microsoft.com/office/drawing/2014/main" id="{0D69F4CF-4738-7542-C756-0AF48D392653}"/>
                </a:ext>
              </a:extLst>
            </p:cNvPr>
            <p:cNvSpPr/>
            <p:nvPr/>
          </p:nvSpPr>
          <p:spPr>
            <a:xfrm>
              <a:off x="4636197" y="4694050"/>
              <a:ext cx="104837" cy="770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1216" name="Rectangle 1215">
              <a:extLst>
                <a:ext uri="{FF2B5EF4-FFF2-40B4-BE49-F238E27FC236}">
                  <a16:creationId xmlns:a16="http://schemas.microsoft.com/office/drawing/2014/main" id="{DDD94325-3592-4EF3-03DF-E122079C7BF1}"/>
                </a:ext>
              </a:extLst>
            </p:cNvPr>
            <p:cNvSpPr/>
            <p:nvPr/>
          </p:nvSpPr>
          <p:spPr>
            <a:xfrm>
              <a:off x="4762859" y="4695018"/>
              <a:ext cx="104837" cy="770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1217" name="Rectangle 1216">
              <a:extLst>
                <a:ext uri="{FF2B5EF4-FFF2-40B4-BE49-F238E27FC236}">
                  <a16:creationId xmlns:a16="http://schemas.microsoft.com/office/drawing/2014/main" id="{688FE01D-AA3D-1905-AB1D-695CEB925B00}"/>
                </a:ext>
              </a:extLst>
            </p:cNvPr>
            <p:cNvSpPr/>
            <p:nvPr/>
          </p:nvSpPr>
          <p:spPr>
            <a:xfrm>
              <a:off x="4487711" y="4857213"/>
              <a:ext cx="401977" cy="23270"/>
            </a:xfrm>
            <a:prstGeom prst="rect">
              <a:avLst/>
            </a:prstGeom>
            <a:gradFill flip="none" rotWithShape="1">
              <a:gsLst>
                <a:gs pos="50000">
                  <a:schemeClr val="tx2">
                    <a:lumMod val="75000"/>
                    <a:lumOff val="25000"/>
                  </a:schemeClr>
                </a:gs>
                <a:gs pos="0">
                  <a:schemeClr val="tx2">
                    <a:lumMod val="50000"/>
                    <a:lumOff val="50000"/>
                  </a:schemeClr>
                </a:gs>
              </a:gsLst>
              <a:lin ang="7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1218" name="Rectangle 1217">
              <a:extLst>
                <a:ext uri="{FF2B5EF4-FFF2-40B4-BE49-F238E27FC236}">
                  <a16:creationId xmlns:a16="http://schemas.microsoft.com/office/drawing/2014/main" id="{0A39F776-C729-499A-3B18-8D1F7143AC0B}"/>
                </a:ext>
              </a:extLst>
            </p:cNvPr>
            <p:cNvSpPr/>
            <p:nvPr/>
          </p:nvSpPr>
          <p:spPr>
            <a:xfrm>
              <a:off x="4487711" y="4891522"/>
              <a:ext cx="401977" cy="132441"/>
            </a:xfrm>
            <a:prstGeom prst="rect">
              <a:avLst/>
            </a:prstGeom>
            <a:gradFill flip="none" rotWithShape="1">
              <a:gsLst>
                <a:gs pos="50000">
                  <a:schemeClr val="tx2">
                    <a:lumMod val="75000"/>
                    <a:lumOff val="25000"/>
                  </a:schemeClr>
                </a:gs>
                <a:gs pos="0">
                  <a:schemeClr val="tx2">
                    <a:lumMod val="50000"/>
                    <a:lumOff val="50000"/>
                  </a:schemeClr>
                </a:gs>
              </a:gsLst>
              <a:lin ang="7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1219" name="Rectangle 1218">
              <a:extLst>
                <a:ext uri="{FF2B5EF4-FFF2-40B4-BE49-F238E27FC236}">
                  <a16:creationId xmlns:a16="http://schemas.microsoft.com/office/drawing/2014/main" id="{B9F3FD96-26F7-B0DF-64D4-1397A2CD68C5}"/>
                </a:ext>
              </a:extLst>
            </p:cNvPr>
            <p:cNvSpPr/>
            <p:nvPr/>
          </p:nvSpPr>
          <p:spPr>
            <a:xfrm>
              <a:off x="4509536" y="4910075"/>
              <a:ext cx="104837" cy="770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1220" name="Rectangle 1219">
              <a:extLst>
                <a:ext uri="{FF2B5EF4-FFF2-40B4-BE49-F238E27FC236}">
                  <a16:creationId xmlns:a16="http://schemas.microsoft.com/office/drawing/2014/main" id="{86D576A2-D066-A39F-2492-13E0673BFF51}"/>
                </a:ext>
              </a:extLst>
            </p:cNvPr>
            <p:cNvSpPr/>
            <p:nvPr/>
          </p:nvSpPr>
          <p:spPr>
            <a:xfrm>
              <a:off x="4636197" y="4910074"/>
              <a:ext cx="104837" cy="770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1221" name="Rectangle 1220">
              <a:extLst>
                <a:ext uri="{FF2B5EF4-FFF2-40B4-BE49-F238E27FC236}">
                  <a16:creationId xmlns:a16="http://schemas.microsoft.com/office/drawing/2014/main" id="{E09235FD-2462-3254-F3DA-DF3475DDFB6B}"/>
                </a:ext>
              </a:extLst>
            </p:cNvPr>
            <p:cNvSpPr/>
            <p:nvPr/>
          </p:nvSpPr>
          <p:spPr>
            <a:xfrm>
              <a:off x="4762859" y="4911042"/>
              <a:ext cx="104837" cy="770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sp>
        <p:nvSpPr>
          <p:cNvPr id="1157" name="TextBox 1156">
            <a:extLst>
              <a:ext uri="{FF2B5EF4-FFF2-40B4-BE49-F238E27FC236}">
                <a16:creationId xmlns:a16="http://schemas.microsoft.com/office/drawing/2014/main" id="{4F809558-3652-F545-5FDC-DEFD2B498EC7}"/>
              </a:ext>
            </a:extLst>
          </p:cNvPr>
          <p:cNvSpPr txBox="1"/>
          <p:nvPr/>
        </p:nvSpPr>
        <p:spPr>
          <a:xfrm>
            <a:off x="1145093" y="3780146"/>
            <a:ext cx="22424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Discovery success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64" name="TextBox 1163">
            <a:extLst>
              <a:ext uri="{FF2B5EF4-FFF2-40B4-BE49-F238E27FC236}">
                <a16:creationId xmlns:a16="http://schemas.microsoft.com/office/drawing/2014/main" id="{C366F6AD-75C9-A779-EDC5-049260B6B205}"/>
              </a:ext>
            </a:extLst>
          </p:cNvPr>
          <p:cNvSpPr txBox="1"/>
          <p:nvPr/>
        </p:nvSpPr>
        <p:spPr>
          <a:xfrm>
            <a:off x="813307" y="4614646"/>
            <a:ext cx="24162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Dependency Analysis coverage</a:t>
            </a:r>
          </a:p>
        </p:txBody>
      </p:sp>
      <p:sp>
        <p:nvSpPr>
          <p:cNvPr id="1165" name="TextBox 1164" descr="0.0%">
            <a:extLst>
              <a:ext uri="{FF2B5EF4-FFF2-40B4-BE49-F238E27FC236}">
                <a16:creationId xmlns:a16="http://schemas.microsoft.com/office/drawing/2014/main" id="{BB2F55AF-3212-F61D-C6A5-4ED3D1203C42}"/>
              </a:ext>
            </a:extLst>
          </p:cNvPr>
          <p:cNvSpPr txBox="1"/>
          <p:nvPr/>
        </p:nvSpPr>
        <p:spPr>
          <a:xfrm>
            <a:off x="2991032" y="4571476"/>
            <a:ext cx="10603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0.0%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67" name="TextBox 1166">
            <a:extLst>
              <a:ext uri="{FF2B5EF4-FFF2-40B4-BE49-F238E27FC236}">
                <a16:creationId xmlns:a16="http://schemas.microsoft.com/office/drawing/2014/main" id="{FB3F85E4-307C-59F7-4795-94FC51E1256B}"/>
              </a:ext>
            </a:extLst>
          </p:cNvPr>
          <p:cNvSpPr txBox="1"/>
          <p:nvPr/>
        </p:nvSpPr>
        <p:spPr>
          <a:xfrm>
            <a:off x="813307" y="4257542"/>
            <a:ext cx="22424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Software Inventory coverage</a:t>
            </a:r>
          </a:p>
        </p:txBody>
      </p:sp>
      <p:sp>
        <p:nvSpPr>
          <p:cNvPr id="1168" name="TextBox 1167" descr="100.0%">
            <a:extLst>
              <a:ext uri="{FF2B5EF4-FFF2-40B4-BE49-F238E27FC236}">
                <a16:creationId xmlns:a16="http://schemas.microsoft.com/office/drawing/2014/main" id="{E9888311-2248-DE22-8AEF-EDBA12E3D8D2}"/>
              </a:ext>
            </a:extLst>
          </p:cNvPr>
          <p:cNvSpPr txBox="1"/>
          <p:nvPr/>
        </p:nvSpPr>
        <p:spPr>
          <a:xfrm>
            <a:off x="2834753" y="4276009"/>
            <a:ext cx="1221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100.0%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pic>
        <p:nvPicPr>
          <p:cNvPr id="12" name="Picture 11" descr="A green circle with a white tick in it&#10;&#10;AI-generated content may be incorrect.">
            <a:extLst>
              <a:ext uri="{FF2B5EF4-FFF2-40B4-BE49-F238E27FC236}">
                <a16:creationId xmlns:a16="http://schemas.microsoft.com/office/drawing/2014/main" id="{5CFE261B-B939-5E7B-9A36-D3E8A31C6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841" y="3842741"/>
            <a:ext cx="213364" cy="213364"/>
          </a:xfrm>
          <a:prstGeom prst="rect">
            <a:avLst/>
          </a:prstGeom>
        </p:spPr>
      </p:pic>
      <p:sp>
        <p:nvSpPr>
          <p:cNvPr id="178" name="TextBox 177">
            <a:extLst>
              <a:ext uri="{FF2B5EF4-FFF2-40B4-BE49-F238E27FC236}">
                <a16:creationId xmlns:a16="http://schemas.microsoft.com/office/drawing/2014/main" id="{D71643F4-F15A-C12C-E512-142344C49E3C}"/>
              </a:ext>
            </a:extLst>
          </p:cNvPr>
          <p:cNvSpPr txBox="1"/>
          <p:nvPr/>
        </p:nvSpPr>
        <p:spPr>
          <a:xfrm>
            <a:off x="673056" y="6542007"/>
            <a:ext cx="10656570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373C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  <a:hlinkClick r:id="" action="ppaction://noaction"/>
              </a:rPr>
              <a:t>View assessment details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373C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for migration of workloads to Azure, highlighting target details, readiness insights, Azure cost and clear recommendations aligned with the 6R migration framework.</a:t>
            </a:r>
          </a:p>
        </p:txBody>
      </p:sp>
      <p:graphicFrame>
        <p:nvGraphicFramePr>
          <p:cNvPr id="179" name="Chart 178" descr="&lt;bar chart&gt;&lt;Total_Workloads_MappingToApplication_Split&gt;">
            <a:extLst>
              <a:ext uri="{FF2B5EF4-FFF2-40B4-BE49-F238E27FC236}">
                <a16:creationId xmlns:a16="http://schemas.microsoft.com/office/drawing/2014/main" id="{E314486B-F735-2598-9791-FAC54DC14267}"/>
              </a:ext>
            </a:extLst>
          </p:cNvPr>
          <p:cNvGraphicFramePr/>
          <p:nvPr/>
        </p:nvGraphicFramePr>
        <p:xfrm>
          <a:off x="755245" y="1979105"/>
          <a:ext cx="3181718" cy="510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90" name="TextBox 189">
            <a:extLst>
              <a:ext uri="{FF2B5EF4-FFF2-40B4-BE49-F238E27FC236}">
                <a16:creationId xmlns:a16="http://schemas.microsoft.com/office/drawing/2014/main" id="{601ECACC-5319-56A3-C409-C2A8AFCE7667}"/>
              </a:ext>
            </a:extLst>
          </p:cNvPr>
          <p:cNvSpPr txBox="1"/>
          <p:nvPr/>
        </p:nvSpPr>
        <p:spPr>
          <a:xfrm>
            <a:off x="1022322" y="2382084"/>
            <a:ext cx="22632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Mapped to Applications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58BCBB00-6182-4BA0-0FDE-96115A1D2D9B}"/>
              </a:ext>
            </a:extLst>
          </p:cNvPr>
          <p:cNvSpPr/>
          <p:nvPr/>
        </p:nvSpPr>
        <p:spPr bwMode="auto">
          <a:xfrm>
            <a:off x="916887" y="2451922"/>
            <a:ext cx="108000" cy="108000"/>
          </a:xfrm>
          <a:prstGeom prst="rect">
            <a:avLst/>
          </a:prstGeom>
          <a:solidFill>
            <a:srgbClr val="637CEF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ED26EFDD-0934-43FB-7986-89904AF1A3AE}"/>
              </a:ext>
            </a:extLst>
          </p:cNvPr>
          <p:cNvSpPr txBox="1"/>
          <p:nvPr/>
        </p:nvSpPr>
        <p:spPr>
          <a:xfrm>
            <a:off x="1019838" y="2650046"/>
            <a:ext cx="1971194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Ungrouped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A0E541E7-7CA8-684D-0D36-680A19F851ED}"/>
              </a:ext>
            </a:extLst>
          </p:cNvPr>
          <p:cNvSpPr/>
          <p:nvPr/>
        </p:nvSpPr>
        <p:spPr bwMode="auto">
          <a:xfrm>
            <a:off x="916887" y="2725365"/>
            <a:ext cx="108000" cy="108000"/>
          </a:xfrm>
          <a:prstGeom prst="rect">
            <a:avLst/>
          </a:prstGeom>
          <a:solidFill>
            <a:srgbClr val="E3008C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0B940185-C982-1826-EA6D-045841A8C149}"/>
              </a:ext>
            </a:extLst>
          </p:cNvPr>
          <p:cNvSpPr txBox="1"/>
          <p:nvPr/>
        </p:nvSpPr>
        <p:spPr>
          <a:xfrm>
            <a:off x="825779" y="1455885"/>
            <a:ext cx="31723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Total Workloads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02" name="TextBox 201" descr="5">
            <a:extLst>
              <a:ext uri="{FF2B5EF4-FFF2-40B4-BE49-F238E27FC236}">
                <a16:creationId xmlns:a16="http://schemas.microsoft.com/office/drawing/2014/main" id="{8C6DD1FB-9C17-B0B6-FF70-D902AB527D18}"/>
              </a:ext>
            </a:extLst>
          </p:cNvPr>
          <p:cNvSpPr txBox="1"/>
          <p:nvPr/>
        </p:nvSpPr>
        <p:spPr>
          <a:xfrm>
            <a:off x="825779" y="1794439"/>
            <a:ext cx="34345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5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graphicFrame>
        <p:nvGraphicFramePr>
          <p:cNvPr id="233" name="Chart 232" descr="&lt;bar chart&gt;&lt;CustomerPreference_Split&gt;">
            <a:extLst>
              <a:ext uri="{FF2B5EF4-FFF2-40B4-BE49-F238E27FC236}">
                <a16:creationId xmlns:a16="http://schemas.microsoft.com/office/drawing/2014/main" id="{7E46A66A-EFF5-FDB4-D60E-A731420316F3}"/>
              </a:ext>
            </a:extLst>
          </p:cNvPr>
          <p:cNvGraphicFramePr/>
          <p:nvPr/>
        </p:nvGraphicFramePr>
        <p:xfrm>
          <a:off x="4672591" y="1979105"/>
          <a:ext cx="3091209" cy="510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34" name="TextBox 233">
            <a:extLst>
              <a:ext uri="{FF2B5EF4-FFF2-40B4-BE49-F238E27FC236}">
                <a16:creationId xmlns:a16="http://schemas.microsoft.com/office/drawing/2014/main" id="{998908D4-2A66-5461-CF31-926C8EB1833B}"/>
              </a:ext>
            </a:extLst>
          </p:cNvPr>
          <p:cNvSpPr txBox="1"/>
          <p:nvPr/>
        </p:nvSpPr>
        <p:spPr>
          <a:xfrm>
            <a:off x="4939668" y="2382084"/>
            <a:ext cx="22632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Modernization / Migration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Segoe UI" pitchFamily="34" charset="0"/>
              <a:cs typeface="Segoe Sans Text" pitchFamily="2" charset="0"/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526C5EC8-496E-5C72-B16F-F7D57F9F46D2}"/>
              </a:ext>
            </a:extLst>
          </p:cNvPr>
          <p:cNvSpPr/>
          <p:nvPr/>
        </p:nvSpPr>
        <p:spPr bwMode="auto">
          <a:xfrm>
            <a:off x="4834233" y="2451922"/>
            <a:ext cx="108000" cy="108000"/>
          </a:xfrm>
          <a:prstGeom prst="rect">
            <a:avLst/>
          </a:prstGeom>
          <a:solidFill>
            <a:srgbClr val="637CEF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422FB12-9420-CF0C-AB51-37E06C25285A}"/>
              </a:ext>
            </a:extLst>
          </p:cNvPr>
          <p:cNvSpPr txBox="1"/>
          <p:nvPr/>
        </p:nvSpPr>
        <p:spPr>
          <a:xfrm>
            <a:off x="4937184" y="2650046"/>
            <a:ext cx="1971194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Retain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D5F6F1FB-D152-A824-3321-7CC4583CD585}"/>
              </a:ext>
            </a:extLst>
          </p:cNvPr>
          <p:cNvSpPr/>
          <p:nvPr/>
        </p:nvSpPr>
        <p:spPr bwMode="auto">
          <a:xfrm>
            <a:off x="4834233" y="2725365"/>
            <a:ext cx="108000" cy="108000"/>
          </a:xfrm>
          <a:prstGeom prst="rect">
            <a:avLst/>
          </a:prstGeom>
          <a:solidFill>
            <a:srgbClr val="E3008C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CB1F425B-80E6-9180-283B-3D809B20D47E}"/>
              </a:ext>
            </a:extLst>
          </p:cNvPr>
          <p:cNvSpPr txBox="1"/>
          <p:nvPr/>
        </p:nvSpPr>
        <p:spPr>
          <a:xfrm>
            <a:off x="4937184" y="2899773"/>
            <a:ext cx="19711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Retire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329F58F5-EDC9-176F-91E5-F3F35897A725}"/>
              </a:ext>
            </a:extLst>
          </p:cNvPr>
          <p:cNvSpPr/>
          <p:nvPr/>
        </p:nvSpPr>
        <p:spPr bwMode="auto">
          <a:xfrm>
            <a:off x="4834233" y="2975092"/>
            <a:ext cx="108000" cy="108000"/>
          </a:xfrm>
          <a:prstGeom prst="rect">
            <a:avLst/>
          </a:prstGeom>
          <a:solidFill>
            <a:srgbClr val="2AA0A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53" name="TextBox 252" descr="0">
            <a:extLst>
              <a:ext uri="{FF2B5EF4-FFF2-40B4-BE49-F238E27FC236}">
                <a16:creationId xmlns:a16="http://schemas.microsoft.com/office/drawing/2014/main" id="{D4185DBF-9D5D-4D5D-B285-4E13D63806FB}"/>
              </a:ext>
            </a:extLst>
          </p:cNvPr>
          <p:cNvSpPr txBox="1"/>
          <p:nvPr/>
        </p:nvSpPr>
        <p:spPr>
          <a:xfrm>
            <a:off x="2678999" y="2400551"/>
            <a:ext cx="1221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54" name="TextBox 253" descr="5">
            <a:extLst>
              <a:ext uri="{FF2B5EF4-FFF2-40B4-BE49-F238E27FC236}">
                <a16:creationId xmlns:a16="http://schemas.microsoft.com/office/drawing/2014/main" id="{02620030-7F99-2611-E010-023FC9CA43ED}"/>
              </a:ext>
            </a:extLst>
          </p:cNvPr>
          <p:cNvSpPr txBox="1"/>
          <p:nvPr/>
        </p:nvSpPr>
        <p:spPr>
          <a:xfrm>
            <a:off x="1949946" y="2650045"/>
            <a:ext cx="1950541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55" name="TextBox 254" descr="5">
            <a:extLst>
              <a:ext uri="{FF2B5EF4-FFF2-40B4-BE49-F238E27FC236}">
                <a16:creationId xmlns:a16="http://schemas.microsoft.com/office/drawing/2014/main" id="{0D0782F5-B509-14C5-1EAE-CDCD5BFE388B}"/>
              </a:ext>
            </a:extLst>
          </p:cNvPr>
          <p:cNvSpPr txBox="1"/>
          <p:nvPr/>
        </p:nvSpPr>
        <p:spPr>
          <a:xfrm>
            <a:off x="6812281" y="2381852"/>
            <a:ext cx="1101548" cy="277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56" name="TextBox 255" descr="0">
            <a:extLst>
              <a:ext uri="{FF2B5EF4-FFF2-40B4-BE49-F238E27FC236}">
                <a16:creationId xmlns:a16="http://schemas.microsoft.com/office/drawing/2014/main" id="{3FE645BE-33BC-CBC2-CD8E-6D96705ABFC8}"/>
              </a:ext>
            </a:extLst>
          </p:cNvPr>
          <p:cNvSpPr txBox="1"/>
          <p:nvPr/>
        </p:nvSpPr>
        <p:spPr>
          <a:xfrm>
            <a:off x="5559865" y="2650046"/>
            <a:ext cx="2353964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57" name="TextBox 256" descr="0">
            <a:extLst>
              <a:ext uri="{FF2B5EF4-FFF2-40B4-BE49-F238E27FC236}">
                <a16:creationId xmlns:a16="http://schemas.microsoft.com/office/drawing/2014/main" id="{1E4FAF1A-B569-2B91-7E2C-7E47F51FE8FC}"/>
              </a:ext>
            </a:extLst>
          </p:cNvPr>
          <p:cNvSpPr txBox="1"/>
          <p:nvPr/>
        </p:nvSpPr>
        <p:spPr>
          <a:xfrm>
            <a:off x="5559865" y="2899773"/>
            <a:ext cx="2353964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" name="TextBox 1" descr="Visit Azure Migrate portal for details">
            <a:extLst>
              <a:ext uri="{FF2B5EF4-FFF2-40B4-BE49-F238E27FC236}">
                <a16:creationId xmlns:a16="http://schemas.microsoft.com/office/drawing/2014/main" id="{080C11E5-DB54-45BC-ABD3-7B0E215A2E02}"/>
              </a:ext>
            </a:extLst>
          </p:cNvPr>
          <p:cNvSpPr txBox="1"/>
          <p:nvPr/>
        </p:nvSpPr>
        <p:spPr>
          <a:xfrm>
            <a:off x="9298258" y="446818"/>
            <a:ext cx="256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latin typeface="Aptos"/>
              </a:rPr>
              <a:t>Visit </a:t>
            </a:r>
            <a:r>
              <a:rPr sz="1050" b="0" i="0">
                <a:latin typeface="Aptos"/>
                <a:hlinkClick r:id="rId8"/>
              </a:rPr>
              <a:t>Azure Migrate</a:t>
            </a:r>
            <a:r>
              <a:rPr sz="1050" b="0" i="0">
                <a:latin typeface="Aptos"/>
              </a:rPr>
              <a:t> portal for details</a:t>
            </a:r>
          </a:p>
        </p:txBody>
      </p:sp>
    </p:spTree>
    <p:extLst>
      <p:ext uri="{BB962C8B-B14F-4D97-AF65-F5344CB8AC3E}">
        <p14:creationId xmlns:p14="http://schemas.microsoft.com/office/powerpoint/2010/main" val="938576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A7703-798A-2B12-A832-148F5F236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0B281C4-2557-63D4-406C-598D6D0AB532}"/>
              </a:ext>
            </a:extLst>
          </p:cNvPr>
          <p:cNvSpPr/>
          <p:nvPr/>
        </p:nvSpPr>
        <p:spPr>
          <a:xfrm>
            <a:off x="710121" y="3861693"/>
            <a:ext cx="11188326" cy="2142976"/>
          </a:xfrm>
          <a:prstGeom prst="roundRect">
            <a:avLst>
              <a:gd name="adj" fmla="val 5723"/>
            </a:avLst>
          </a:prstGeom>
          <a:gradFill flip="none" rotWithShape="1"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Segoe UI" pitchFamily="34" charset="0"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042CEC3-58A6-063A-CAA2-FBB2F6983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99" y="457200"/>
            <a:ext cx="5454685" cy="55399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Segoe Sans Text" pitchFamily="2" charset="0"/>
                <a:cs typeface="Segoe Sans Text" pitchFamily="2" charset="0"/>
              </a:rPr>
              <a:t>Security 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7F78FF-0C22-B22A-5F42-CBBB82489AA5}"/>
              </a:ext>
            </a:extLst>
          </p:cNvPr>
          <p:cNvSpPr txBox="1"/>
          <p:nvPr/>
        </p:nvSpPr>
        <p:spPr>
          <a:xfrm>
            <a:off x="628982" y="1015937"/>
            <a:ext cx="9481445" cy="193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Enable unified threat protection across hybrid and multi-cloud environments through Microsoft Defender for Cloud.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03EDF8-2BA5-AA93-1E1D-2FF60A6B1E95}"/>
              </a:ext>
            </a:extLst>
          </p:cNvPr>
          <p:cNvSpPr txBox="1"/>
          <p:nvPr/>
        </p:nvSpPr>
        <p:spPr>
          <a:xfrm>
            <a:off x="934806" y="5698529"/>
            <a:ext cx="9818817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92075" marR="0" lvl="0" indent="-92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Datasets represented in bar charts are not mutually exclusive and therefore do not sum up to the number of each resource with security risks.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502433E-BC2F-4130-99C4-F788BAACC9F5}"/>
              </a:ext>
            </a:extLst>
          </p:cNvPr>
          <p:cNvSpPr/>
          <p:nvPr/>
        </p:nvSpPr>
        <p:spPr>
          <a:xfrm flipV="1">
            <a:off x="738347" y="1363701"/>
            <a:ext cx="3723323" cy="108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9" name="Group 8" descr="&lt;bar chart&gt;&lt;ServerSecurityRisksBarChart&gt;">
            <a:extLst>
              <a:ext uri="{FF2B5EF4-FFF2-40B4-BE49-F238E27FC236}">
                <a16:creationId xmlns:a16="http://schemas.microsoft.com/office/drawing/2014/main" id="{6AA06730-A1C7-6145-ED68-9B0ED1F43310}"/>
              </a:ext>
            </a:extLst>
          </p:cNvPr>
          <p:cNvGrpSpPr/>
          <p:nvPr/>
        </p:nvGrpSpPr>
        <p:grpSpPr>
          <a:xfrm>
            <a:off x="5935980" y="1348723"/>
            <a:ext cx="5928837" cy="2379082"/>
            <a:chOff x="5935980" y="1348723"/>
            <a:chExt cx="5928837" cy="237908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EF7CB8E-3DE7-9358-8C24-F6DD101393E1}"/>
                </a:ext>
              </a:extLst>
            </p:cNvPr>
            <p:cNvSpPr txBox="1"/>
            <p:nvPr/>
          </p:nvSpPr>
          <p:spPr>
            <a:xfrm>
              <a:off x="6034464" y="1412406"/>
              <a:ext cx="4394265" cy="2215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Servers with critical security risks</a:t>
              </a:r>
            </a:p>
          </p:txBody>
        </p:sp>
        <p:graphicFrame>
          <p:nvGraphicFramePr>
            <p:cNvPr id="6" name="Chart 5" descr="&lt;bar chart&gt;&lt;ServerSecurityRisksBarChart&gt;">
              <a:extLst>
                <a:ext uri="{FF2B5EF4-FFF2-40B4-BE49-F238E27FC236}">
                  <a16:creationId xmlns:a16="http://schemas.microsoft.com/office/drawing/2014/main" id="{F94E6599-D8DA-19B9-816A-D4F53AF16B35}"/>
                </a:ext>
              </a:extLst>
            </p:cNvPr>
            <p:cNvGraphicFramePr/>
            <p:nvPr/>
          </p:nvGraphicFramePr>
          <p:xfrm>
            <a:off x="5935980" y="1768705"/>
            <a:ext cx="5394726" cy="19591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FC58303-44F5-BB8C-DF05-114248919184}"/>
                </a:ext>
              </a:extLst>
            </p:cNvPr>
            <p:cNvSpPr/>
            <p:nvPr/>
          </p:nvSpPr>
          <p:spPr>
            <a:xfrm flipV="1">
              <a:off x="6030685" y="1348723"/>
              <a:ext cx="5834132" cy="1080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62" name="Title 1">
            <a:extLst>
              <a:ext uri="{FF2B5EF4-FFF2-40B4-BE49-F238E27FC236}">
                <a16:creationId xmlns:a16="http://schemas.microsoft.com/office/drawing/2014/main" id="{B9170903-400F-6D46-8E33-B5C95744B776}"/>
              </a:ext>
            </a:extLst>
          </p:cNvPr>
          <p:cNvSpPr txBox="1">
            <a:spLocks/>
          </p:cNvSpPr>
          <p:nvPr/>
        </p:nvSpPr>
        <p:spPr>
          <a:xfrm>
            <a:off x="960566" y="4203502"/>
            <a:ext cx="3150391" cy="2215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-50" baseline="0" dirty="0">
                <a:ln w="3175">
                  <a:noFill/>
                </a:ln>
                <a:solidFill>
                  <a:srgbClr val="000000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600" b="0" i="0" u="none" strike="noStrike" kern="1200" cap="none" spc="-50" normalizeH="0" baseline="0" noProof="0">
                <a:ln w="3175"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Software with critical security risks </a:t>
            </a:r>
          </a:p>
        </p:txBody>
      </p:sp>
      <p:graphicFrame>
        <p:nvGraphicFramePr>
          <p:cNvPr id="68" name="Chart 67" descr="&lt;bar chart&gt;&lt;SoftwareVulnerabilityEndOfSupportBarChart&gt;">
            <a:extLst>
              <a:ext uri="{FF2B5EF4-FFF2-40B4-BE49-F238E27FC236}">
                <a16:creationId xmlns:a16="http://schemas.microsoft.com/office/drawing/2014/main" id="{EC606EE1-11A2-D306-C077-E6DE7960581D}"/>
              </a:ext>
            </a:extLst>
          </p:cNvPr>
          <p:cNvGraphicFramePr/>
          <p:nvPr/>
        </p:nvGraphicFramePr>
        <p:xfrm>
          <a:off x="960566" y="4752339"/>
          <a:ext cx="2969211" cy="906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5" name="TextBox 84" descr="1 / 24">
            <a:extLst>
              <a:ext uri="{FF2B5EF4-FFF2-40B4-BE49-F238E27FC236}">
                <a16:creationId xmlns:a16="http://schemas.microsoft.com/office/drawing/2014/main" id="{69D65613-0FCF-5FB2-2E7C-9E8866523CE9}"/>
              </a:ext>
            </a:extLst>
          </p:cNvPr>
          <p:cNvSpPr txBox="1"/>
          <p:nvPr/>
        </p:nvSpPr>
        <p:spPr>
          <a:xfrm>
            <a:off x="867595" y="4396745"/>
            <a:ext cx="240362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1 / 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Segoe UI" pitchFamily="34" charset="0"/>
              <a:cs typeface="Segoe Sans Text" pitchFamily="2" charset="0"/>
            </a:endParaRP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8E62ACE5-18BC-D15F-00DB-6E2C386C8AAC}"/>
              </a:ext>
            </a:extLst>
          </p:cNvPr>
          <p:cNvSpPr txBox="1">
            <a:spLocks/>
          </p:cNvSpPr>
          <p:nvPr/>
        </p:nvSpPr>
        <p:spPr>
          <a:xfrm>
            <a:off x="4440844" y="4203503"/>
            <a:ext cx="3798355" cy="2215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-50" baseline="0" dirty="0">
                <a:ln w="3175">
                  <a:noFill/>
                </a:ln>
                <a:solidFill>
                  <a:srgbClr val="000000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600" b="0" i="0" u="none" strike="noStrike" kern="1200" cap="none" spc="-50" normalizeH="0" baseline="0" noProof="0" dirty="0">
                <a:ln w="3175"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Database instances with critical security risks</a:t>
            </a:r>
          </a:p>
        </p:txBody>
      </p:sp>
      <p:graphicFrame>
        <p:nvGraphicFramePr>
          <p:cNvPr id="69" name="Chart 68" descr="&lt;bar chart&gt;&lt;DatabaseSecurityRisksBarChart&gt;">
            <a:extLst>
              <a:ext uri="{FF2B5EF4-FFF2-40B4-BE49-F238E27FC236}">
                <a16:creationId xmlns:a16="http://schemas.microsoft.com/office/drawing/2014/main" id="{E3E64E0E-C189-14E0-23C5-CC0EFE25A3BA}"/>
              </a:ext>
            </a:extLst>
          </p:cNvPr>
          <p:cNvGraphicFramePr/>
          <p:nvPr/>
        </p:nvGraphicFramePr>
        <p:xfrm>
          <a:off x="4555679" y="4724803"/>
          <a:ext cx="3546892" cy="906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7" name="TextBox 86" descr="0/1">
            <a:extLst>
              <a:ext uri="{FF2B5EF4-FFF2-40B4-BE49-F238E27FC236}">
                <a16:creationId xmlns:a16="http://schemas.microsoft.com/office/drawing/2014/main" id="{B75F7498-FE7C-EEBA-B689-B6C90BE63893}"/>
              </a:ext>
            </a:extLst>
          </p:cNvPr>
          <p:cNvSpPr txBox="1"/>
          <p:nvPr/>
        </p:nvSpPr>
        <p:spPr>
          <a:xfrm>
            <a:off x="4372991" y="4396745"/>
            <a:ext cx="29272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0/1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B70FA3A1-A903-CD4B-A533-A7D8E019F220}"/>
              </a:ext>
            </a:extLst>
          </p:cNvPr>
          <p:cNvSpPr txBox="1">
            <a:spLocks/>
          </p:cNvSpPr>
          <p:nvPr/>
        </p:nvSpPr>
        <p:spPr>
          <a:xfrm>
            <a:off x="8555058" y="4203502"/>
            <a:ext cx="3415998" cy="2215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-50" baseline="0" dirty="0">
                <a:ln w="3175">
                  <a:noFill/>
                </a:ln>
                <a:solidFill>
                  <a:srgbClr val="000000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600" b="0" i="0" u="none" strike="noStrike" kern="1200" cap="none" spc="-50" normalizeH="0" baseline="0" noProof="0">
                <a:ln w="3175"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Web apps with critical security risks</a:t>
            </a:r>
          </a:p>
        </p:txBody>
      </p:sp>
      <p:graphicFrame>
        <p:nvGraphicFramePr>
          <p:cNvPr id="70" name="Chart 69" descr="&lt;bar chart&gt;&lt;WebAppSecurityRisksBarChart&gt;">
            <a:extLst>
              <a:ext uri="{FF2B5EF4-FFF2-40B4-BE49-F238E27FC236}">
                <a16:creationId xmlns:a16="http://schemas.microsoft.com/office/drawing/2014/main" id="{F486035C-1FFF-1041-792D-4C7A5DEC0844}"/>
              </a:ext>
            </a:extLst>
          </p:cNvPr>
          <p:cNvGraphicFramePr/>
          <p:nvPr/>
        </p:nvGraphicFramePr>
        <p:xfrm>
          <a:off x="8555058" y="4752339"/>
          <a:ext cx="2875480" cy="906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8" name="TextBox 87" descr="2/2">
            <a:extLst>
              <a:ext uri="{FF2B5EF4-FFF2-40B4-BE49-F238E27FC236}">
                <a16:creationId xmlns:a16="http://schemas.microsoft.com/office/drawing/2014/main" id="{55AD1FC3-BA6E-F2DE-0B97-D44ECB968D3C}"/>
              </a:ext>
            </a:extLst>
          </p:cNvPr>
          <p:cNvSpPr txBox="1"/>
          <p:nvPr/>
        </p:nvSpPr>
        <p:spPr>
          <a:xfrm>
            <a:off x="8489430" y="4396745"/>
            <a:ext cx="2834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2/2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234005-43B0-71FE-1B0A-D67E710BA83F}"/>
              </a:ext>
            </a:extLst>
          </p:cNvPr>
          <p:cNvSpPr txBox="1"/>
          <p:nvPr/>
        </p:nvSpPr>
        <p:spPr>
          <a:xfrm>
            <a:off x="658813" y="6549767"/>
            <a:ext cx="11160100" cy="2769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373C0"/>
                </a:solidFill>
                <a:effectLst/>
                <a:uLnTx/>
                <a:uFillTx/>
                <a:latin typeface="Segoe Sans Text"/>
                <a:ea typeface="+mn-ea"/>
                <a:cs typeface="Segoe Sans Text"/>
                <a:hlinkClick r:id="" action="ppaction://noaction"/>
              </a:rPr>
              <a:t>Explore in-depth security insights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373C0"/>
                </a:solidFill>
                <a:effectLst/>
                <a:uLnTx/>
                <a:uFillTx/>
                <a:latin typeface="Segoe Sans Text"/>
                <a:ea typeface="+mn-ea"/>
                <a:cs typeface="Segoe Sans Text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/>
                <a:ea typeface="+mn-ea"/>
                <a:cs typeface="Segoe Sans Text"/>
              </a:rPr>
              <a:t>to identify vulnerabilities across servers, software, databases, and web apps, and see how replacing existing tools with Azure-native equivalents can strengthen security posture while reducing costs.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447F5-7B4F-59E8-0C36-DA780F7323F2}"/>
              </a:ext>
            </a:extLst>
          </p:cNvPr>
          <p:cNvSpPr txBox="1"/>
          <p:nvPr/>
        </p:nvSpPr>
        <p:spPr>
          <a:xfrm>
            <a:off x="590609" y="6240103"/>
            <a:ext cx="89774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Assumption - Vulnerabilities are sourced from National Vulnerability Database </a:t>
            </a:r>
            <a:r>
              <a:rPr kumimoji="0" lang="en-IN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  <a:hlinkClick r:id="rId7"/>
              </a:rPr>
              <a:t>(https://www.nist.gov/) </a:t>
            </a:r>
            <a:r>
              <a:rPr kumimoji="0" lang="en-IN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and mapped to discovered software.</a:t>
            </a:r>
          </a:p>
        </p:txBody>
      </p:sp>
      <p:sp>
        <p:nvSpPr>
          <p:cNvPr id="3" name="TextBox 2" descr="Visit Azure Migrate portal for details">
            <a:extLst>
              <a:ext uri="{FF2B5EF4-FFF2-40B4-BE49-F238E27FC236}">
                <a16:creationId xmlns:a16="http://schemas.microsoft.com/office/drawing/2014/main" id="{F7EEBE5F-2C11-98AE-5746-1CFE6A878F02}"/>
              </a:ext>
            </a:extLst>
          </p:cNvPr>
          <p:cNvSpPr txBox="1"/>
          <p:nvPr/>
        </p:nvSpPr>
        <p:spPr>
          <a:xfrm>
            <a:off x="9435295" y="564386"/>
            <a:ext cx="256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latin typeface="Aptos"/>
              </a:rPr>
              <a:t>Visit </a:t>
            </a:r>
            <a:r>
              <a:rPr sz="1050" b="0" i="0">
                <a:latin typeface="Aptos"/>
                <a:hlinkClick r:id="rId8"/>
              </a:rPr>
              <a:t>Azure Migrate</a:t>
            </a:r>
            <a:r>
              <a:rPr sz="1050" b="0" i="0">
                <a:latin typeface="Aptos"/>
              </a:rPr>
              <a:t> portal for details</a:t>
            </a:r>
          </a:p>
        </p:txBody>
      </p:sp>
      <p:sp>
        <p:nvSpPr>
          <p:cNvPr id="2" name="TextBox 1" descr="2/2">
            <a:extLst>
              <a:ext uri="{FF2B5EF4-FFF2-40B4-BE49-F238E27FC236}">
                <a16:creationId xmlns:a16="http://schemas.microsoft.com/office/drawing/2014/main" id="{4CCE80CE-9615-4977-2730-B4304C13BA6D}"/>
              </a:ext>
            </a:extLst>
          </p:cNvPr>
          <p:cNvSpPr txBox="1"/>
          <p:nvPr/>
        </p:nvSpPr>
        <p:spPr>
          <a:xfrm>
            <a:off x="9848538" y="1343459"/>
            <a:ext cx="197037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2/2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Segoe UI" pitchFamily="34" charset="0"/>
              <a:cs typeface="Segoe Sans Text" pitchFamily="2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0216361-94CC-5BB9-8944-6768D6832900}"/>
              </a:ext>
            </a:extLst>
          </p:cNvPr>
          <p:cNvSpPr txBox="1">
            <a:spLocks/>
          </p:cNvSpPr>
          <p:nvPr/>
        </p:nvSpPr>
        <p:spPr>
          <a:xfrm>
            <a:off x="758285" y="1412406"/>
            <a:ext cx="3723323" cy="2215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-50" baseline="0" dirty="0">
                <a:ln w="3175">
                  <a:noFill/>
                </a:ln>
                <a:solidFill>
                  <a:srgbClr val="000000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600" b="0" i="0" u="none" strike="noStrike" kern="1200" cap="none" spc="-50" normalizeH="0" baseline="0" noProof="0" dirty="0">
                <a:ln w="3175"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Security software categorization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FB8EF71-2FF9-9366-5B19-82476D2EE1EC}"/>
              </a:ext>
            </a:extLst>
          </p:cNvPr>
          <p:cNvGrpSpPr/>
          <p:nvPr/>
        </p:nvGrpSpPr>
        <p:grpSpPr>
          <a:xfrm>
            <a:off x="2668741" y="1935818"/>
            <a:ext cx="1886937" cy="400110"/>
            <a:chOff x="2614854" y="1935818"/>
            <a:chExt cx="1886937" cy="400110"/>
          </a:xfrm>
        </p:grpSpPr>
        <p:sp>
          <p:nvSpPr>
            <p:cNvPr id="20" name="TextBox 19" descr="0">
              <a:extLst>
                <a:ext uri="{FF2B5EF4-FFF2-40B4-BE49-F238E27FC236}">
                  <a16:creationId xmlns:a16="http://schemas.microsoft.com/office/drawing/2014/main" id="{F5463B20-786C-724E-B855-286FAB31BBDD}"/>
                </a:ext>
              </a:extLst>
            </p:cNvPr>
            <p:cNvSpPr txBox="1"/>
            <p:nvPr/>
          </p:nvSpPr>
          <p:spPr>
            <a:xfrm>
              <a:off x="4079281" y="1935818"/>
              <a:ext cx="422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0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452C53D-7BA3-FF66-8D08-C94E2122CF6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614854" y="2015145"/>
              <a:ext cx="108000" cy="108000"/>
            </a:xfrm>
            <a:prstGeom prst="rect">
              <a:avLst/>
            </a:prstGeom>
            <a:solidFill>
              <a:srgbClr val="637CEF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 pitchFamily="2" charset="0"/>
                <a:ea typeface="Segoe UI" panose="020B0502040204020203" pitchFamily="34" charset="0"/>
                <a:cs typeface="Segoe Sans Text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125BF37-25FD-B318-D1CF-4DCB2EE6339C}"/>
                </a:ext>
              </a:extLst>
            </p:cNvPr>
            <p:cNvSpPr txBox="1"/>
            <p:nvPr/>
          </p:nvSpPr>
          <p:spPr>
            <a:xfrm>
              <a:off x="2727581" y="1935818"/>
              <a:ext cx="142874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Endpoint Detection &amp; Response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D5E4FD1-D253-EF1B-8236-BC9865A22F7D}"/>
              </a:ext>
            </a:extLst>
          </p:cNvPr>
          <p:cNvGrpSpPr/>
          <p:nvPr/>
        </p:nvGrpSpPr>
        <p:grpSpPr>
          <a:xfrm>
            <a:off x="2668741" y="2381235"/>
            <a:ext cx="1886937" cy="246221"/>
            <a:chOff x="2614854" y="2381235"/>
            <a:chExt cx="1886937" cy="24622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849278A-3738-159C-E425-49E2807A40D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614854" y="2450345"/>
              <a:ext cx="108000" cy="108000"/>
            </a:xfrm>
            <a:prstGeom prst="rect">
              <a:avLst/>
            </a:prstGeom>
            <a:solidFill>
              <a:srgbClr val="E3008C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 pitchFamily="2" charset="0"/>
                <a:ea typeface="Segoe UI" panose="020B0502040204020203" pitchFamily="34" charset="0"/>
                <a:cs typeface="Segoe Sans Text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3737701-C395-BD2A-849B-19CB62FFBAC2}"/>
                </a:ext>
              </a:extLst>
            </p:cNvPr>
            <p:cNvSpPr txBox="1"/>
            <p:nvPr/>
          </p:nvSpPr>
          <p:spPr>
            <a:xfrm>
              <a:off x="2725092" y="2381235"/>
              <a:ext cx="113686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SIEM</a:t>
              </a:r>
            </a:p>
          </p:txBody>
        </p:sp>
        <p:sp>
          <p:nvSpPr>
            <p:cNvPr id="28" name="TextBox 27" descr="0">
              <a:extLst>
                <a:ext uri="{FF2B5EF4-FFF2-40B4-BE49-F238E27FC236}">
                  <a16:creationId xmlns:a16="http://schemas.microsoft.com/office/drawing/2014/main" id="{B6279B16-BA7B-5F88-5382-90E9026E8BC6}"/>
                </a:ext>
              </a:extLst>
            </p:cNvPr>
            <p:cNvSpPr txBox="1"/>
            <p:nvPr/>
          </p:nvSpPr>
          <p:spPr>
            <a:xfrm>
              <a:off x="4079281" y="2381235"/>
              <a:ext cx="422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0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329132-52F9-8A4D-A9F9-E9F4A4C768C1}"/>
              </a:ext>
            </a:extLst>
          </p:cNvPr>
          <p:cNvGrpSpPr/>
          <p:nvPr/>
        </p:nvGrpSpPr>
        <p:grpSpPr>
          <a:xfrm>
            <a:off x="2668741" y="2672763"/>
            <a:ext cx="1886937" cy="246221"/>
            <a:chOff x="2614854" y="2672763"/>
            <a:chExt cx="1886937" cy="24622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8316AAB-B76A-5FE3-7A17-94C7344CFBC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614854" y="2741873"/>
              <a:ext cx="108000" cy="108000"/>
            </a:xfrm>
            <a:prstGeom prst="rect">
              <a:avLst/>
            </a:prstGeom>
            <a:solidFill>
              <a:srgbClr val="2AA0A5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 pitchFamily="2" charset="0"/>
                <a:ea typeface="Segoe UI" panose="020B0502040204020203" pitchFamily="34" charset="0"/>
                <a:cs typeface="Segoe Sans Text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1F3F05A-E50E-3BE2-D19C-068565ECEFCB}"/>
                </a:ext>
              </a:extLst>
            </p:cNvPr>
            <p:cNvSpPr txBox="1"/>
            <p:nvPr/>
          </p:nvSpPr>
          <p:spPr>
            <a:xfrm>
              <a:off x="2700714" y="2672763"/>
              <a:ext cx="57758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IAM</a:t>
              </a:r>
            </a:p>
          </p:txBody>
        </p:sp>
        <p:sp>
          <p:nvSpPr>
            <p:cNvPr id="32" name="TextBox 31" descr="0">
              <a:extLst>
                <a:ext uri="{FF2B5EF4-FFF2-40B4-BE49-F238E27FC236}">
                  <a16:creationId xmlns:a16="http://schemas.microsoft.com/office/drawing/2014/main" id="{1DD7EDB1-F9EB-3CD5-1701-001E3A72D8EC}"/>
                </a:ext>
              </a:extLst>
            </p:cNvPr>
            <p:cNvSpPr txBox="1"/>
            <p:nvPr/>
          </p:nvSpPr>
          <p:spPr>
            <a:xfrm>
              <a:off x="4079281" y="2672763"/>
              <a:ext cx="422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0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8FA678D-5100-ACCD-4C24-D4C192B0FBED}"/>
              </a:ext>
            </a:extLst>
          </p:cNvPr>
          <p:cNvGrpSpPr/>
          <p:nvPr/>
        </p:nvGrpSpPr>
        <p:grpSpPr>
          <a:xfrm>
            <a:off x="2668741" y="2964291"/>
            <a:ext cx="1886937" cy="246221"/>
            <a:chOff x="2614854" y="2964291"/>
            <a:chExt cx="1886937" cy="24622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FC09071-FA35-B79D-47C6-84B961431FF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614854" y="3033401"/>
              <a:ext cx="108000" cy="108000"/>
            </a:xfrm>
            <a:prstGeom prst="rect">
              <a:avLst/>
            </a:prstGeom>
            <a:solidFill>
              <a:srgbClr val="9373C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 pitchFamily="2" charset="0"/>
                <a:ea typeface="Segoe UI" panose="020B0502040204020203" pitchFamily="34" charset="0"/>
                <a:cs typeface="Segoe Sans Text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DC7A4EE-3A32-D33B-0E1A-CBC15118660C}"/>
                </a:ext>
              </a:extLst>
            </p:cNvPr>
            <p:cNvSpPr txBox="1"/>
            <p:nvPr/>
          </p:nvSpPr>
          <p:spPr>
            <a:xfrm>
              <a:off x="2700713" y="2964291"/>
              <a:ext cx="134866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0" i="0" u="none" strike="noStrike" kern="1200" baseline="0">
                  <a:solidFill>
                    <a:prstClr val="black"/>
                  </a:solidFill>
                  <a:latin typeface="+mj-lt"/>
                  <a:ea typeface="+mn-ea"/>
                  <a:cs typeface="+mn-cs"/>
                </a:defRPr>
              </a:pPr>
              <a:fld id="{7FC5D5A8-61D2-5A40-AA75-6D8268911B30}" type="CATEGORYNAME"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100" b="0" i="0" u="none" strike="noStrike" kern="1200" baseline="0">
                    <a:solidFill>
                      <a:prstClr val="black"/>
                    </a:solidFill>
                    <a:latin typeface="+mj-lt"/>
                    <a:ea typeface="+mn-ea"/>
                    <a:cs typeface="+mn-cs"/>
                  </a:defRPr>
                </a:pPr>
                <a:t>Patch management</a:t>
              </a:fld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39" name="TextBox 38" descr="0">
              <a:extLst>
                <a:ext uri="{FF2B5EF4-FFF2-40B4-BE49-F238E27FC236}">
                  <a16:creationId xmlns:a16="http://schemas.microsoft.com/office/drawing/2014/main" id="{E1D9F19B-C080-149D-1A4D-6EDCE0F3AB28}"/>
                </a:ext>
              </a:extLst>
            </p:cNvPr>
            <p:cNvSpPr txBox="1"/>
            <p:nvPr/>
          </p:nvSpPr>
          <p:spPr>
            <a:xfrm>
              <a:off x="4079281" y="2964291"/>
              <a:ext cx="422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0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6337D8F-29CD-480D-6D01-25EAA9246B15}"/>
              </a:ext>
            </a:extLst>
          </p:cNvPr>
          <p:cNvGrpSpPr/>
          <p:nvPr/>
        </p:nvGrpSpPr>
        <p:grpSpPr>
          <a:xfrm>
            <a:off x="2668741" y="3255820"/>
            <a:ext cx="1886937" cy="400110"/>
            <a:chOff x="2614854" y="3255820"/>
            <a:chExt cx="1886937" cy="40011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88C86D6-D9E0-0FCC-20BF-4E007C97A95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614854" y="3324930"/>
              <a:ext cx="108000" cy="108000"/>
            </a:xfrm>
            <a:prstGeom prst="rect">
              <a:avLst/>
            </a:prstGeom>
            <a:solidFill>
              <a:srgbClr val="3996DD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 pitchFamily="2" charset="0"/>
                <a:ea typeface="Segoe UI" panose="020B0502040204020203" pitchFamily="34" charset="0"/>
                <a:cs typeface="Segoe Sans Text" pitchFamily="2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ABEEAB6-0A28-1331-AEE1-ED87CD4AECAE}"/>
                </a:ext>
              </a:extLst>
            </p:cNvPr>
            <p:cNvSpPr txBox="1"/>
            <p:nvPr/>
          </p:nvSpPr>
          <p:spPr>
            <a:xfrm>
              <a:off x="2700713" y="3255820"/>
              <a:ext cx="116124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General Security tools</a:t>
              </a:r>
            </a:p>
          </p:txBody>
        </p:sp>
        <p:sp>
          <p:nvSpPr>
            <p:cNvPr id="49" name="TextBox 48" descr="0">
              <a:extLst>
                <a:ext uri="{FF2B5EF4-FFF2-40B4-BE49-F238E27FC236}">
                  <a16:creationId xmlns:a16="http://schemas.microsoft.com/office/drawing/2014/main" id="{4C59A3FC-6737-31C3-00CE-4B040E269E5F}"/>
                </a:ext>
              </a:extLst>
            </p:cNvPr>
            <p:cNvSpPr txBox="1"/>
            <p:nvPr/>
          </p:nvSpPr>
          <p:spPr>
            <a:xfrm>
              <a:off x="4079281" y="3255820"/>
              <a:ext cx="422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0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graphicFrame>
        <p:nvGraphicFramePr>
          <p:cNvPr id="56" name="Chart 55" descr="&lt;pie chart&gt;&lt;SecuritySoftwareCategorizationPieChart&gt;">
            <a:extLst>
              <a:ext uri="{FF2B5EF4-FFF2-40B4-BE49-F238E27FC236}">
                <a16:creationId xmlns:a16="http://schemas.microsoft.com/office/drawing/2014/main" id="{CBF579FC-3D8C-D207-AEA6-662A7B7210C6}"/>
              </a:ext>
            </a:extLst>
          </p:cNvPr>
          <p:cNvGraphicFramePr/>
          <p:nvPr/>
        </p:nvGraphicFramePr>
        <p:xfrm>
          <a:off x="437113" y="1732726"/>
          <a:ext cx="2315645" cy="18399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3615106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4C5EC-21CB-9224-8B5D-5B45C7713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61A879F-118B-FBAC-7DB6-DFFBC9E57688}"/>
              </a:ext>
            </a:extLst>
          </p:cNvPr>
          <p:cNvSpPr>
            <a:spLocks/>
          </p:cNvSpPr>
          <p:nvPr/>
        </p:nvSpPr>
        <p:spPr>
          <a:xfrm flipH="1" flipV="1">
            <a:off x="6620800" y="0"/>
            <a:ext cx="5571200" cy="6858000"/>
          </a:xfrm>
          <a:prstGeom prst="roundRect">
            <a:avLst>
              <a:gd name="adj" fmla="val 0"/>
            </a:avLst>
          </a:prstGeom>
          <a:gradFill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FFF36AA6-B2F0-55EE-AC99-782CFDD45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7200"/>
            <a:ext cx="4287900" cy="553998"/>
          </a:xfrm>
        </p:spPr>
        <p:txBody>
          <a:bodyPr>
            <a:normAutofit/>
          </a:bodyPr>
          <a:lstStyle/>
          <a:p>
            <a:r>
              <a:rPr lang="en-IN" sz="2800">
                <a:latin typeface="Segoe Sans Text" pitchFamily="2" charset="0"/>
                <a:cs typeface="Segoe Sans Text" pitchFamily="2" charset="0"/>
              </a:rPr>
              <a:t>Financial considerations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97187A-1B60-1546-F47E-A142086741A9}"/>
              </a:ext>
            </a:extLst>
          </p:cNvPr>
          <p:cNvSpPr txBox="1"/>
          <p:nvPr/>
        </p:nvSpPr>
        <p:spPr>
          <a:xfrm>
            <a:off x="563459" y="952355"/>
            <a:ext cx="57319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-50" normalizeH="0" baseline="0" noProof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The following inputs were used to generate the financial insights presented in this report.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71AE5E-F483-CFB2-0BF9-7A7368489EF4}"/>
              </a:ext>
            </a:extLst>
          </p:cNvPr>
          <p:cNvSpPr txBox="1"/>
          <p:nvPr/>
        </p:nvSpPr>
        <p:spPr>
          <a:xfrm>
            <a:off x="6770764" y="6455779"/>
            <a:ext cx="5222557" cy="323165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pPr marL="0" marR="0" lvl="0" indent="0" algn="l" defTabSz="9327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80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74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Cost assumptions in this 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FF74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report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74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are fully configurable in Azure Portal. You can update</a:t>
            </a: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srgbClr val="FF74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 the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74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inputs and regenerate this report to reflect revised models.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1FA9A6B-1FF3-57D1-B3CC-2F4E2329BD50}"/>
              </a:ext>
            </a:extLst>
          </p:cNvPr>
          <p:cNvSpPr txBox="1"/>
          <p:nvPr/>
        </p:nvSpPr>
        <p:spPr>
          <a:xfrm>
            <a:off x="731837" y="2417658"/>
            <a:ext cx="342922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On-premises cost and assumptions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graphicFrame>
        <p:nvGraphicFramePr>
          <p:cNvPr id="68" name="Table 67" descr="&lt;table&gt;&lt;OnPremCostColumn&gt;">
            <a:extLst>
              <a:ext uri="{FF2B5EF4-FFF2-40B4-BE49-F238E27FC236}">
                <a16:creationId xmlns:a16="http://schemas.microsoft.com/office/drawing/2014/main" id="{BE3E64B6-3695-FD7F-C750-E069A01ED2D9}"/>
              </a:ext>
            </a:extLst>
          </p:cNvPr>
          <p:cNvGraphicFramePr>
            <a:graphicFrameLocks noGrp="1"/>
          </p:cNvGraphicFramePr>
          <p:nvPr/>
        </p:nvGraphicFramePr>
        <p:xfrm>
          <a:off x="731837" y="2879275"/>
          <a:ext cx="5395175" cy="36165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020">
                  <a:extLst>
                    <a:ext uri="{9D8B030D-6E8A-4147-A177-3AD203B41FA5}">
                      <a16:colId xmlns:a16="http://schemas.microsoft.com/office/drawing/2014/main" val="2987421148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1694609457"/>
                    </a:ext>
                  </a:extLst>
                </a:gridCol>
                <a:gridCol w="2730669">
                  <a:extLst>
                    <a:ext uri="{9D8B030D-6E8A-4147-A177-3AD203B41FA5}">
                      <a16:colId xmlns:a16="http://schemas.microsoft.com/office/drawing/2014/main" val="4050365984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8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j-ea"/>
                        <a:cs typeface="Segoe Sans Text" pitchFamily="2" charset="0"/>
                      </a:endParaRP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800" i="1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On-Prem Cost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800" i="1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Inclusions &amp; assumptions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149467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8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Compute &amp; licensing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IN" sz="8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$1.63K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j-ea"/>
                        <a:cs typeface="Segoe Sans Text" pitchFamily="2" charset="0"/>
                      </a:endParaRP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dirty="0">
                          <a:latin typeface="Segoe Sans Text" pitchFamily="2" charset="0"/>
                          <a:cs typeface="Segoe Sans Text" pitchFamily="2" charset="0"/>
                        </a:rPr>
                        <a:t>Includes hardware, virtualization software, licenses and ESU cost.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dirty="0">
                          <a:latin typeface="Segoe Sans Text" pitchFamily="2" charset="0"/>
                          <a:cs typeface="Segoe Sans Text" pitchFamily="2" charset="0"/>
                        </a:rPr>
                        <a:t>License cost is excluded for production workloads.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89187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8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Storage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$0.22K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dirty="0">
                          <a:solidFill>
                            <a:srgbClr val="000000"/>
                          </a:solidFill>
                          <a:effectLst/>
                          <a:latin typeface="Segoe Sans Text" pitchFamily="2" charset="0"/>
                        </a:rPr>
                        <a:t>Includes storage hardware and maintenance cost.</a:t>
                      </a:r>
                      <a:endParaRPr lang="en-IN" sz="8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22419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8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Network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IN" sz="8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$0.69K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>
                          <a:latin typeface="Segoe Sans Text" pitchFamily="2" charset="0"/>
                          <a:cs typeface="Segoe Sans Text" pitchFamily="2" charset="0"/>
                        </a:rPr>
                        <a:t>Includes network hardware, software and maintenance cost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261819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8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Security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IN" sz="8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$1.25K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dirty="0">
                          <a:latin typeface="Segoe Sans Text" pitchFamily="2" charset="0"/>
                          <a:cs typeface="Segoe Sans Text" pitchFamily="2" charset="0"/>
                        </a:rPr>
                        <a:t>Includes server security and SQL protection cost as per industry benchmarks aligned to your environment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187497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8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Management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$1.63K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1" fontAlgn="auto" latinLnBrk="0" hangingPunct="1"/>
                      <a:r>
                        <a:rPr lang="en-IN" sz="8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Includes management software, monitoring, patch management and backup cost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13641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8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IT Staff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IN" sz="8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$77.87K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dirty="0">
                          <a:latin typeface="Segoe Sans Text" pitchFamily="2" charset="0"/>
                          <a:cs typeface="Segoe Sans Text" pitchFamily="2" charset="0"/>
                        </a:rPr>
                        <a:t>Includes IT admin resource cost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23155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8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Facilities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IN" sz="8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$0.11K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dirty="0">
                          <a:latin typeface="Segoe Sans Text" pitchFamily="2" charset="0"/>
                          <a:cs typeface="Segoe Sans Text" pitchFamily="2" charset="0"/>
                        </a:rPr>
                        <a:t>Includes DC facilities - lease and power cost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26812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8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Total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IN" sz="8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$83.4K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/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0594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CB98907-C5DE-6F34-2D8C-348326AAEF7F}"/>
              </a:ext>
            </a:extLst>
          </p:cNvPr>
          <p:cNvSpPr txBox="1"/>
          <p:nvPr/>
        </p:nvSpPr>
        <p:spPr>
          <a:xfrm>
            <a:off x="6751600" y="549534"/>
            <a:ext cx="342922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Azure cost assumptions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graphicFrame>
        <p:nvGraphicFramePr>
          <p:cNvPr id="18" name="Table 17" descr="&#10;">
            <a:extLst>
              <a:ext uri="{FF2B5EF4-FFF2-40B4-BE49-F238E27FC236}">
                <a16:creationId xmlns:a16="http://schemas.microsoft.com/office/drawing/2014/main" id="{1BF8826B-EDAF-0AA3-A8F8-D89847A6E259}"/>
              </a:ext>
            </a:extLst>
          </p:cNvPr>
          <p:cNvGraphicFramePr>
            <a:graphicFrameLocks noGrp="1"/>
          </p:cNvGraphicFramePr>
          <p:nvPr/>
        </p:nvGraphicFramePr>
        <p:xfrm>
          <a:off x="6770764" y="1506189"/>
          <a:ext cx="5276456" cy="5139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2800">
                  <a:extLst>
                    <a:ext uri="{9D8B030D-6E8A-4147-A177-3AD203B41FA5}">
                      <a16:colId xmlns:a16="http://schemas.microsoft.com/office/drawing/2014/main" val="2987421148"/>
                    </a:ext>
                  </a:extLst>
                </a:gridCol>
                <a:gridCol w="3623656">
                  <a:extLst>
                    <a:ext uri="{9D8B030D-6E8A-4147-A177-3AD203B41FA5}">
                      <a16:colId xmlns:a16="http://schemas.microsoft.com/office/drawing/2014/main" val="4050365984"/>
                    </a:ext>
                  </a:extLst>
                </a:gridCol>
              </a:tblGrid>
              <a:tr h="37351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IN" sz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Currency</a:t>
                      </a:r>
                      <a:endParaRPr lang="en-US" sz="1200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egoe Sans Text" pitchFamily="2" charset="0"/>
                        <a:ea typeface="+mj-ea"/>
                        <a:cs typeface="Segoe Sans Text" pitchFamily="2" charset="0"/>
                      </a:endParaRP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marL="87393" marR="87393" marT="43697" marB="43697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89187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12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Pricing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marL="87393" marR="87393" marT="43697" marB="4369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261819"/>
                  </a:ext>
                </a:extLst>
              </a:tr>
              <a:tr h="3924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12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Savings Option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marL="87393" marR="87393" marT="43697" marB="4369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78371"/>
                  </a:ext>
                </a:extLst>
              </a:tr>
              <a:tr h="4119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Region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  <a:p>
                      <a:r>
                        <a:rPr lang="en-IN" sz="900" dirty="0">
                          <a:latin typeface="Segoe Sans Text" pitchFamily="2" charset="0"/>
                          <a:cs typeface="Segoe Sans Text" pitchFamily="2" charset="0"/>
                        </a:rPr>
                        <a:t>        </a:t>
                      </a:r>
                    </a:p>
                  </a:txBody>
                  <a:tcPr marL="87393" marR="87393" marT="43697" marB="4369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187497"/>
                  </a:ext>
                </a:extLst>
              </a:tr>
              <a:tr h="4708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Sizing criteria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marL="87393" marR="87393" marT="43697" marB="4369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55742"/>
                  </a:ext>
                </a:extLst>
              </a:tr>
              <a:tr h="4904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defRPr/>
                      </a:pPr>
                      <a:r>
                        <a:rPr lang="en-IN" sz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Azure Hybrid benefits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  <a:p>
                      <a:r>
                        <a:rPr lang="en-IN" sz="900" dirty="0">
                          <a:latin typeface="Segoe Sans Text" pitchFamily="2" charset="0"/>
                          <a:cs typeface="Segoe Sans Text" pitchFamily="2" charset="0"/>
                        </a:rPr>
                        <a:t>Applied to all eligible discovered servers.</a:t>
                      </a:r>
                    </a:p>
                  </a:txBody>
                  <a:tcPr marL="87393" marR="87393" marT="43697" marB="4369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136410"/>
                  </a:ext>
                </a:extLst>
              </a:tr>
              <a:tr h="6142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defRPr/>
                      </a:pPr>
                      <a:r>
                        <a:rPr lang="en-IN" sz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On-Prem Extended Security Update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900" dirty="0">
                          <a:latin typeface="Segoe Sans Text" pitchFamily="2" charset="0"/>
                          <a:cs typeface="Segoe Sans Text" pitchFamily="2" charset="0"/>
                        </a:rPr>
                        <a:t>Applied to all on-premises workload  that are out of support and its ESU support is available in the year of consideration.</a:t>
                      </a: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231552"/>
                  </a:ext>
                </a:extLst>
              </a:tr>
              <a:tr h="53052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  <a:defRPr/>
                      </a:pPr>
                      <a:r>
                        <a:rPr lang="en-IN" sz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Azure Targets considered</a:t>
                      </a:r>
                    </a:p>
                  </a:txBody>
                  <a:tcPr marL="87393" marR="87393" marT="43697" marB="4369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900" i="1" dirty="0">
                        <a:latin typeface="Segoe Sans Text" pitchFamily="2" charset="0"/>
                        <a:cs typeface="Segoe Sans Text" pitchFamily="2" charset="0"/>
                      </a:endParaRPr>
                    </a:p>
                    <a:p>
                      <a:endParaRPr lang="en-IN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marL="87393" marR="87393" marT="43697" marB="4369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268121"/>
                  </a:ext>
                </a:extLst>
              </a:tr>
              <a:tr h="729771">
                <a:tc vMerge="1"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000" kern="120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egoe Sans Text" pitchFamily="2" charset="0"/>
                        <a:ea typeface="+mj-ea"/>
                        <a:cs typeface="Segoe Sans Text" pitchFamily="2" charset="0"/>
                      </a:endParaRP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900" i="1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marL="87393" marR="87393" marT="43697" marB="4369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059421"/>
                  </a:ext>
                </a:extLst>
              </a:tr>
              <a:tr h="729771">
                <a:tc vMerge="1"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100" b="1" kern="120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Segoe Sans Text" pitchFamily="2" charset="0"/>
                        <a:ea typeface="+mj-ea"/>
                        <a:cs typeface="Segoe Sans Text" pitchFamily="2" charset="0"/>
                      </a:endParaRPr>
                    </a:p>
                  </a:txBody>
                  <a:tcPr marL="87393" marR="87393" marT="43697" marB="43697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 i="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marL="87393" marR="87393" marT="43697" marB="43697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349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E962717-BD57-514D-4F03-F7BA202DDF07}"/>
              </a:ext>
            </a:extLst>
          </p:cNvPr>
          <p:cNvSpPr txBox="1"/>
          <p:nvPr/>
        </p:nvSpPr>
        <p:spPr>
          <a:xfrm>
            <a:off x="6775762" y="952355"/>
            <a:ext cx="51162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-50" normalizeH="0" baseline="0" noProof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The following properties and assumptions were considered to recommend Azure Target, target SKU, cost and savings.</a:t>
            </a:r>
          </a:p>
        </p:txBody>
      </p:sp>
      <p:sp>
        <p:nvSpPr>
          <p:cNvPr id="27" name="TextBox 26" descr="Pay-as-you-go">
            <a:extLst>
              <a:ext uri="{FF2B5EF4-FFF2-40B4-BE49-F238E27FC236}">
                <a16:creationId xmlns:a16="http://schemas.microsoft.com/office/drawing/2014/main" id="{E636F45D-0AE8-8971-D3C0-70BA0F6BB508}"/>
              </a:ext>
            </a:extLst>
          </p:cNvPr>
          <p:cNvSpPr txBox="1"/>
          <p:nvPr/>
        </p:nvSpPr>
        <p:spPr>
          <a:xfrm>
            <a:off x="8439190" y="1970730"/>
            <a:ext cx="3119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Pay-as-you-go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9" name="TextBox 28" descr="Servers: Azure VM">
            <a:extLst>
              <a:ext uri="{FF2B5EF4-FFF2-40B4-BE49-F238E27FC236}">
                <a16:creationId xmlns:a16="http://schemas.microsoft.com/office/drawing/2014/main" id="{47C5B816-F385-5D3F-6358-506F8DEE4207}"/>
              </a:ext>
            </a:extLst>
          </p:cNvPr>
          <p:cNvSpPr txBox="1"/>
          <p:nvPr/>
        </p:nvSpPr>
        <p:spPr>
          <a:xfrm>
            <a:off x="8439190" y="4675627"/>
            <a:ext cx="35651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Servers: Azure VM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31" name="TextBox 30" descr="USD">
            <a:extLst>
              <a:ext uri="{FF2B5EF4-FFF2-40B4-BE49-F238E27FC236}">
                <a16:creationId xmlns:a16="http://schemas.microsoft.com/office/drawing/2014/main" id="{3EFE89A2-537A-BD96-5AFB-28ABC7861D19}"/>
              </a:ext>
            </a:extLst>
          </p:cNvPr>
          <p:cNvSpPr txBox="1"/>
          <p:nvPr/>
        </p:nvSpPr>
        <p:spPr>
          <a:xfrm>
            <a:off x="8439190" y="1589395"/>
            <a:ext cx="3119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USD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33" name="TextBox 32" descr="3 Year Reserved Instance">
            <a:extLst>
              <a:ext uri="{FF2B5EF4-FFF2-40B4-BE49-F238E27FC236}">
                <a16:creationId xmlns:a16="http://schemas.microsoft.com/office/drawing/2014/main" id="{1E246465-D414-7B8E-ABB7-61506DB22201}"/>
              </a:ext>
            </a:extLst>
          </p:cNvPr>
          <p:cNvSpPr txBox="1"/>
          <p:nvPr/>
        </p:nvSpPr>
        <p:spPr>
          <a:xfrm>
            <a:off x="8439190" y="2366615"/>
            <a:ext cx="33374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900" dirty="0">
                <a:solidFill>
                  <a:prstClr val="black"/>
                </a:solidFill>
                <a:latin typeface="Segoe Sans Text" pitchFamily="2" charset="0"/>
                <a:cs typeface="Segoe Sans Text" pitchFamily="2" charset="0"/>
              </a:rPr>
              <a:t>3 Year Reserved Instance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3" name="TextBox 2" descr="Visit Azure Migrate portal for details">
            <a:extLst>
              <a:ext uri="{FF2B5EF4-FFF2-40B4-BE49-F238E27FC236}">
                <a16:creationId xmlns:a16="http://schemas.microsoft.com/office/drawing/2014/main" id="{6F6D2099-09CE-8582-38F2-5A6A9C844AAF}"/>
              </a:ext>
            </a:extLst>
          </p:cNvPr>
          <p:cNvSpPr txBox="1"/>
          <p:nvPr/>
        </p:nvSpPr>
        <p:spPr>
          <a:xfrm>
            <a:off x="9431867" y="226419"/>
            <a:ext cx="256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50" b="0" i="0">
                <a:latin typeface="Aptos"/>
              </a:rPr>
              <a:t>Visit </a:t>
            </a:r>
            <a:r>
              <a:rPr sz="1050" b="0" i="0">
                <a:latin typeface="Aptos"/>
                <a:hlinkClick r:id="rId3"/>
              </a:rPr>
              <a:t>Azure Migrate</a:t>
            </a:r>
            <a:r>
              <a:rPr sz="1050" b="0" i="0">
                <a:latin typeface="Aptos"/>
              </a:rPr>
              <a:t> portal for details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B48E74CD-B2B0-D961-6976-0055E218DBF6}"/>
              </a:ext>
            </a:extLst>
          </p:cNvPr>
          <p:cNvSpPr txBox="1"/>
          <p:nvPr/>
        </p:nvSpPr>
        <p:spPr>
          <a:xfrm>
            <a:off x="731837" y="1579871"/>
            <a:ext cx="3429221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Text" lastClr="000000"/>
                </a:solidFill>
                <a:latin typeface="Aptos" panose="02110004020202020204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lang="en-IN" sz="1600">
                <a:solidFill>
                  <a:srgbClr val="0E2841">
                    <a:lumMod val="75000"/>
                    <a:lumOff val="25000"/>
                  </a:srgbClr>
                </a:solidFill>
                <a:latin typeface="Segoe Sans Text" pitchFamily="2" charset="0"/>
                <a:cs typeface="Segoe Sans Text" pitchFamily="2" charset="0"/>
              </a:rPr>
              <a:t>Scope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cs typeface="Segoe Sans Text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066128A-CFDA-2C58-2094-0E2DE523A4A0}"/>
              </a:ext>
            </a:extLst>
          </p:cNvPr>
          <p:cNvGrpSpPr/>
          <p:nvPr/>
        </p:nvGrpSpPr>
        <p:grpSpPr>
          <a:xfrm>
            <a:off x="815594" y="1918425"/>
            <a:ext cx="536519" cy="376170"/>
            <a:chOff x="4788578" y="1696040"/>
            <a:chExt cx="536519" cy="376170"/>
          </a:xfrm>
        </p:grpSpPr>
        <p:sp>
          <p:nvSpPr>
            <p:cNvPr id="16" name="Title 1">
              <a:extLst>
                <a:ext uri="{FF2B5EF4-FFF2-40B4-BE49-F238E27FC236}">
                  <a16:creationId xmlns:a16="http://schemas.microsoft.com/office/drawing/2014/main" id="{651997E7-822B-37F4-EEF8-BE9E9D862D44}"/>
                </a:ext>
              </a:extLst>
            </p:cNvPr>
            <p:cNvSpPr txBox="1">
              <a:spLocks/>
            </p:cNvSpPr>
            <p:nvPr/>
          </p:nvSpPr>
          <p:spPr>
            <a:xfrm>
              <a:off x="4788578" y="1696040"/>
              <a:ext cx="536519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b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US" sz="4000" kern="1200" dirty="0">
                  <a:solidFill>
                    <a:sysClr val="windowText" lastClr="000000"/>
                  </a:solidFill>
                  <a:latin typeface="Aptos Display" panose="021100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9pPr>
            </a:lstStyle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egoe Sans Text" pitchFamily="2" charset="0"/>
                  <a:cs typeface="Segoe Sans Text" pitchFamily="2" charset="0"/>
                </a:rPr>
                <a:t>Servers</a:t>
              </a:r>
            </a:p>
          </p:txBody>
        </p:sp>
        <p:sp>
          <p:nvSpPr>
            <p:cNvPr id="17" name="Title 1" descr="2">
              <a:extLst>
                <a:ext uri="{FF2B5EF4-FFF2-40B4-BE49-F238E27FC236}">
                  <a16:creationId xmlns:a16="http://schemas.microsoft.com/office/drawing/2014/main" id="{B7CF40ED-CE28-4057-F173-11B7FEBC0A8D}"/>
                </a:ext>
              </a:extLst>
            </p:cNvPr>
            <p:cNvSpPr txBox="1">
              <a:spLocks/>
            </p:cNvSpPr>
            <p:nvPr/>
          </p:nvSpPr>
          <p:spPr>
            <a:xfrm>
              <a:off x="4799879" y="1887544"/>
              <a:ext cx="525218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b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US" sz="4000" kern="1200" dirty="0">
                  <a:solidFill>
                    <a:sysClr val="windowText" lastClr="000000"/>
                  </a:solidFill>
                  <a:latin typeface="Aptos Display" panose="021100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Segoe Sans Text" pitchFamily="2" charset="0"/>
                  <a:cs typeface="Segoe Sans Text" pitchFamily="2" charset="0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56116D0-52AA-BD2A-AE3A-F42AB83677B0}"/>
              </a:ext>
            </a:extLst>
          </p:cNvPr>
          <p:cNvGrpSpPr/>
          <p:nvPr/>
        </p:nvGrpSpPr>
        <p:grpSpPr>
          <a:xfrm>
            <a:off x="2364891" y="1917519"/>
            <a:ext cx="746735" cy="377076"/>
            <a:chOff x="4788578" y="1695134"/>
            <a:chExt cx="746735" cy="377076"/>
          </a:xfrm>
        </p:grpSpPr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D64D7044-DB6F-3D4C-1DCF-5DB4AEADB0CE}"/>
                </a:ext>
              </a:extLst>
            </p:cNvPr>
            <p:cNvSpPr txBox="1">
              <a:spLocks/>
            </p:cNvSpPr>
            <p:nvPr/>
          </p:nvSpPr>
          <p:spPr>
            <a:xfrm>
              <a:off x="4788578" y="1695134"/>
              <a:ext cx="746735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b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US" sz="4000" kern="1200" dirty="0">
                  <a:solidFill>
                    <a:sysClr val="windowText" lastClr="000000"/>
                  </a:solidFill>
                  <a:latin typeface="Aptos Display" panose="021100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9pPr>
            </a:lstStyle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Segoe Sans Text" pitchFamily="2" charset="0"/>
                  <a:cs typeface="Segoe Sans Text" pitchFamily="2" charset="0"/>
                </a:rPr>
                <a:t>Databases</a:t>
              </a:r>
            </a:p>
          </p:txBody>
        </p:sp>
        <p:sp>
          <p:nvSpPr>
            <p:cNvPr id="14" name="Title 1" descr="1">
              <a:extLst>
                <a:ext uri="{FF2B5EF4-FFF2-40B4-BE49-F238E27FC236}">
                  <a16:creationId xmlns:a16="http://schemas.microsoft.com/office/drawing/2014/main" id="{9DE8B6B3-EF99-B4F1-3C73-49E9282068A2}"/>
                </a:ext>
              </a:extLst>
            </p:cNvPr>
            <p:cNvSpPr txBox="1">
              <a:spLocks/>
            </p:cNvSpPr>
            <p:nvPr/>
          </p:nvSpPr>
          <p:spPr>
            <a:xfrm>
              <a:off x="4799879" y="1887544"/>
              <a:ext cx="525218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b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US" sz="4000" kern="1200" dirty="0">
                  <a:solidFill>
                    <a:sysClr val="windowText" lastClr="000000"/>
                  </a:solidFill>
                  <a:latin typeface="Aptos Display" panose="021100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Segoe Sans Text" pitchFamily="2" charset="0"/>
                  <a:cs typeface="Segoe Sans Text" pitchFamily="2" charset="0"/>
                </a:rPr>
                <a:t>1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DEA2151-1F7B-CE63-785D-1483D0759F46}"/>
              </a:ext>
            </a:extLst>
          </p:cNvPr>
          <p:cNvGrpSpPr/>
          <p:nvPr/>
        </p:nvGrpSpPr>
        <p:grpSpPr>
          <a:xfrm>
            <a:off x="4124403" y="1917519"/>
            <a:ext cx="665408" cy="377076"/>
            <a:chOff x="4788578" y="1695134"/>
            <a:chExt cx="665408" cy="377076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1BBD34D4-C676-EAC8-BBC5-5999D7B581B3}"/>
                </a:ext>
              </a:extLst>
            </p:cNvPr>
            <p:cNvSpPr txBox="1">
              <a:spLocks/>
            </p:cNvSpPr>
            <p:nvPr/>
          </p:nvSpPr>
          <p:spPr>
            <a:xfrm>
              <a:off x="4788578" y="1695134"/>
              <a:ext cx="665408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b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US" sz="4000" kern="1200" dirty="0">
                  <a:solidFill>
                    <a:sysClr val="windowText" lastClr="000000"/>
                  </a:solidFill>
                  <a:latin typeface="Aptos Display" panose="021100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9pPr>
            </a:lstStyle>
            <a:p>
              <a:pPr lvl="0" defTabSz="932472" fontAlgn="base">
                <a:lnSpc>
                  <a:spcPct val="100000"/>
                </a:lnSpc>
                <a:spcAft>
                  <a:spcPct val="0"/>
                </a:spcAft>
                <a:defRPr/>
              </a:pPr>
              <a:r>
                <a:rPr lang="en-IN" sz="1200">
                  <a:latin typeface="Segoe Sans Text" pitchFamily="2" charset="0"/>
                  <a:cs typeface="Segoe Sans Text" pitchFamily="2" charset="0"/>
                </a:rPr>
                <a:t>Webapps</a:t>
              </a:r>
            </a:p>
          </p:txBody>
        </p:sp>
        <p:sp>
          <p:nvSpPr>
            <p:cNvPr id="12" name="Title 1" descr="2">
              <a:extLst>
                <a:ext uri="{FF2B5EF4-FFF2-40B4-BE49-F238E27FC236}">
                  <a16:creationId xmlns:a16="http://schemas.microsoft.com/office/drawing/2014/main" id="{2C684FAC-6142-65F4-41CC-22BBBAC3DE4D}"/>
                </a:ext>
              </a:extLst>
            </p:cNvPr>
            <p:cNvSpPr txBox="1">
              <a:spLocks/>
            </p:cNvSpPr>
            <p:nvPr/>
          </p:nvSpPr>
          <p:spPr>
            <a:xfrm>
              <a:off x="4799879" y="1887544"/>
              <a:ext cx="525218" cy="18466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b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US" sz="4000" kern="1200" dirty="0">
                  <a:solidFill>
                    <a:sysClr val="windowText" lastClr="000000"/>
                  </a:solidFill>
                  <a:latin typeface="Aptos Display" panose="021100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Text" lastClr="000000"/>
                  </a:solidFill>
                  <a:latin typeface="Aptos" panose="02110004020202020204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Segoe Sans Text" pitchFamily="2" charset="0"/>
                  <a:cs typeface="Segoe Sans Text" pitchFamily="2" charset="0"/>
                </a:rPr>
                <a:t>2</a:t>
              </a:r>
            </a:p>
          </p:txBody>
        </p:sp>
      </p:grpSp>
      <p:sp>
        <p:nvSpPr>
          <p:cNvPr id="20" name="TextBox 19" descr="CentralIndia">
            <a:extLst>
              <a:ext uri="{FF2B5EF4-FFF2-40B4-BE49-F238E27FC236}">
                <a16:creationId xmlns:a16="http://schemas.microsoft.com/office/drawing/2014/main" id="{79F40D75-809F-D8B9-71E0-B03B7FA0DEA5}"/>
              </a:ext>
            </a:extLst>
          </p:cNvPr>
          <p:cNvSpPr txBox="1"/>
          <p:nvPr/>
        </p:nvSpPr>
        <p:spPr>
          <a:xfrm>
            <a:off x="8439190" y="2758298"/>
            <a:ext cx="33374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900" dirty="0">
                <a:solidFill>
                  <a:prstClr val="black"/>
                </a:solidFill>
                <a:latin typeface="Segoe Sans Text" pitchFamily="2" charset="0"/>
                <a:cs typeface="Segoe Sans Text" pitchFamily="2" charset="0"/>
              </a:rPr>
              <a:t>CentralIndia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5" name="TextBox 24" descr="Performance-based">
            <a:extLst>
              <a:ext uri="{FF2B5EF4-FFF2-40B4-BE49-F238E27FC236}">
                <a16:creationId xmlns:a16="http://schemas.microsoft.com/office/drawing/2014/main" id="{CAA5E3C8-13F2-69D7-D78E-95E033E950D5}"/>
              </a:ext>
            </a:extLst>
          </p:cNvPr>
          <p:cNvSpPr txBox="1"/>
          <p:nvPr/>
        </p:nvSpPr>
        <p:spPr>
          <a:xfrm>
            <a:off x="8439190" y="3212870"/>
            <a:ext cx="35651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900" dirty="0">
                <a:solidFill>
                  <a:prstClr val="black"/>
                </a:solidFill>
                <a:latin typeface="Segoe Sans Text" pitchFamily="2" charset="0"/>
                <a:cs typeface="Segoe Sans Text" pitchFamily="2" charset="0"/>
              </a:rPr>
              <a:t>Performance-based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792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E0AB1-CEAE-062E-F921-894E7EB02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">
            <a:extLst>
              <a:ext uri="{FF2B5EF4-FFF2-40B4-BE49-F238E27FC236}">
                <a16:creationId xmlns:a16="http://schemas.microsoft.com/office/drawing/2014/main" id="{7DD74D88-F616-BEB8-8EC6-56719577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7200"/>
            <a:ext cx="5988877" cy="553998"/>
          </a:xfrm>
        </p:spPr>
        <p:txBody>
          <a:bodyPr>
            <a:normAutofit/>
          </a:bodyPr>
          <a:lstStyle/>
          <a:p>
            <a:r>
              <a:rPr lang="en-IN" sz="2800">
                <a:latin typeface="Segoe Sans Text" pitchFamily="2" charset="0"/>
                <a:cs typeface="Segoe Sans Text" pitchFamily="2" charset="0"/>
              </a:rPr>
              <a:t>Migration Approach and Readiness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C7A6BB-4CEF-3804-C16B-BC5B8BAB22E7}"/>
              </a:ext>
            </a:extLst>
          </p:cNvPr>
          <p:cNvSpPr txBox="1"/>
          <p:nvPr/>
        </p:nvSpPr>
        <p:spPr>
          <a:xfrm>
            <a:off x="630349" y="1446195"/>
            <a:ext cx="9134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Paths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2CC1D6-CA3B-FA16-179F-72BE3105CED9}"/>
              </a:ext>
            </a:extLst>
          </p:cNvPr>
          <p:cNvSpPr txBox="1"/>
          <p:nvPr/>
        </p:nvSpPr>
        <p:spPr>
          <a:xfrm>
            <a:off x="630349" y="2355290"/>
            <a:ext cx="13234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Saving on Azure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BAD49E-8A0B-1FF2-6856-F99D2480CDB0}"/>
              </a:ext>
            </a:extLst>
          </p:cNvPr>
          <p:cNvSpPr txBox="1"/>
          <p:nvPr/>
        </p:nvSpPr>
        <p:spPr>
          <a:xfrm>
            <a:off x="630349" y="2644115"/>
            <a:ext cx="13234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Reduction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18" name="object 14">
            <a:extLst>
              <a:ext uri="{FF2B5EF4-FFF2-40B4-BE49-F238E27FC236}">
                <a16:creationId xmlns:a16="http://schemas.microsoft.com/office/drawing/2014/main" id="{84ED9C83-51FA-900E-C900-FD1F2132B8DA}"/>
              </a:ext>
            </a:extLst>
          </p:cNvPr>
          <p:cNvSpPr txBox="1">
            <a:spLocks/>
          </p:cNvSpPr>
          <p:nvPr/>
        </p:nvSpPr>
        <p:spPr>
          <a:xfrm>
            <a:off x="3218334" y="1108524"/>
            <a:ext cx="3281943" cy="596678"/>
          </a:xfrm>
          <a:prstGeom prst="roundRect">
            <a:avLst>
              <a:gd name="adj" fmla="val 16227"/>
            </a:avLst>
          </a:prstGeom>
          <a:gradFill flip="none" rotWithShape="1">
            <a:gsLst>
              <a:gs pos="50000">
                <a:schemeClr val="tx2">
                  <a:lumMod val="75000"/>
                  <a:lumOff val="25000"/>
                </a:schemeClr>
              </a:gs>
              <a:gs pos="0">
                <a:schemeClr val="tx2">
                  <a:lumMod val="50000"/>
                  <a:lumOff val="50000"/>
                </a:schemeClr>
              </a:gs>
            </a:gsLst>
            <a:lin ang="7800000" scaled="0"/>
            <a:tileRect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932472" fontAlgn="base">
              <a:spcBef>
                <a:spcPct val="0"/>
              </a:spcBef>
              <a:spcAft>
                <a:spcPct val="0"/>
              </a:spcAft>
              <a:defRPr sz="1600" kern="0">
                <a:latin typeface="+mj-lt"/>
                <a:cs typeface="Segoe Sans Display ExtraBold" pitchFamily="2" charset="0"/>
              </a:defRPr>
            </a:lvl1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 Semibold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078F87-326F-5ED6-3292-EFF43078C75A}"/>
              </a:ext>
            </a:extLst>
          </p:cNvPr>
          <p:cNvSpPr txBox="1"/>
          <p:nvPr/>
        </p:nvSpPr>
        <p:spPr>
          <a:xfrm>
            <a:off x="3309424" y="1116640"/>
            <a:ext cx="19032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Recommended Path</a:t>
            </a:r>
          </a:p>
        </p:txBody>
      </p:sp>
      <p:sp>
        <p:nvSpPr>
          <p:cNvPr id="482" name="Rounded Rectangle 481">
            <a:extLst>
              <a:ext uri="{FF2B5EF4-FFF2-40B4-BE49-F238E27FC236}">
                <a16:creationId xmlns:a16="http://schemas.microsoft.com/office/drawing/2014/main" id="{AAE0A682-96AD-6A61-882D-08852B04F790}"/>
              </a:ext>
            </a:extLst>
          </p:cNvPr>
          <p:cNvSpPr/>
          <p:nvPr/>
        </p:nvSpPr>
        <p:spPr>
          <a:xfrm>
            <a:off x="3218334" y="1382152"/>
            <a:ext cx="3281943" cy="5020355"/>
          </a:xfrm>
          <a:prstGeom prst="roundRect">
            <a:avLst>
              <a:gd name="adj" fmla="val 4649"/>
            </a:avLst>
          </a:prstGeom>
          <a:gradFill flip="none" rotWithShape="1"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Segoe UI" pitchFamily="34" charset="0"/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70E44F2E-8C1C-F137-6818-956294A4AEB0}"/>
              </a:ext>
            </a:extLst>
          </p:cNvPr>
          <p:cNvSpPr txBox="1"/>
          <p:nvPr/>
        </p:nvSpPr>
        <p:spPr>
          <a:xfrm>
            <a:off x="3249040" y="1468295"/>
            <a:ext cx="27316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 Semibold"/>
                <a:ea typeface="+mn-ea"/>
                <a:cs typeface="Segoe UI" panose="020B0502040204020203" pitchFamily="34" charset="0"/>
              </a:rPr>
              <a:t>Lift and Shift to Azure VM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5E2F8762-D768-1CD8-AA3C-F31CC998DA8A}"/>
              </a:ext>
            </a:extLst>
          </p:cNvPr>
          <p:cNvSpPr txBox="1"/>
          <p:nvPr/>
        </p:nvSpPr>
        <p:spPr>
          <a:xfrm>
            <a:off x="3270576" y="1766770"/>
            <a:ext cx="3157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Quick lift and shift migration of all workloads to Azure VM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27EE96-1383-1B7C-77F0-9D43D62EB4D9}"/>
              </a:ext>
            </a:extLst>
          </p:cNvPr>
          <p:cNvSpPr txBox="1"/>
          <p:nvPr/>
        </p:nvSpPr>
        <p:spPr>
          <a:xfrm>
            <a:off x="651409" y="4446839"/>
            <a:ext cx="23226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Implementation complexity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71297C7E-F2DF-8482-51C6-5AD4C73B165B}"/>
              </a:ext>
            </a:extLst>
          </p:cNvPr>
          <p:cNvSpPr txBox="1"/>
          <p:nvPr/>
        </p:nvSpPr>
        <p:spPr>
          <a:xfrm>
            <a:off x="3329412" y="4468939"/>
            <a:ext cx="17934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 Semibold"/>
                <a:ea typeface="+mn-ea"/>
                <a:cs typeface="Segoe UI" panose="020B0502040204020203" pitchFamily="34" charset="0"/>
              </a:rPr>
              <a:t>Low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A831F5-D53C-BB14-F398-325FE3CC0BF9}"/>
              </a:ext>
            </a:extLst>
          </p:cNvPr>
          <p:cNvSpPr txBox="1"/>
          <p:nvPr/>
        </p:nvSpPr>
        <p:spPr>
          <a:xfrm>
            <a:off x="654482" y="4846065"/>
            <a:ext cx="1519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Path benefits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A4B480E7-6AC4-B021-6907-A1013E89AE9E}"/>
              </a:ext>
            </a:extLst>
          </p:cNvPr>
          <p:cNvGrpSpPr/>
          <p:nvPr/>
        </p:nvGrpSpPr>
        <p:grpSpPr>
          <a:xfrm>
            <a:off x="3332164" y="4868165"/>
            <a:ext cx="2485823" cy="873923"/>
            <a:chOff x="5814705" y="4813286"/>
            <a:chExt cx="2022119" cy="873923"/>
          </a:xfrm>
        </p:grpSpPr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4B2CA3EB-A4D9-CCE8-20AF-8A8AF50260D5}"/>
                </a:ext>
              </a:extLst>
            </p:cNvPr>
            <p:cNvSpPr txBox="1"/>
            <p:nvPr/>
          </p:nvSpPr>
          <p:spPr>
            <a:xfrm>
              <a:off x="5814705" y="4813286"/>
              <a:ext cx="179340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Quick </a:t>
              </a:r>
              <a:r>
                <a:rPr kumimoji="0" lang="en-IN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datacenter</a:t>
              </a: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 exit</a:t>
              </a:r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2BD46AAA-0A33-6CBD-7784-9C801A1C2ABD}"/>
                </a:ext>
              </a:extLst>
            </p:cNvPr>
            <p:cNvSpPr txBox="1"/>
            <p:nvPr/>
          </p:nvSpPr>
          <p:spPr>
            <a:xfrm>
              <a:off x="5814705" y="5022520"/>
              <a:ext cx="202211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Minimal refactoring required</a:t>
              </a:r>
            </a:p>
          </p:txBody>
        </p:sp>
        <p:sp>
          <p:nvSpPr>
            <p:cNvPr id="453" name="TextBox 452">
              <a:extLst>
                <a:ext uri="{FF2B5EF4-FFF2-40B4-BE49-F238E27FC236}">
                  <a16:creationId xmlns:a16="http://schemas.microsoft.com/office/drawing/2014/main" id="{A9D8071B-7312-1F4B-5DBF-AA90EB88E2CB}"/>
                </a:ext>
              </a:extLst>
            </p:cNvPr>
            <p:cNvSpPr txBox="1"/>
            <p:nvPr/>
          </p:nvSpPr>
          <p:spPr>
            <a:xfrm>
              <a:off x="5814705" y="5231754"/>
              <a:ext cx="179340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Azure security out-of-box</a:t>
              </a:r>
            </a:p>
          </p:txBody>
        </p:sp>
        <p:sp>
          <p:nvSpPr>
            <p:cNvPr id="454" name="TextBox 453">
              <a:extLst>
                <a:ext uri="{FF2B5EF4-FFF2-40B4-BE49-F238E27FC236}">
                  <a16:creationId xmlns:a16="http://schemas.microsoft.com/office/drawing/2014/main" id="{F51499A6-B2D6-CF9E-5F61-AE3313F18CD0}"/>
                </a:ext>
              </a:extLst>
            </p:cNvPr>
            <p:cNvSpPr txBox="1"/>
            <p:nvPr/>
          </p:nvSpPr>
          <p:spPr>
            <a:xfrm>
              <a:off x="5814705" y="5440988"/>
              <a:ext cx="202211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Rapid migration with control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sp>
        <p:nvSpPr>
          <p:cNvPr id="180" name="TextBox 179">
            <a:extLst>
              <a:ext uri="{FF2B5EF4-FFF2-40B4-BE49-F238E27FC236}">
                <a16:creationId xmlns:a16="http://schemas.microsoft.com/office/drawing/2014/main" id="{5D1595B2-E576-68F8-3F6B-46C6AD090732}"/>
              </a:ext>
            </a:extLst>
          </p:cNvPr>
          <p:cNvSpPr txBox="1"/>
          <p:nvPr/>
        </p:nvSpPr>
        <p:spPr>
          <a:xfrm>
            <a:off x="654482" y="5822082"/>
            <a:ext cx="1519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dirty="0">
                <a:solidFill>
                  <a:prstClr val="black"/>
                </a:solidFill>
                <a:latin typeface="Segoe Sans Text" pitchFamily="2" charset="0"/>
                <a:cs typeface="Segoe Sans Text" pitchFamily="2" charset="0"/>
              </a:rPr>
              <a:t>Future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 TCO</a:t>
            </a:r>
          </a:p>
        </p:txBody>
      </p:sp>
      <p:sp>
        <p:nvSpPr>
          <p:cNvPr id="460" name="TextBox 459" descr="$61.12K">
            <a:extLst>
              <a:ext uri="{FF2B5EF4-FFF2-40B4-BE49-F238E27FC236}">
                <a16:creationId xmlns:a16="http://schemas.microsoft.com/office/drawing/2014/main" id="{59327759-34B8-3086-C216-F5C03A92958D}"/>
              </a:ext>
            </a:extLst>
          </p:cNvPr>
          <p:cNvSpPr txBox="1"/>
          <p:nvPr/>
        </p:nvSpPr>
        <p:spPr>
          <a:xfrm>
            <a:off x="3341957" y="5866506"/>
            <a:ext cx="29306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$61.12K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96CA9F-B2FE-C003-2325-440F92006D47}"/>
              </a:ext>
            </a:extLst>
          </p:cNvPr>
          <p:cNvSpPr txBox="1"/>
          <p:nvPr/>
        </p:nvSpPr>
        <p:spPr>
          <a:xfrm>
            <a:off x="654481" y="3892330"/>
            <a:ext cx="2322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9373C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  <a:hlinkClick r:id="" action="ppaction://noaction"/>
              </a:rPr>
              <a:t>Migration readiness &amp; strategy for workloads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9373C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84" name="TextBox 483" descr="100% Ready">
            <a:extLst>
              <a:ext uri="{FF2B5EF4-FFF2-40B4-BE49-F238E27FC236}">
                <a16:creationId xmlns:a16="http://schemas.microsoft.com/office/drawing/2014/main" id="{8AD1A322-5D5C-DB49-C3E1-E5559B4BAABC}"/>
              </a:ext>
            </a:extLst>
          </p:cNvPr>
          <p:cNvSpPr txBox="1"/>
          <p:nvPr/>
        </p:nvSpPr>
        <p:spPr>
          <a:xfrm>
            <a:off x="3391976" y="3914430"/>
            <a:ext cx="149751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100% Ready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85" name="TextBox 484" descr="2 workloads">
            <a:extLst>
              <a:ext uri="{FF2B5EF4-FFF2-40B4-BE49-F238E27FC236}">
                <a16:creationId xmlns:a16="http://schemas.microsoft.com/office/drawing/2014/main" id="{539510E8-FBAD-4DF5-B2D4-831D285A03BA}"/>
              </a:ext>
            </a:extLst>
          </p:cNvPr>
          <p:cNvSpPr txBox="1"/>
          <p:nvPr/>
        </p:nvSpPr>
        <p:spPr>
          <a:xfrm>
            <a:off x="4889490" y="3914430"/>
            <a:ext cx="1519783" cy="239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2 workloads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pic>
        <p:nvPicPr>
          <p:cNvPr id="486" name="Picture 485" descr="A black circle with a check mark&#10;&#10;AI-generated content may be incorrect.">
            <a:extLst>
              <a:ext uri="{FF2B5EF4-FFF2-40B4-BE49-F238E27FC236}">
                <a16:creationId xmlns:a16="http://schemas.microsoft.com/office/drawing/2014/main" id="{08677765-0F86-4225-A7AA-D9F1B3D02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3799" y="3928718"/>
            <a:ext cx="180000" cy="180000"/>
          </a:xfrm>
          <a:prstGeom prst="rect">
            <a:avLst/>
          </a:prstGeom>
        </p:spPr>
      </p:pic>
      <p:sp>
        <p:nvSpPr>
          <p:cNvPr id="215" name="TextBox 214">
            <a:extLst>
              <a:ext uri="{FF2B5EF4-FFF2-40B4-BE49-F238E27FC236}">
                <a16:creationId xmlns:a16="http://schemas.microsoft.com/office/drawing/2014/main" id="{760C9C77-8CB8-E366-87BC-DCB0BE787FC9}"/>
              </a:ext>
            </a:extLst>
          </p:cNvPr>
          <p:cNvSpPr txBox="1"/>
          <p:nvPr/>
        </p:nvSpPr>
        <p:spPr>
          <a:xfrm>
            <a:off x="654481" y="3210233"/>
            <a:ext cx="2322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9373C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  <a:hlinkClick r:id="" action="ppaction://noaction"/>
              </a:rPr>
              <a:t>Migration readiness &amp; strategy for applications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9373C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89" name="TextBox 488" descr="0% Ready">
            <a:extLst>
              <a:ext uri="{FF2B5EF4-FFF2-40B4-BE49-F238E27FC236}">
                <a16:creationId xmlns:a16="http://schemas.microsoft.com/office/drawing/2014/main" id="{3EFF0244-BE22-B009-9E82-B679C9B0E6A1}"/>
              </a:ext>
            </a:extLst>
          </p:cNvPr>
          <p:cNvSpPr txBox="1"/>
          <p:nvPr/>
        </p:nvSpPr>
        <p:spPr>
          <a:xfrm>
            <a:off x="3392765" y="3232333"/>
            <a:ext cx="14967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0% Ready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90" name="TextBox 489" descr="0 Applications">
            <a:extLst>
              <a:ext uri="{FF2B5EF4-FFF2-40B4-BE49-F238E27FC236}">
                <a16:creationId xmlns:a16="http://schemas.microsoft.com/office/drawing/2014/main" id="{B4664135-FCFF-89EB-F546-C7DB5DB2A382}"/>
              </a:ext>
            </a:extLst>
          </p:cNvPr>
          <p:cNvSpPr txBox="1"/>
          <p:nvPr/>
        </p:nvSpPr>
        <p:spPr>
          <a:xfrm>
            <a:off x="4913337" y="3232333"/>
            <a:ext cx="14967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 Applications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pic>
        <p:nvPicPr>
          <p:cNvPr id="491" name="Picture 490" descr="A black circle with a check mark&#10;&#10;AI-generated content may be incorrect.">
            <a:extLst>
              <a:ext uri="{FF2B5EF4-FFF2-40B4-BE49-F238E27FC236}">
                <a16:creationId xmlns:a16="http://schemas.microsoft.com/office/drawing/2014/main" id="{35CC1F11-4E30-8CF5-7992-8AE59F3E5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588" y="3246621"/>
            <a:ext cx="180000" cy="18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4854B1-C565-5A9D-38F6-32F4F238F271}"/>
              </a:ext>
            </a:extLst>
          </p:cNvPr>
          <p:cNvSpPr txBox="1"/>
          <p:nvPr/>
        </p:nvSpPr>
        <p:spPr>
          <a:xfrm>
            <a:off x="3345958" y="6064785"/>
            <a:ext cx="25734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9373C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  <a:hlinkClick r:id="" action="ppaction://noaction"/>
              </a:rPr>
              <a:t>View details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9373C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" name="object 14">
            <a:extLst>
              <a:ext uri="{FF2B5EF4-FFF2-40B4-BE49-F238E27FC236}">
                <a16:creationId xmlns:a16="http://schemas.microsoft.com/office/drawing/2014/main" id="{70379558-A5E5-0B68-806C-837AD84C17E8}"/>
              </a:ext>
            </a:extLst>
          </p:cNvPr>
          <p:cNvSpPr txBox="1">
            <a:spLocks/>
          </p:cNvSpPr>
          <p:nvPr/>
        </p:nvSpPr>
        <p:spPr>
          <a:xfrm>
            <a:off x="3315817" y="2312781"/>
            <a:ext cx="3089107" cy="728044"/>
          </a:xfrm>
          <a:prstGeom prst="roundRect">
            <a:avLst>
              <a:gd name="adj" fmla="val 7009"/>
            </a:avLst>
          </a:prstGeom>
          <a:gradFill flip="none" rotWithShape="1">
            <a:gsLst>
              <a:gs pos="50000">
                <a:schemeClr val="tx2">
                  <a:lumMod val="75000"/>
                  <a:lumOff val="25000"/>
                </a:schemeClr>
              </a:gs>
              <a:gs pos="1000">
                <a:schemeClr val="tx2">
                  <a:lumMod val="50000"/>
                  <a:lumOff val="50000"/>
                </a:schemeClr>
              </a:gs>
            </a:gsLst>
            <a:lin ang="7800000" scaled="0"/>
            <a:tileRect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932472" fontAlgn="base">
              <a:spcBef>
                <a:spcPct val="0"/>
              </a:spcBef>
              <a:spcAft>
                <a:spcPct val="0"/>
              </a:spcAft>
              <a:defRPr sz="1600" kern="0">
                <a:latin typeface="+mj-lt"/>
                <a:cs typeface="Segoe Sans Display ExtraBold" pitchFamily="2" charset="0"/>
              </a:defRPr>
            </a:lvl1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 Semibold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3" name="TextBox 2" descr="$22.29K">
            <a:extLst>
              <a:ext uri="{FF2B5EF4-FFF2-40B4-BE49-F238E27FC236}">
                <a16:creationId xmlns:a16="http://schemas.microsoft.com/office/drawing/2014/main" id="{B9B7FBC7-7FF7-29B6-6541-5B216B2030EE}"/>
              </a:ext>
            </a:extLst>
          </p:cNvPr>
          <p:cNvSpPr txBox="1"/>
          <p:nvPr/>
        </p:nvSpPr>
        <p:spPr>
          <a:xfrm>
            <a:off x="3589237" y="2377389"/>
            <a:ext cx="279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$22.29K</a:t>
            </a:r>
          </a:p>
        </p:txBody>
      </p:sp>
      <p:pic>
        <p:nvPicPr>
          <p:cNvPr id="16" name="Picture 15" descr="A white paper money with a circle in the middle">
            <a:extLst>
              <a:ext uri="{FF2B5EF4-FFF2-40B4-BE49-F238E27FC236}">
                <a16:creationId xmlns:a16="http://schemas.microsoft.com/office/drawing/2014/main" id="{09B94FDD-F07C-DB81-4BA8-32EE4DC28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6922" y="2424861"/>
            <a:ext cx="180000" cy="180000"/>
          </a:xfrm>
          <a:prstGeom prst="rect">
            <a:avLst/>
          </a:prstGeom>
        </p:spPr>
      </p:pic>
      <p:sp>
        <p:nvSpPr>
          <p:cNvPr id="18" name="TextBox 17" descr="0.97 MtCO2e">
            <a:extLst>
              <a:ext uri="{FF2B5EF4-FFF2-40B4-BE49-F238E27FC236}">
                <a16:creationId xmlns:a16="http://schemas.microsoft.com/office/drawing/2014/main" id="{A4DEBF24-BA2A-8B9A-F224-C5F0AB043707}"/>
              </a:ext>
            </a:extLst>
          </p:cNvPr>
          <p:cNvSpPr txBox="1"/>
          <p:nvPr/>
        </p:nvSpPr>
        <p:spPr>
          <a:xfrm>
            <a:off x="3603294" y="2666214"/>
            <a:ext cx="26740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0.97 MtCO2e</a:t>
            </a:r>
          </a:p>
        </p:txBody>
      </p:sp>
      <p:pic>
        <p:nvPicPr>
          <p:cNvPr id="20" name="Picture 19" descr="A white circle with a leaf in it">
            <a:extLst>
              <a:ext uri="{FF2B5EF4-FFF2-40B4-BE49-F238E27FC236}">
                <a16:creationId xmlns:a16="http://schemas.microsoft.com/office/drawing/2014/main" id="{317A3A2F-A9B7-FBD4-8690-D573C4EC2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6922" y="2702218"/>
            <a:ext cx="180000" cy="180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713548C-86CF-D2E7-190C-4DFCCAE2923B}"/>
              </a:ext>
            </a:extLst>
          </p:cNvPr>
          <p:cNvSpPr txBox="1"/>
          <p:nvPr/>
        </p:nvSpPr>
        <p:spPr>
          <a:xfrm>
            <a:off x="7926593" y="678901"/>
            <a:ext cx="4074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327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80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IN" sz="900" b="0" i="1" u="none" strike="noStrike" kern="1200" cap="none" spc="0" normalizeH="0" baseline="0" noProof="0">
                <a:ln>
                  <a:noFill/>
                </a:ln>
                <a:solidFill>
                  <a:srgbClr val="FF74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If you wish to deep dive into details of  other approaches, </a:t>
            </a:r>
            <a:br>
              <a:rPr kumimoji="0" lang="en-IN" sz="900" b="0" i="1" u="none" strike="noStrike" kern="1200" cap="none" spc="0" normalizeH="0" baseline="0" noProof="0">
                <a:ln>
                  <a:noFill/>
                </a:ln>
                <a:solidFill>
                  <a:srgbClr val="FF74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</a:br>
            <a:r>
              <a:rPr kumimoji="0" lang="en-IN" sz="900" b="0" i="1" u="none" strike="noStrike" kern="1200" cap="none" spc="0" normalizeH="0" baseline="0" noProof="0">
                <a:ln>
                  <a:noFill/>
                </a:ln>
                <a:solidFill>
                  <a:srgbClr val="FF74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we recommend generating a new report with relevant Migration preference.</a:t>
            </a:r>
            <a:endParaRPr kumimoji="0" lang="en-US" sz="900" b="0" i="1" u="none" strike="noStrike" kern="1200" cap="none" spc="0" normalizeH="0" baseline="0" noProof="0">
              <a:ln>
                <a:noFill/>
              </a:ln>
              <a:solidFill>
                <a:srgbClr val="FF740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graphicFrame>
        <p:nvGraphicFramePr>
          <p:cNvPr id="26" name="Chart 25" descr="&lt;bar chart&gt;&lt;MigrationReadiness_AppReadiness_Split:LiftAndShift&gt;">
            <a:extLst>
              <a:ext uri="{FF2B5EF4-FFF2-40B4-BE49-F238E27FC236}">
                <a16:creationId xmlns:a16="http://schemas.microsoft.com/office/drawing/2014/main" id="{CE8F7E11-965F-A6CD-2514-0E06AE6E293E}"/>
              </a:ext>
            </a:extLst>
          </p:cNvPr>
          <p:cNvGraphicFramePr/>
          <p:nvPr/>
        </p:nvGraphicFramePr>
        <p:xfrm>
          <a:off x="3243095" y="3279792"/>
          <a:ext cx="3281943" cy="506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7" name="Chart 26" descr="&lt;bar chart&gt;&lt;MigrationReadiness_WorkloadReadiness_Split:LiftAndShift&gt;">
            <a:extLst>
              <a:ext uri="{FF2B5EF4-FFF2-40B4-BE49-F238E27FC236}">
                <a16:creationId xmlns:a16="http://schemas.microsoft.com/office/drawing/2014/main" id="{6240AC7C-4B49-5A6D-FC5E-A60CAB55542E}"/>
              </a:ext>
            </a:extLst>
          </p:cNvPr>
          <p:cNvGraphicFramePr/>
          <p:nvPr/>
        </p:nvGraphicFramePr>
        <p:xfrm>
          <a:off x="3230714" y="3954283"/>
          <a:ext cx="3281943" cy="506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0E0F39F1-3DEC-A7D8-03CE-AEF7851F72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715" y="6539504"/>
            <a:ext cx="603885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300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9EC2D-7139-CD12-2B09-DDAFA24CE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">
            <a:extLst>
              <a:ext uri="{FF2B5EF4-FFF2-40B4-BE49-F238E27FC236}">
                <a16:creationId xmlns:a16="http://schemas.microsoft.com/office/drawing/2014/main" id="{F120F20D-2BFB-554A-F3AC-429FB4C96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7200"/>
            <a:ext cx="11018520" cy="553998"/>
          </a:xfrm>
        </p:spPr>
        <p:txBody>
          <a:bodyPr>
            <a:normAutofit/>
          </a:bodyPr>
          <a:lstStyle/>
          <a:p>
            <a:r>
              <a:rPr lang="en-IN" sz="2800">
                <a:latin typeface="Segoe Sans Text" pitchFamily="2" charset="0"/>
                <a:cs typeface="Segoe Sans Text" pitchFamily="2" charset="0"/>
              </a:rPr>
              <a:t>Business case – Financial summary</a:t>
            </a:r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60B41FB1-D465-27D0-91D7-BFCA2615E0B8}"/>
              </a:ext>
            </a:extLst>
          </p:cNvPr>
          <p:cNvSpPr txBox="1"/>
          <p:nvPr/>
        </p:nvSpPr>
        <p:spPr>
          <a:xfrm>
            <a:off x="623888" y="1668060"/>
            <a:ext cx="5673159" cy="903906"/>
          </a:xfrm>
          <a:prstGeom prst="roundRect">
            <a:avLst>
              <a:gd name="adj" fmla="val 5644"/>
            </a:avLst>
          </a:prstGeom>
          <a:gradFill flip="none" rotWithShape="1">
            <a:gsLst>
              <a:gs pos="50000">
                <a:schemeClr val="tx2">
                  <a:lumMod val="75000"/>
                  <a:lumOff val="25000"/>
                </a:schemeClr>
              </a:gs>
              <a:gs pos="2000">
                <a:schemeClr val="tx2">
                  <a:lumMod val="50000"/>
                  <a:lumOff val="50000"/>
                </a:schemeClr>
              </a:gs>
            </a:gsLst>
            <a:lin ang="7800000" scaled="0"/>
            <a:tileRect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R="0" lvl="0" indent="0" algn="ctr" defTabSz="932472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 Semibold"/>
                <a:cs typeface="Segoe UI Semibold" panose="020B0502040204020203" pitchFamily="34" charset="0"/>
              </a:defRPr>
            </a:lvl1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 Semibold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FD50CE-3B82-8618-8EC2-316FCEB4C7B3}"/>
              </a:ext>
            </a:extLst>
          </p:cNvPr>
          <p:cNvSpPr txBox="1"/>
          <p:nvPr/>
        </p:nvSpPr>
        <p:spPr>
          <a:xfrm>
            <a:off x="880559" y="2125244"/>
            <a:ext cx="9424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Current cost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C3C9B3-5EBC-FF0B-2836-FF2DE94DC935}"/>
              </a:ext>
            </a:extLst>
          </p:cNvPr>
          <p:cNvSpPr txBox="1"/>
          <p:nvPr/>
        </p:nvSpPr>
        <p:spPr>
          <a:xfrm>
            <a:off x="2140979" y="2110849"/>
            <a:ext cx="8933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Azure cost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BCC2FD-DC0D-9628-5E21-4FAB79E3DD6D}"/>
              </a:ext>
            </a:extLst>
          </p:cNvPr>
          <p:cNvSpPr txBox="1"/>
          <p:nvPr/>
        </p:nvSpPr>
        <p:spPr>
          <a:xfrm>
            <a:off x="597480" y="932496"/>
            <a:ext cx="111341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Azure can help reduce costs, strengthen security, and modernize applications while eliminating datacenter overhead and accelerating innovation.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It delivers a more scalable, resilient, and cost-optimized foundation for future growth.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FCE3E99-63DE-4CCE-DE74-DA2A1377F107}"/>
              </a:ext>
            </a:extLst>
          </p:cNvPr>
          <p:cNvSpPr/>
          <p:nvPr/>
        </p:nvSpPr>
        <p:spPr>
          <a:xfrm>
            <a:off x="773027" y="5119747"/>
            <a:ext cx="11022490" cy="1512000"/>
          </a:xfrm>
          <a:prstGeom prst="roundRect">
            <a:avLst>
              <a:gd name="adj" fmla="val 8388"/>
            </a:avLst>
          </a:prstGeom>
          <a:gradFill flip="none" rotWithShape="1"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7804262F-EB87-B6F5-EFD7-E70E168B6287}"/>
              </a:ext>
            </a:extLst>
          </p:cNvPr>
          <p:cNvSpPr txBox="1"/>
          <p:nvPr/>
        </p:nvSpPr>
        <p:spPr>
          <a:xfrm>
            <a:off x="952299" y="5349099"/>
            <a:ext cx="315357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Value Unlocked on Azure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10E5C9-0C34-2EE3-B206-846C00C91C40}"/>
              </a:ext>
            </a:extLst>
          </p:cNvPr>
          <p:cNvSpPr txBox="1"/>
          <p:nvPr/>
        </p:nvSpPr>
        <p:spPr>
          <a:xfrm>
            <a:off x="862752" y="5646631"/>
            <a:ext cx="30765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Azure unlocks value across licensing (AHB), infrastructure, operations, sustainability, and compliance -helping customers reduce total cost by 40 -70% while modernizing securely.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 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465EA6D-AA83-8E93-7CF8-17877288645A}"/>
              </a:ext>
            </a:extLst>
          </p:cNvPr>
          <p:cNvGrpSpPr/>
          <p:nvPr/>
        </p:nvGrpSpPr>
        <p:grpSpPr>
          <a:xfrm>
            <a:off x="4395453" y="5414903"/>
            <a:ext cx="1798248" cy="783447"/>
            <a:chOff x="4399417" y="5306366"/>
            <a:chExt cx="1798248" cy="783447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AC86759D-F024-80AB-2B44-04543E61C2CD}"/>
                </a:ext>
              </a:extLst>
            </p:cNvPr>
            <p:cNvSpPr/>
            <p:nvPr/>
          </p:nvSpPr>
          <p:spPr>
            <a:xfrm>
              <a:off x="4399417" y="5306366"/>
              <a:ext cx="1798248" cy="783447"/>
            </a:xfrm>
            <a:prstGeom prst="roundRect">
              <a:avLst>
                <a:gd name="adj" fmla="val 16210"/>
              </a:avLst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Segoe UI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CF3387B-3106-E99D-FC46-C9B1069D0EC4}"/>
                </a:ext>
              </a:extLst>
            </p:cNvPr>
            <p:cNvSpPr txBox="1"/>
            <p:nvPr/>
          </p:nvSpPr>
          <p:spPr>
            <a:xfrm>
              <a:off x="4462477" y="5421090"/>
              <a:ext cx="173001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Azure Hybrid benefit * </a:t>
              </a:r>
            </a:p>
          </p:txBody>
        </p:sp>
        <p:sp>
          <p:nvSpPr>
            <p:cNvPr id="23" name="TextBox 22" descr="$57.71K">
              <a:extLst>
                <a:ext uri="{FF2B5EF4-FFF2-40B4-BE49-F238E27FC236}">
                  <a16:creationId xmlns:a16="http://schemas.microsoft.com/office/drawing/2014/main" id="{B1F50A35-1873-F30F-FF29-31E76DCCC599}"/>
                </a:ext>
              </a:extLst>
            </p:cNvPr>
            <p:cNvSpPr txBox="1"/>
            <p:nvPr/>
          </p:nvSpPr>
          <p:spPr>
            <a:xfrm>
              <a:off x="4462477" y="5701548"/>
              <a:ext cx="165571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Segoe Sans Text Semibold"/>
                  <a:cs typeface="Segoe UI" panose="020B0502040204020203" pitchFamily="34" charset="0"/>
                </a:rPr>
                <a:t>$57.71K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1C8C17B-F3E5-EB88-2D92-7B0E88C5F1B9}"/>
              </a:ext>
            </a:extLst>
          </p:cNvPr>
          <p:cNvGrpSpPr/>
          <p:nvPr/>
        </p:nvGrpSpPr>
        <p:grpSpPr>
          <a:xfrm>
            <a:off x="7100437" y="5414903"/>
            <a:ext cx="1798248" cy="783447"/>
            <a:chOff x="8178461" y="5306366"/>
            <a:chExt cx="1798248" cy="783447"/>
          </a:xfrm>
        </p:grpSpPr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2CDC025E-58A0-8958-4216-1A036500E8FF}"/>
                </a:ext>
              </a:extLst>
            </p:cNvPr>
            <p:cNvSpPr/>
            <p:nvPr/>
          </p:nvSpPr>
          <p:spPr>
            <a:xfrm>
              <a:off x="8178461" y="5306366"/>
              <a:ext cx="1798248" cy="783447"/>
            </a:xfrm>
            <a:prstGeom prst="roundRect">
              <a:avLst>
                <a:gd name="adj" fmla="val 16210"/>
              </a:avLst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Segoe UI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3AC711C-0B30-5810-2462-5F9842234B79}"/>
                </a:ext>
              </a:extLst>
            </p:cNvPr>
            <p:cNvSpPr txBox="1"/>
            <p:nvPr/>
          </p:nvSpPr>
          <p:spPr>
            <a:xfrm>
              <a:off x="8222748" y="5421090"/>
              <a:ext cx="175396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ESU Savings  (1 year)</a:t>
              </a:r>
            </a:p>
          </p:txBody>
        </p:sp>
        <p:sp>
          <p:nvSpPr>
            <p:cNvPr id="38" name="TextBox 37" descr="$0">
              <a:extLst>
                <a:ext uri="{FF2B5EF4-FFF2-40B4-BE49-F238E27FC236}">
                  <a16:creationId xmlns:a16="http://schemas.microsoft.com/office/drawing/2014/main" id="{59966F56-8B97-6725-84D3-3A75ECB77655}"/>
                </a:ext>
              </a:extLst>
            </p:cNvPr>
            <p:cNvSpPr txBox="1"/>
            <p:nvPr/>
          </p:nvSpPr>
          <p:spPr>
            <a:xfrm>
              <a:off x="8222748" y="5701548"/>
              <a:ext cx="17539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Sans Text Semibold"/>
                  <a:ea typeface="+mn-ea"/>
                  <a:cs typeface="Segoe UI" panose="020B0502040204020203" pitchFamily="34" charset="0"/>
                </a:rPr>
                <a:t>$0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B820653-F48A-ED5B-B29C-DD47EFD124AC}"/>
              </a:ext>
            </a:extLst>
          </p:cNvPr>
          <p:cNvGrpSpPr/>
          <p:nvPr/>
        </p:nvGrpSpPr>
        <p:grpSpPr>
          <a:xfrm>
            <a:off x="9805421" y="5414903"/>
            <a:ext cx="1798248" cy="783447"/>
            <a:chOff x="10071555" y="5306366"/>
            <a:chExt cx="1798248" cy="783447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C953422B-A96A-0710-6995-447929EEF6EF}"/>
                </a:ext>
              </a:extLst>
            </p:cNvPr>
            <p:cNvSpPr/>
            <p:nvPr/>
          </p:nvSpPr>
          <p:spPr>
            <a:xfrm>
              <a:off x="10071555" y="5306366"/>
              <a:ext cx="1798248" cy="783447"/>
            </a:xfrm>
            <a:prstGeom prst="roundRect">
              <a:avLst>
                <a:gd name="adj" fmla="val 16210"/>
              </a:avLst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Segoe UI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BD1C5B-E887-7B0B-AD1E-C67373FE3DF4}"/>
                </a:ext>
              </a:extLst>
            </p:cNvPr>
            <p:cNvSpPr txBox="1"/>
            <p:nvPr/>
          </p:nvSpPr>
          <p:spPr>
            <a:xfrm>
              <a:off x="10115842" y="5421090"/>
              <a:ext cx="14284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Carbon Emission</a:t>
              </a:r>
            </a:p>
          </p:txBody>
        </p:sp>
        <p:sp>
          <p:nvSpPr>
            <p:cNvPr id="41" name="TextBox 40" descr="0.97 MtCO2e">
              <a:extLst>
                <a:ext uri="{FF2B5EF4-FFF2-40B4-BE49-F238E27FC236}">
                  <a16:creationId xmlns:a16="http://schemas.microsoft.com/office/drawing/2014/main" id="{2F340C03-8055-EF21-DBB0-B706EF8EADCF}"/>
                </a:ext>
              </a:extLst>
            </p:cNvPr>
            <p:cNvSpPr txBox="1"/>
            <p:nvPr/>
          </p:nvSpPr>
          <p:spPr>
            <a:xfrm>
              <a:off x="10115842" y="5701548"/>
              <a:ext cx="166975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Sans Text Semibold"/>
                  <a:ea typeface="+mn-ea"/>
                  <a:cs typeface="Segoe UI" panose="020B0502040204020203" pitchFamily="34" charset="0"/>
                </a:rPr>
                <a:t>0.97 MtCO2e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1BEA24E-BDDE-8ABA-8547-1F2102B6AED2}"/>
              </a:ext>
            </a:extLst>
          </p:cNvPr>
          <p:cNvSpPr txBox="1"/>
          <p:nvPr/>
        </p:nvSpPr>
        <p:spPr>
          <a:xfrm>
            <a:off x="3345572" y="2114199"/>
            <a:ext cx="11226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Yearly savings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5AE078-C408-2A2F-0BF5-BD35912497DF}"/>
              </a:ext>
            </a:extLst>
          </p:cNvPr>
          <p:cNvSpPr txBox="1"/>
          <p:nvPr/>
        </p:nvSpPr>
        <p:spPr>
          <a:xfrm>
            <a:off x="4755792" y="2124175"/>
            <a:ext cx="13584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Cost reduction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234A8C-5029-A66F-082E-C463080402C5}"/>
              </a:ext>
            </a:extLst>
          </p:cNvPr>
          <p:cNvSpPr txBox="1"/>
          <p:nvPr/>
        </p:nvSpPr>
        <p:spPr>
          <a:xfrm>
            <a:off x="4468211" y="6275288"/>
            <a:ext cx="7135458" cy="323165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pPr marL="0" marR="0" lvl="0" indent="0" algn="l" defTabSz="9327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80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FF74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* Cost avoided as part of Azure Hybrid benefit (AHB) is an additional benefit on top of yearly TCO savings, </a:t>
            </a:r>
            <a:r>
              <a:rPr kumimoji="0" lang="en-IN" sz="900" b="0" i="1" u="none" strike="noStrike" kern="1200" cap="none" spc="0" normalizeH="0" baseline="0" noProof="0">
                <a:ln>
                  <a:noFill/>
                </a:ln>
                <a:solidFill>
                  <a:srgbClr val="FF74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, and is a saving compared to a compete hyper scaler </a:t>
            </a: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FF74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.</a:t>
            </a:r>
          </a:p>
        </p:txBody>
      </p:sp>
      <p:sp>
        <p:nvSpPr>
          <p:cNvPr id="5" name="TextBox 4" descr="Visit Azure Migrate portal for details">
            <a:extLst>
              <a:ext uri="{FF2B5EF4-FFF2-40B4-BE49-F238E27FC236}">
                <a16:creationId xmlns:a16="http://schemas.microsoft.com/office/drawing/2014/main" id="{2F3924A4-5C9D-4F8E-47D4-AF301068EBA8}"/>
              </a:ext>
            </a:extLst>
          </p:cNvPr>
          <p:cNvSpPr txBox="1"/>
          <p:nvPr/>
        </p:nvSpPr>
        <p:spPr>
          <a:xfrm>
            <a:off x="9435295" y="564386"/>
            <a:ext cx="256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050"/>
              <a:t>Visit </a:t>
            </a:r>
            <a:r>
              <a:rPr sz="1050">
                <a:hlinkClick r:id="rId3"/>
              </a:rPr>
              <a:t>Azure Migrate</a:t>
            </a:r>
            <a:r>
              <a:rPr sz="1050"/>
              <a:t> portal for details</a:t>
            </a:r>
          </a:p>
        </p:txBody>
      </p:sp>
      <p:sp>
        <p:nvSpPr>
          <p:cNvPr id="3" name="TextBox 2" descr="$83.4K">
            <a:extLst>
              <a:ext uri="{FF2B5EF4-FFF2-40B4-BE49-F238E27FC236}">
                <a16:creationId xmlns:a16="http://schemas.microsoft.com/office/drawing/2014/main" id="{6973A51C-A375-A415-65DC-35988D1DD68D}"/>
              </a:ext>
            </a:extLst>
          </p:cNvPr>
          <p:cNvSpPr txBox="1"/>
          <p:nvPr/>
        </p:nvSpPr>
        <p:spPr>
          <a:xfrm>
            <a:off x="790480" y="1834406"/>
            <a:ext cx="1122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$83.4K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 descr="$61.12K">
            <a:extLst>
              <a:ext uri="{FF2B5EF4-FFF2-40B4-BE49-F238E27FC236}">
                <a16:creationId xmlns:a16="http://schemas.microsoft.com/office/drawing/2014/main" id="{8C88F53E-93F8-5859-5C8A-B2252145FB17}"/>
              </a:ext>
            </a:extLst>
          </p:cNvPr>
          <p:cNvSpPr txBox="1"/>
          <p:nvPr/>
        </p:nvSpPr>
        <p:spPr>
          <a:xfrm>
            <a:off x="1932112" y="1832934"/>
            <a:ext cx="1240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$61.12K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 descr="$22.29K">
            <a:extLst>
              <a:ext uri="{FF2B5EF4-FFF2-40B4-BE49-F238E27FC236}">
                <a16:creationId xmlns:a16="http://schemas.microsoft.com/office/drawing/2014/main" id="{97071E99-AF7F-8F3B-884F-F4106F147115}"/>
              </a:ext>
            </a:extLst>
          </p:cNvPr>
          <p:cNvSpPr txBox="1"/>
          <p:nvPr/>
        </p:nvSpPr>
        <p:spPr>
          <a:xfrm>
            <a:off x="3243214" y="1834990"/>
            <a:ext cx="132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$22.29K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TextBox 27" descr="26.7%">
            <a:extLst>
              <a:ext uri="{FF2B5EF4-FFF2-40B4-BE49-F238E27FC236}">
                <a16:creationId xmlns:a16="http://schemas.microsoft.com/office/drawing/2014/main" id="{F289D545-D25D-B323-3D50-C546F641B968}"/>
              </a:ext>
            </a:extLst>
          </p:cNvPr>
          <p:cNvSpPr txBox="1"/>
          <p:nvPr/>
        </p:nvSpPr>
        <p:spPr>
          <a:xfrm>
            <a:off x="4689244" y="1834075"/>
            <a:ext cx="1498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26.7%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0" name="Chart 29" descr="&lt;line chart&gt;&lt;YOYAnalysis&gt;">
            <a:extLst>
              <a:ext uri="{FF2B5EF4-FFF2-40B4-BE49-F238E27FC236}">
                <a16:creationId xmlns:a16="http://schemas.microsoft.com/office/drawing/2014/main" id="{795CCBA5-B83B-9D75-3B7C-FE65B80A017F}"/>
              </a:ext>
            </a:extLst>
          </p:cNvPr>
          <p:cNvGraphicFramePr/>
          <p:nvPr/>
        </p:nvGraphicFramePr>
        <p:xfrm>
          <a:off x="880559" y="2918082"/>
          <a:ext cx="4096803" cy="18741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EA52F692-7AED-14D5-1E9D-39E546111F9A}"/>
              </a:ext>
            </a:extLst>
          </p:cNvPr>
          <p:cNvGrpSpPr/>
          <p:nvPr/>
        </p:nvGrpSpPr>
        <p:grpSpPr>
          <a:xfrm>
            <a:off x="5356843" y="3256282"/>
            <a:ext cx="1084926" cy="166199"/>
            <a:chOff x="5313691" y="3286946"/>
            <a:chExt cx="1084926" cy="166199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6D4F9F9-FD8B-94D7-0074-72A1A19CD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313691" y="3320083"/>
              <a:ext cx="108000" cy="108000"/>
            </a:xfrm>
            <a:prstGeom prst="rect">
              <a:avLst/>
            </a:prstGeom>
            <a:solidFill>
              <a:srgbClr val="637CE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8CB7324-4CA8-0336-945A-DAA99658B04B}"/>
                </a:ext>
              </a:extLst>
            </p:cNvPr>
            <p:cNvSpPr txBox="1"/>
            <p:nvPr/>
          </p:nvSpPr>
          <p:spPr>
            <a:xfrm>
              <a:off x="5494026" y="3286946"/>
              <a:ext cx="904591" cy="1661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Current cost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3A482C0-4906-B7A7-F4BF-44AB155573A4}"/>
              </a:ext>
            </a:extLst>
          </p:cNvPr>
          <p:cNvGrpSpPr/>
          <p:nvPr/>
        </p:nvGrpSpPr>
        <p:grpSpPr>
          <a:xfrm>
            <a:off x="5356843" y="3912260"/>
            <a:ext cx="1084926" cy="166199"/>
            <a:chOff x="5313691" y="3942924"/>
            <a:chExt cx="1084926" cy="166199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E6783C8-D4BE-FDC4-9981-B02578EBF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313691" y="3972023"/>
              <a:ext cx="108000" cy="108000"/>
            </a:xfrm>
            <a:prstGeom prst="rect">
              <a:avLst/>
            </a:prstGeom>
            <a:solidFill>
              <a:srgbClr val="3996DD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AFE70BF-3F35-7256-70FB-A0A9878834A4}"/>
                </a:ext>
              </a:extLst>
            </p:cNvPr>
            <p:cNvSpPr txBox="1"/>
            <p:nvPr/>
          </p:nvSpPr>
          <p:spPr>
            <a:xfrm>
              <a:off x="5494026" y="3942924"/>
              <a:ext cx="904591" cy="1661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Future cost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CC04AE5-DD32-2142-E133-31A2964E05E5}"/>
              </a:ext>
            </a:extLst>
          </p:cNvPr>
          <p:cNvGrpSpPr/>
          <p:nvPr/>
        </p:nvGrpSpPr>
        <p:grpSpPr>
          <a:xfrm>
            <a:off x="5357516" y="3584271"/>
            <a:ext cx="981108" cy="166199"/>
            <a:chOff x="5314364" y="3602282"/>
            <a:chExt cx="981108" cy="166199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5C7D06E-DFB8-20B6-AFFE-00194DEE28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314364" y="3631381"/>
              <a:ext cx="108000" cy="108000"/>
            </a:xfrm>
            <a:prstGeom prst="rect">
              <a:avLst/>
            </a:prstGeom>
            <a:solidFill>
              <a:srgbClr val="E3008C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D906457-0ECF-BBD0-FD87-4BD2725DA5FA}"/>
                </a:ext>
              </a:extLst>
            </p:cNvPr>
            <p:cNvSpPr txBox="1"/>
            <p:nvPr/>
          </p:nvSpPr>
          <p:spPr>
            <a:xfrm>
              <a:off x="5494026" y="3602282"/>
              <a:ext cx="801446" cy="1661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Net savings</a:t>
              </a:r>
            </a:p>
          </p:txBody>
        </p:sp>
      </p:grpSp>
      <p:graphicFrame>
        <p:nvGraphicFramePr>
          <p:cNvPr id="2" name="Table 1" descr="&lt;table&gt;&lt;BusinessCaseSavingsTable&gt;">
            <a:extLst>
              <a:ext uri="{FF2B5EF4-FFF2-40B4-BE49-F238E27FC236}">
                <a16:creationId xmlns:a16="http://schemas.microsoft.com/office/drawing/2014/main" id="{3AD9C2FD-8332-3589-5A10-2E64337CD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754818"/>
              </p:ext>
            </p:extLst>
          </p:nvPr>
        </p:nvGraphicFramePr>
        <p:xfrm>
          <a:off x="6590057" y="1669158"/>
          <a:ext cx="5301905" cy="32516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4743">
                  <a:extLst>
                    <a:ext uri="{9D8B030D-6E8A-4147-A177-3AD203B41FA5}">
                      <a16:colId xmlns:a16="http://schemas.microsoft.com/office/drawing/2014/main" val="4178257958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3820644386"/>
                    </a:ext>
                  </a:extLst>
                </a:gridCol>
                <a:gridCol w="3067276">
                  <a:extLst>
                    <a:ext uri="{9D8B030D-6E8A-4147-A177-3AD203B41FA5}">
                      <a16:colId xmlns:a16="http://schemas.microsoft.com/office/drawing/2014/main" val="3386497872"/>
                    </a:ext>
                  </a:extLst>
                </a:gridCol>
              </a:tblGrid>
              <a:tr h="27296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900" i="1" kern="1200">
                        <a:solidFill>
                          <a:schemeClr val="tx1"/>
                        </a:solidFill>
                        <a:latin typeface="Segoe Sans Text" pitchFamily="2" charset="0"/>
                        <a:ea typeface="+mj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900" i="1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Savings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7411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900" i="1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Insights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838601"/>
                  </a:ext>
                </a:extLst>
              </a:tr>
              <a:tr h="38214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Compute &amp; licensing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-$0.39K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7411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-$0.39K saved by applying AHB and using optimized saving options in 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873848"/>
                  </a:ext>
                </a:extLst>
              </a:tr>
              <a:tr h="38214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$0.16K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7411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$0.16K saved by decommissioning unused servers, managed disks and resources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336793"/>
                  </a:ext>
                </a:extLst>
              </a:tr>
              <a:tr h="38214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$1.25K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7411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$1.25K saved by unifying security management with Microsoft Defender for 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490253"/>
                  </a:ext>
                </a:extLst>
              </a:tr>
              <a:tr h="27893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$0.59K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7411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$0.59K saved by network optimizations in 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792799"/>
                  </a:ext>
                </a:extLst>
              </a:tr>
              <a:tr h="46849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$1.11K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7411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$1.11K saved by using Azure Update Manager for patching, Azure Monitor for observability and Azure Backup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425596"/>
                  </a:ext>
                </a:extLst>
              </a:tr>
              <a:tr h="24559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IT Staff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$19.47K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7411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$19.47K saved by improving IT productivity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154888"/>
                  </a:ext>
                </a:extLst>
              </a:tr>
              <a:tr h="38214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Facilities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$0.11K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7411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$0.11K USD Facilities saved from hosting the datacenter on 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103236"/>
                  </a:ext>
                </a:extLst>
              </a:tr>
              <a:tr h="45709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$22.29K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7411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j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585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892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43F09-11E8-D6BA-C318-F939EF126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6E867F8-F784-A0D1-F12E-06FF3DE26651}"/>
              </a:ext>
            </a:extLst>
          </p:cNvPr>
          <p:cNvSpPr/>
          <p:nvPr/>
        </p:nvSpPr>
        <p:spPr>
          <a:xfrm>
            <a:off x="9599964" y="1529218"/>
            <a:ext cx="2291999" cy="4257655"/>
          </a:xfrm>
          <a:prstGeom prst="roundRect">
            <a:avLst>
              <a:gd name="adj" fmla="val 4250"/>
            </a:avLst>
          </a:prstGeom>
          <a:gradFill flip="none" rotWithShape="1"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Segoe UI" pitchFamily="34" charset="0"/>
            </a:endParaRPr>
          </a:p>
        </p:txBody>
      </p:sp>
      <p:sp>
        <p:nvSpPr>
          <p:cNvPr id="49" name="Title">
            <a:extLst>
              <a:ext uri="{FF2B5EF4-FFF2-40B4-BE49-F238E27FC236}">
                <a16:creationId xmlns:a16="http://schemas.microsoft.com/office/drawing/2014/main" id="{C4FE973D-B5A3-9090-BBED-857BF2F7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7200"/>
            <a:ext cx="11018520" cy="553998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Segoe Sans Text" pitchFamily="2" charset="0"/>
                <a:cs typeface="Segoe Sans Text" pitchFamily="2" charset="0"/>
              </a:rPr>
              <a:t>Management cost savings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9C1C4C-29B3-8191-755E-EF3E86633CB2}"/>
              </a:ext>
            </a:extLst>
          </p:cNvPr>
          <p:cNvSpPr txBox="1"/>
          <p:nvPr/>
        </p:nvSpPr>
        <p:spPr>
          <a:xfrm>
            <a:off x="630894" y="854756"/>
            <a:ext cx="112011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Azure Management Services like Azure Monitor, Azure Update Manager and Azure Backup simplify management of cloud resources, reduce costs, and improve overall productivity.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1A940B0-EBFE-090E-F963-5B7E5C43FEDD}"/>
              </a:ext>
            </a:extLst>
          </p:cNvPr>
          <p:cNvSpPr txBox="1"/>
          <p:nvPr/>
        </p:nvSpPr>
        <p:spPr>
          <a:xfrm>
            <a:off x="9744827" y="4632724"/>
            <a:ext cx="19277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Improved compliance posture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by minimizing the risk and cost associated with security breaches and audits,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0F706FC-4CCE-513F-9F76-CC088A5B94A2}"/>
              </a:ext>
            </a:extLst>
          </p:cNvPr>
          <p:cNvSpPr txBox="1"/>
          <p:nvPr/>
        </p:nvSpPr>
        <p:spPr>
          <a:xfrm>
            <a:off x="9744827" y="1633813"/>
            <a:ext cx="19434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Optimize Cost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Save up to 60%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 reduction in operational expenditure (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OpEx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) by automating routine maintenance tasks.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49C0091-244D-ECC8-AE2D-5837231D6703}"/>
              </a:ext>
            </a:extLst>
          </p:cNvPr>
          <p:cNvSpPr txBox="1"/>
          <p:nvPr/>
        </p:nvSpPr>
        <p:spPr>
          <a:xfrm>
            <a:off x="9744827" y="3225601"/>
            <a:ext cx="19434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Significant consolidation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of IT tools, leading to lower licensing fees and simpler training requirements.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711A0C-2589-0120-4984-45DAFECEFA15}"/>
              </a:ext>
            </a:extLst>
          </p:cNvPr>
          <p:cNvSpPr txBox="1"/>
          <p:nvPr/>
        </p:nvSpPr>
        <p:spPr>
          <a:xfrm>
            <a:off x="2136072" y="2894850"/>
            <a:ext cx="1605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Monitoring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A9EB1-0778-0987-7801-0420A13B0C9D}"/>
              </a:ext>
            </a:extLst>
          </p:cNvPr>
          <p:cNvSpPr txBox="1"/>
          <p:nvPr/>
        </p:nvSpPr>
        <p:spPr>
          <a:xfrm>
            <a:off x="4671151" y="2894850"/>
            <a:ext cx="19913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Patch Management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775451-FE2C-EF1F-0C35-CA2A3BC533CF}"/>
              </a:ext>
            </a:extLst>
          </p:cNvPr>
          <p:cNvSpPr txBox="1"/>
          <p:nvPr/>
        </p:nvSpPr>
        <p:spPr>
          <a:xfrm>
            <a:off x="7266352" y="2894850"/>
            <a:ext cx="1369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Backup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7EA955-200C-C4D9-30B0-37C90CD32075}"/>
              </a:ext>
            </a:extLst>
          </p:cNvPr>
          <p:cNvSpPr txBox="1"/>
          <p:nvPr/>
        </p:nvSpPr>
        <p:spPr>
          <a:xfrm>
            <a:off x="556752" y="3330414"/>
            <a:ext cx="16054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Azure Target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07B8B5-DDAB-FC95-5D0B-4D59139B3D19}"/>
              </a:ext>
            </a:extLst>
          </p:cNvPr>
          <p:cNvSpPr txBox="1"/>
          <p:nvPr/>
        </p:nvSpPr>
        <p:spPr>
          <a:xfrm>
            <a:off x="2149819" y="3294791"/>
            <a:ext cx="18297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Azure Monitor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529C60-3D5E-9D25-D3F7-E4744EDB9749}"/>
              </a:ext>
            </a:extLst>
          </p:cNvPr>
          <p:cNvSpPr txBox="1"/>
          <p:nvPr/>
        </p:nvSpPr>
        <p:spPr>
          <a:xfrm>
            <a:off x="4688524" y="3312690"/>
            <a:ext cx="20702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Azure Update Manager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E5B21E-ED88-19DD-3BA7-5FAD6F9BA318}"/>
              </a:ext>
            </a:extLst>
          </p:cNvPr>
          <p:cNvSpPr txBox="1"/>
          <p:nvPr/>
        </p:nvSpPr>
        <p:spPr>
          <a:xfrm>
            <a:off x="7283509" y="3324800"/>
            <a:ext cx="21733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Azure Backup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D71B9A-69C5-FBDC-2255-9B3E7989A41F}"/>
              </a:ext>
            </a:extLst>
          </p:cNvPr>
          <p:cNvSpPr txBox="1"/>
          <p:nvPr/>
        </p:nvSpPr>
        <p:spPr>
          <a:xfrm>
            <a:off x="556752" y="3748125"/>
            <a:ext cx="15032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Primary benefit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F86A11-7E08-E09E-200F-DA42CCA839A5}"/>
              </a:ext>
            </a:extLst>
          </p:cNvPr>
          <p:cNvSpPr txBox="1"/>
          <p:nvPr/>
        </p:nvSpPr>
        <p:spPr>
          <a:xfrm>
            <a:off x="2149819" y="3748125"/>
            <a:ext cx="229916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Consolidates all logging, metrics, and application performance monitoring (APM) into a single, unified platform.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CB55CD-E790-6B45-93BB-2F115159F512}"/>
              </a:ext>
            </a:extLst>
          </p:cNvPr>
          <p:cNvSpPr txBox="1"/>
          <p:nvPr/>
        </p:nvSpPr>
        <p:spPr>
          <a:xfrm>
            <a:off x="4688525" y="3748125"/>
            <a:ext cx="219869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Centralized, automated patch management across Azure, on-premises (via Azure Arc), and multi-cloud environments from a single control plane.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8290A2-69C4-796A-2EB3-3D00282CD26F}"/>
              </a:ext>
            </a:extLst>
          </p:cNvPr>
          <p:cNvSpPr txBox="1"/>
          <p:nvPr/>
        </p:nvSpPr>
        <p:spPr>
          <a:xfrm>
            <a:off x="7283509" y="3748125"/>
            <a:ext cx="217223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Offers secure, simple, and scalable backup services with minimal infrastructure overhead (no tapes, no storage hardware, no media servers).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00DBF4-A8FC-BE94-3364-9FAF85954F6D}"/>
              </a:ext>
            </a:extLst>
          </p:cNvPr>
          <p:cNvSpPr txBox="1"/>
          <p:nvPr/>
        </p:nvSpPr>
        <p:spPr>
          <a:xfrm>
            <a:off x="556752" y="4750013"/>
            <a:ext cx="16054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Key cost impact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84276C-FAF3-482E-4970-5D1660B4EA6D}"/>
              </a:ext>
            </a:extLst>
          </p:cNvPr>
          <p:cNvSpPr txBox="1"/>
          <p:nvPr/>
        </p:nvSpPr>
        <p:spPr>
          <a:xfrm>
            <a:off x="2149819" y="4725447"/>
            <a:ext cx="21058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Eliminates expensive third-party monitoring licenses, hardware, and the cost of maintaining separate logging infrastructure.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BDAF4A-028C-2142-4C11-BD9BE94B4B4A}"/>
              </a:ext>
            </a:extLst>
          </p:cNvPr>
          <p:cNvSpPr txBox="1"/>
          <p:nvPr/>
        </p:nvSpPr>
        <p:spPr>
          <a:xfrm>
            <a:off x="4688525" y="4725447"/>
            <a:ext cx="21986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Drastically cuts down on the operational hours and complexity required for manually patching servers, improving compliance and reducing security-related downtime costs.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D65944A-7A45-9FE7-81B1-44A4AC62FC34}"/>
              </a:ext>
            </a:extLst>
          </p:cNvPr>
          <p:cNvSpPr txBox="1"/>
          <p:nvPr/>
        </p:nvSpPr>
        <p:spPr>
          <a:xfrm>
            <a:off x="7283509" y="4725447"/>
            <a:ext cx="21722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Reduces capital expenditure on backup hardware, decreases operational costs related to managing physical storage, and lowers personnel time spent on manual backup maintenance.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1D05CC8-1041-E957-8BC6-0732EA430E71}"/>
              </a:ext>
            </a:extLst>
          </p:cNvPr>
          <p:cNvSpPr txBox="1"/>
          <p:nvPr/>
        </p:nvSpPr>
        <p:spPr>
          <a:xfrm>
            <a:off x="556752" y="5866797"/>
            <a:ext cx="1550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On-prem cost assumptions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2395852-2452-CCFF-33BE-D0DCC6142566}"/>
              </a:ext>
            </a:extLst>
          </p:cNvPr>
          <p:cNvSpPr txBox="1"/>
          <p:nvPr/>
        </p:nvSpPr>
        <p:spPr>
          <a:xfrm>
            <a:off x="2149819" y="5856658"/>
            <a:ext cx="22123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cs typeface="Segoe Sans Text" pitchFamily="2" charset="0"/>
              </a:rPr>
              <a:t>Monitoring cost is calculated basis the on-prem management software and the cost for the monitoring admin. 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E5E6FE8-AF28-178A-6C81-1EE6B3A907AE}"/>
              </a:ext>
            </a:extLst>
          </p:cNvPr>
          <p:cNvSpPr txBox="1"/>
          <p:nvPr/>
        </p:nvSpPr>
        <p:spPr>
          <a:xfrm>
            <a:off x="4688524" y="5856658"/>
            <a:ext cx="22561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000">
                <a:solidFill>
                  <a:prstClr val="black"/>
                </a:solidFill>
                <a:latin typeface="Segoe Sans Text" pitchFamily="2" charset="0"/>
                <a:cs typeface="Segoe Sans Text" pitchFamily="2" charset="0"/>
              </a:rPr>
              <a:t>Patching cost is calculated basis the on-prem management software and the cost for the patching admin. 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CAF9F49-D580-599A-7456-1C3912F4D161}"/>
              </a:ext>
            </a:extLst>
          </p:cNvPr>
          <p:cNvSpPr txBox="1"/>
          <p:nvPr/>
        </p:nvSpPr>
        <p:spPr>
          <a:xfrm>
            <a:off x="7283509" y="5856658"/>
            <a:ext cx="217223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000">
                <a:solidFill>
                  <a:prstClr val="black"/>
                </a:solidFill>
                <a:latin typeface="Segoe Sans Text" pitchFamily="2" charset="0"/>
                <a:cs typeface="Segoe Sans Text" pitchFamily="2" charset="0"/>
              </a:rPr>
              <a:t>Backup cost is calculated basis the on-prem backup service cost and the cost for the backup admin.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9EB2BB-132E-07FE-B793-C5DCD0F08F7A}"/>
              </a:ext>
            </a:extLst>
          </p:cNvPr>
          <p:cNvSpPr txBox="1"/>
          <p:nvPr/>
        </p:nvSpPr>
        <p:spPr>
          <a:xfrm>
            <a:off x="651409" y="6571301"/>
            <a:ext cx="11160100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373C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  <a:hlinkClick r:id="" action="ppaction://noaction"/>
              </a:rPr>
              <a:t>Explore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373C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the benefits of management solutions offered on Azure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4316585-166E-F0E2-9D8A-077562EAF61C}"/>
              </a:ext>
            </a:extLst>
          </p:cNvPr>
          <p:cNvSpPr/>
          <p:nvPr/>
        </p:nvSpPr>
        <p:spPr bwMode="auto">
          <a:xfrm>
            <a:off x="6944769" y="1815607"/>
            <a:ext cx="2927940" cy="587769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14367">
              <a:defRPr/>
            </a:pPr>
            <a:endParaRPr lang="en-US" sz="1200" dirty="0">
              <a:solidFill>
                <a:prstClr val="white"/>
              </a:solidFill>
              <a:latin typeface="Segoe Sans Text" pitchFamily="2" charset="0"/>
              <a:cs typeface="Segoe Sans Text" pitchFamily="2" charset="0"/>
            </a:endParaRPr>
          </a:p>
        </p:txBody>
      </p:sp>
      <p:sp>
        <p:nvSpPr>
          <p:cNvPr id="4" name="TextBox 3" descr="$1.11K">
            <a:extLst>
              <a:ext uri="{FF2B5EF4-FFF2-40B4-BE49-F238E27FC236}">
                <a16:creationId xmlns:a16="http://schemas.microsoft.com/office/drawing/2014/main" id="{1632A513-5441-3DE3-F28B-76B3DED098FA}"/>
              </a:ext>
            </a:extLst>
          </p:cNvPr>
          <p:cNvSpPr txBox="1"/>
          <p:nvPr/>
        </p:nvSpPr>
        <p:spPr>
          <a:xfrm>
            <a:off x="6887219" y="1544482"/>
            <a:ext cx="2395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Segoe Sans Text Semibold" pitchFamily="2" charset="0"/>
                <a:cs typeface="Segoe Sans Text Semibold" pitchFamily="2" charset="0"/>
              </a:rPr>
              <a:t>$1.11K</a:t>
            </a:r>
            <a:endParaRPr lang="en-US" sz="2400" dirty="0">
              <a:solidFill>
                <a:schemeClr val="bg1"/>
              </a:solidFill>
              <a:latin typeface="Segoe Sans Text Semibold" pitchFamily="2" charset="0"/>
              <a:cs typeface="Segoe Sans Text Semibold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16754-CA39-F7A6-7E49-3064F9521CE8}"/>
              </a:ext>
            </a:extLst>
          </p:cNvPr>
          <p:cNvSpPr txBox="1"/>
          <p:nvPr/>
        </p:nvSpPr>
        <p:spPr>
          <a:xfrm>
            <a:off x="904466" y="2328658"/>
            <a:ext cx="1975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rPr>
              <a:t>Management cost</a:t>
            </a:r>
            <a:br>
              <a:rPr lang="en-IN" sz="1200" dirty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rPr>
            </a:br>
            <a:r>
              <a:rPr lang="en-IN" sz="1200" dirty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rPr>
              <a:t>On-Prem cost</a:t>
            </a:r>
            <a:endParaRPr lang="en-US" sz="1200" dirty="0">
              <a:solidFill>
                <a:schemeClr val="bg1"/>
              </a:solidFill>
              <a:latin typeface="Segoe Sans Text" pitchFamily="2" charset="0"/>
              <a:cs typeface="Segoe Sans Text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2B1A4D-2B30-D725-B44F-26B05CE3B1D7}"/>
              </a:ext>
            </a:extLst>
          </p:cNvPr>
          <p:cNvSpPr txBox="1"/>
          <p:nvPr/>
        </p:nvSpPr>
        <p:spPr>
          <a:xfrm>
            <a:off x="4211545" y="2328658"/>
            <a:ext cx="2049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rPr>
              <a:t>Management cost</a:t>
            </a:r>
            <a:br>
              <a:rPr lang="en-IN" sz="1200" dirty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rPr>
            </a:br>
            <a:r>
              <a:rPr lang="en-IN" sz="1200" dirty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rPr>
              <a:t>on Azure</a:t>
            </a:r>
            <a:endParaRPr lang="en-US" sz="1200" dirty="0">
              <a:solidFill>
                <a:schemeClr val="bg1"/>
              </a:solidFill>
              <a:latin typeface="Segoe Sans Text" pitchFamily="2" charset="0"/>
              <a:cs typeface="Segoe Sans Text" pitchFamily="2" charset="0"/>
            </a:endParaRPr>
          </a:p>
        </p:txBody>
      </p:sp>
      <p:sp>
        <p:nvSpPr>
          <p:cNvPr id="18" name="TextBox 17" descr="$1.63K">
            <a:extLst>
              <a:ext uri="{FF2B5EF4-FFF2-40B4-BE49-F238E27FC236}">
                <a16:creationId xmlns:a16="http://schemas.microsoft.com/office/drawing/2014/main" id="{7F62C23D-B1FE-8A6A-5F54-103AA0400C81}"/>
              </a:ext>
            </a:extLst>
          </p:cNvPr>
          <p:cNvSpPr txBox="1"/>
          <p:nvPr/>
        </p:nvSpPr>
        <p:spPr>
          <a:xfrm>
            <a:off x="874306" y="1779539"/>
            <a:ext cx="2306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Segoe Sans Text Semibold" pitchFamily="2" charset="0"/>
                <a:cs typeface="Segoe Sans Text Semibold" pitchFamily="2" charset="0"/>
              </a:rPr>
              <a:t>$1.63K</a:t>
            </a:r>
            <a:endParaRPr lang="en-US" sz="2400" dirty="0">
              <a:solidFill>
                <a:schemeClr val="bg1"/>
              </a:solidFill>
              <a:latin typeface="Segoe Sans Text Semibold" pitchFamily="2" charset="0"/>
              <a:cs typeface="Segoe Sans Text Semibold" pitchFamily="2" charset="0"/>
            </a:endParaRPr>
          </a:p>
        </p:txBody>
      </p:sp>
      <p:sp>
        <p:nvSpPr>
          <p:cNvPr id="19" name="TextBox 18" descr="$0.52K">
            <a:extLst>
              <a:ext uri="{FF2B5EF4-FFF2-40B4-BE49-F238E27FC236}">
                <a16:creationId xmlns:a16="http://schemas.microsoft.com/office/drawing/2014/main" id="{0DF68A34-A60E-B329-3285-A2FF8BAC9809}"/>
              </a:ext>
            </a:extLst>
          </p:cNvPr>
          <p:cNvSpPr txBox="1"/>
          <p:nvPr/>
        </p:nvSpPr>
        <p:spPr>
          <a:xfrm>
            <a:off x="4143082" y="1728283"/>
            <a:ext cx="2184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Segoe Sans Text Semibold" pitchFamily="2" charset="0"/>
                <a:cs typeface="Segoe Sans Text Semibold" pitchFamily="2" charset="0"/>
              </a:rPr>
              <a:t>$0.52K</a:t>
            </a:r>
            <a:endParaRPr lang="en-US" sz="2400" dirty="0">
              <a:solidFill>
                <a:schemeClr val="bg1"/>
              </a:solidFill>
              <a:latin typeface="Segoe Sans Text Semibold" pitchFamily="2" charset="0"/>
              <a:cs typeface="Segoe Sans Text Semibold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565AE0-B383-8790-7743-C4630287EFD8}"/>
              </a:ext>
            </a:extLst>
          </p:cNvPr>
          <p:cNvSpPr txBox="1"/>
          <p:nvPr/>
        </p:nvSpPr>
        <p:spPr>
          <a:xfrm>
            <a:off x="6837160" y="2166792"/>
            <a:ext cx="25802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367">
              <a:defRPr/>
            </a:pPr>
            <a:r>
              <a:rPr lang="en-US" sz="1000" dirty="0">
                <a:solidFill>
                  <a:prstClr val="white"/>
                </a:solidFill>
                <a:latin typeface="Segoe Sans Text" pitchFamily="2" charset="0"/>
                <a:cs typeface="Segoe Sans Text" pitchFamily="2" charset="0"/>
              </a:rPr>
              <a:t>Savings by using Azure Update Manager for patching, Azure Monitor for observability and Azure Backup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50D1A1-BC84-BC0C-1B6E-91677764CEDA}"/>
              </a:ext>
            </a:extLst>
          </p:cNvPr>
          <p:cNvSpPr/>
          <p:nvPr/>
        </p:nvSpPr>
        <p:spPr>
          <a:xfrm>
            <a:off x="204825" y="1544308"/>
            <a:ext cx="9250917" cy="1271635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 descr="$1.63K">
            <a:extLst>
              <a:ext uri="{FF2B5EF4-FFF2-40B4-BE49-F238E27FC236}">
                <a16:creationId xmlns:a16="http://schemas.microsoft.com/office/drawing/2014/main" id="{BE2EF1A6-22BB-3032-B5D6-DA5F56429E13}"/>
              </a:ext>
            </a:extLst>
          </p:cNvPr>
          <p:cNvSpPr txBox="1"/>
          <p:nvPr/>
        </p:nvSpPr>
        <p:spPr>
          <a:xfrm>
            <a:off x="452847" y="1742171"/>
            <a:ext cx="1802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$1.63K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B3D1AE-86F3-66F4-7347-748C71DFD0BE}"/>
              </a:ext>
            </a:extLst>
          </p:cNvPr>
          <p:cNvSpPr txBox="1"/>
          <p:nvPr/>
        </p:nvSpPr>
        <p:spPr>
          <a:xfrm>
            <a:off x="442155" y="2149072"/>
            <a:ext cx="1802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Segeo sans text"/>
              </a:rPr>
              <a:t>Management cost</a:t>
            </a:r>
            <a:br>
              <a:rPr lang="en-IN" sz="1200" dirty="0">
                <a:solidFill>
                  <a:schemeClr val="bg1"/>
                </a:solidFill>
                <a:latin typeface="Segeo sans text"/>
              </a:rPr>
            </a:br>
            <a:r>
              <a:rPr lang="en-IN" sz="1200" dirty="0">
                <a:solidFill>
                  <a:schemeClr val="bg1"/>
                </a:solidFill>
                <a:latin typeface="Segeo sans text"/>
              </a:rPr>
              <a:t>On-Prem cost</a:t>
            </a:r>
            <a:endParaRPr lang="en-US" sz="1200" dirty="0">
              <a:solidFill>
                <a:schemeClr val="bg1"/>
              </a:solidFill>
              <a:latin typeface="Segeo sans text"/>
            </a:endParaRPr>
          </a:p>
        </p:txBody>
      </p:sp>
      <p:sp>
        <p:nvSpPr>
          <p:cNvPr id="13" name="TextBox 12" descr="$0.52K">
            <a:extLst>
              <a:ext uri="{FF2B5EF4-FFF2-40B4-BE49-F238E27FC236}">
                <a16:creationId xmlns:a16="http://schemas.microsoft.com/office/drawing/2014/main" id="{3269D9C4-FFE2-2041-1E89-6BE50DE38026}"/>
              </a:ext>
            </a:extLst>
          </p:cNvPr>
          <p:cNvSpPr txBox="1"/>
          <p:nvPr/>
        </p:nvSpPr>
        <p:spPr>
          <a:xfrm>
            <a:off x="3357880" y="1742171"/>
            <a:ext cx="1802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$0.52K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5" name="TextBox 14" descr="$1.11K">
            <a:extLst>
              <a:ext uri="{FF2B5EF4-FFF2-40B4-BE49-F238E27FC236}">
                <a16:creationId xmlns:a16="http://schemas.microsoft.com/office/drawing/2014/main" id="{DD743112-ACA4-2C27-725C-ECFD3A0EF2D5}"/>
              </a:ext>
            </a:extLst>
          </p:cNvPr>
          <p:cNvSpPr txBox="1"/>
          <p:nvPr/>
        </p:nvSpPr>
        <p:spPr>
          <a:xfrm>
            <a:off x="6172043" y="1738759"/>
            <a:ext cx="2286059" cy="46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$1.11K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0E5943-F676-56A4-96B5-501A44FFC723}"/>
              </a:ext>
            </a:extLst>
          </p:cNvPr>
          <p:cNvSpPr txBox="1"/>
          <p:nvPr/>
        </p:nvSpPr>
        <p:spPr>
          <a:xfrm>
            <a:off x="3370271" y="2149072"/>
            <a:ext cx="1878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Management cost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on Azure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3C8F61-EA8D-B546-E6E4-62E9700922CD}"/>
              </a:ext>
            </a:extLst>
          </p:cNvPr>
          <p:cNvSpPr txBox="1"/>
          <p:nvPr/>
        </p:nvSpPr>
        <p:spPr>
          <a:xfrm>
            <a:off x="6172043" y="2149072"/>
            <a:ext cx="3111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Savings by using Azure Update Manager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for patching, Azure Monitor for 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observability and Azure Backup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5EC654-3337-2BD7-4EB7-2709274906D8}"/>
              </a:ext>
            </a:extLst>
          </p:cNvPr>
          <p:cNvSpPr>
            <a:spLocks/>
          </p:cNvSpPr>
          <p:nvPr/>
        </p:nvSpPr>
        <p:spPr>
          <a:xfrm>
            <a:off x="2136072" y="1943380"/>
            <a:ext cx="278166" cy="73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967907-DD57-525D-ABB5-CA816D1DB72F}"/>
              </a:ext>
            </a:extLst>
          </p:cNvPr>
          <p:cNvSpPr>
            <a:spLocks/>
          </p:cNvSpPr>
          <p:nvPr/>
        </p:nvSpPr>
        <p:spPr>
          <a:xfrm>
            <a:off x="5177169" y="1917940"/>
            <a:ext cx="23204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941F56-5665-0EC5-64E6-871FB8CA0EE6}"/>
              </a:ext>
            </a:extLst>
          </p:cNvPr>
          <p:cNvSpPr>
            <a:spLocks/>
          </p:cNvSpPr>
          <p:nvPr/>
        </p:nvSpPr>
        <p:spPr>
          <a:xfrm>
            <a:off x="5177169" y="1998327"/>
            <a:ext cx="23204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5324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321B3-91EA-1E85-5897-0936FC029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F7C665E-856C-B652-A03C-17B688B4218A}"/>
              </a:ext>
            </a:extLst>
          </p:cNvPr>
          <p:cNvSpPr/>
          <p:nvPr/>
        </p:nvSpPr>
        <p:spPr>
          <a:xfrm>
            <a:off x="731838" y="4805897"/>
            <a:ext cx="11160125" cy="1636992"/>
          </a:xfrm>
          <a:prstGeom prst="roundRect">
            <a:avLst>
              <a:gd name="adj" fmla="val 7344"/>
            </a:avLst>
          </a:prstGeom>
          <a:gradFill flip="none" rotWithShape="1"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Segoe UI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D146789-B407-1D40-287F-BF0EEA55B630}"/>
              </a:ext>
            </a:extLst>
          </p:cNvPr>
          <p:cNvSpPr/>
          <p:nvPr/>
        </p:nvSpPr>
        <p:spPr>
          <a:xfrm>
            <a:off x="731838" y="1798370"/>
            <a:ext cx="11160125" cy="2891296"/>
          </a:xfrm>
          <a:prstGeom prst="roundRect">
            <a:avLst>
              <a:gd name="adj" fmla="val 4730"/>
            </a:avLst>
          </a:prstGeom>
          <a:gradFill flip="none" rotWithShape="1"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Segoe UI" pitchFamily="34" charset="0"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6256313-5979-21A0-58EB-1A7870A73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7200"/>
            <a:ext cx="7699210" cy="553998"/>
          </a:xfrm>
        </p:spPr>
        <p:txBody>
          <a:bodyPr>
            <a:normAutofit/>
          </a:bodyPr>
          <a:lstStyle/>
          <a:p>
            <a:r>
              <a:rPr lang="en-US" sz="2800">
                <a:latin typeface="Segoe Sans Text" pitchFamily="2" charset="0"/>
                <a:cs typeface="Segoe Sans Text" pitchFamily="2" charset="0"/>
              </a:rPr>
              <a:t>Azure target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300976-4E94-CCDF-555C-DF6F158D2365}"/>
              </a:ext>
            </a:extLst>
          </p:cNvPr>
          <p:cNvSpPr txBox="1"/>
          <p:nvPr/>
        </p:nvSpPr>
        <p:spPr>
          <a:xfrm>
            <a:off x="887119" y="2795204"/>
            <a:ext cx="15557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50" normalizeH="0" baseline="0" noProof="0" dirty="0">
                <a:ln w="3175"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Modernize/Re-platform (PaaS)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2683950-B793-C8AD-1D92-C809EB741493}"/>
              </a:ext>
            </a:extLst>
          </p:cNvPr>
          <p:cNvSpPr txBox="1"/>
          <p:nvPr/>
        </p:nvSpPr>
        <p:spPr>
          <a:xfrm>
            <a:off x="887119" y="2271984"/>
            <a:ext cx="7898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01.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egoe Sans Text" pitchFamily="2" charset="0"/>
              <a:ea typeface="Segoe UI" pitchFamily="34" charset="0"/>
              <a:cs typeface="Segoe Sans Text" pitchFamily="2" charset="0"/>
            </a:endParaRPr>
          </a:p>
        </p:txBody>
      </p:sp>
      <p:graphicFrame>
        <p:nvGraphicFramePr>
          <p:cNvPr id="138" name="Table 137">
            <a:extLst>
              <a:ext uri="{FF2B5EF4-FFF2-40B4-BE49-F238E27FC236}">
                <a16:creationId xmlns:a16="http://schemas.microsoft.com/office/drawing/2014/main" id="{DA723FF4-E63C-1A6D-1A46-C35BFB37F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965880"/>
              </p:ext>
            </p:extLst>
          </p:nvPr>
        </p:nvGraphicFramePr>
        <p:xfrm>
          <a:off x="2598131" y="1382750"/>
          <a:ext cx="9163656" cy="4861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6910">
                  <a:extLst>
                    <a:ext uri="{9D8B030D-6E8A-4147-A177-3AD203B41FA5}">
                      <a16:colId xmlns:a16="http://schemas.microsoft.com/office/drawing/2014/main" val="3857184834"/>
                    </a:ext>
                  </a:extLst>
                </a:gridCol>
                <a:gridCol w="999863">
                  <a:extLst>
                    <a:ext uri="{9D8B030D-6E8A-4147-A177-3AD203B41FA5}">
                      <a16:colId xmlns:a16="http://schemas.microsoft.com/office/drawing/2014/main" val="194831987"/>
                    </a:ext>
                  </a:extLst>
                </a:gridCol>
                <a:gridCol w="1627276">
                  <a:extLst>
                    <a:ext uri="{9D8B030D-6E8A-4147-A177-3AD203B41FA5}">
                      <a16:colId xmlns:a16="http://schemas.microsoft.com/office/drawing/2014/main" val="1152768789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89413688"/>
                    </a:ext>
                  </a:extLst>
                </a:gridCol>
                <a:gridCol w="2389360">
                  <a:extLst>
                    <a:ext uri="{9D8B030D-6E8A-4147-A177-3AD203B41FA5}">
                      <a16:colId xmlns:a16="http://schemas.microsoft.com/office/drawing/2014/main" val="3976417515"/>
                    </a:ext>
                  </a:extLst>
                </a:gridCol>
                <a:gridCol w="836976">
                  <a:extLst>
                    <a:ext uri="{9D8B030D-6E8A-4147-A177-3AD203B41FA5}">
                      <a16:colId xmlns:a16="http://schemas.microsoft.com/office/drawing/2014/main" val="969526872"/>
                    </a:ext>
                  </a:extLst>
                </a:gridCol>
                <a:gridCol w="945931">
                  <a:extLst>
                    <a:ext uri="{9D8B030D-6E8A-4147-A177-3AD203B41FA5}">
                      <a16:colId xmlns:a16="http://schemas.microsoft.com/office/drawing/2014/main" val="2885973864"/>
                    </a:ext>
                  </a:extLst>
                </a:gridCol>
              </a:tblGrid>
              <a:tr h="406237">
                <a:tc>
                  <a:txBody>
                    <a:bodyPr/>
                    <a:lstStyle/>
                    <a:p>
                      <a:r>
                        <a:rPr lang="en-US" sz="900" i="1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Dev / Test</a:t>
                      </a:r>
                      <a:br>
                        <a:rPr lang="en-US" sz="900" i="1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</a:br>
                      <a:r>
                        <a:rPr lang="en-US" sz="900" i="1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( Source #)</a:t>
                      </a:r>
                      <a:endParaRPr lang="en-US" sz="900" i="1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Production</a:t>
                      </a:r>
                    </a:p>
                    <a:p>
                      <a:r>
                        <a:rPr lang="en-US" sz="900" i="1" kern="120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( Source #)</a:t>
                      </a:r>
                      <a:endParaRPr lang="en-US" sz="900" i="1" kern="120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cs typeface="Segoe Sans Text" pitchFamily="2" charset="0"/>
                        </a:rPr>
                        <a:t>Source</a:t>
                      </a:r>
                      <a:endParaRPr kumimoji="0" lang="en-IN" sz="9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Migration Strategy</a:t>
                      </a:r>
                      <a:endParaRPr lang="en-US" sz="900" i="1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j-ea"/>
                        <a:cs typeface="Segoe Sans Text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kern="120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Target </a:t>
                      </a:r>
                      <a:endParaRPr lang="en-US" sz="900" i="1" kern="120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kern="120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Dev / Test</a:t>
                      </a:r>
                      <a:br>
                        <a:rPr lang="en-US" sz="900" i="1" kern="120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</a:br>
                      <a:r>
                        <a:rPr lang="en-US" sz="900" i="1" kern="120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( Target #)</a:t>
                      </a:r>
                      <a:endParaRPr lang="en-US" sz="900" i="1" kern="120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i="1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Production</a:t>
                      </a:r>
                    </a:p>
                    <a:p>
                      <a:r>
                        <a:rPr lang="en-US" sz="900" i="1" kern="120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( Target #)</a:t>
                      </a:r>
                      <a:endParaRPr lang="en-US" sz="900" i="1" kern="120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637128"/>
                  </a:ext>
                </a:extLst>
              </a:tr>
              <a:tr h="3735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Webapps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Refactor/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Replatform</a:t>
                      </a:r>
                      <a:endParaRPr lang="en-US" sz="1200" dirty="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057845"/>
                  </a:ext>
                </a:extLst>
              </a:tr>
              <a:tr h="400467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Webapps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Refactor/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Replatform</a:t>
                      </a:r>
                      <a:endParaRPr lang="en-US" sz="1200" dirty="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443727"/>
                  </a:ext>
                </a:extLst>
              </a:tr>
              <a:tr h="41381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SQL Instances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Refactor/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Replatform</a:t>
                      </a:r>
                      <a:endParaRPr lang="en-US" sz="1200" dirty="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Azure SQL Managed Instance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33879"/>
                  </a:ext>
                </a:extLst>
              </a:tr>
              <a:tr h="407141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PostgreSQL Instances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Refactor/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Replatform</a:t>
                      </a:r>
                      <a:endParaRPr lang="en-US" sz="1200" dirty="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Azure database for PostgreSQL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727269"/>
                  </a:ext>
                </a:extLst>
              </a:tr>
              <a:tr h="37377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MySQL/MariaDB Instances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Refactor/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Replatform</a:t>
                      </a:r>
                      <a:endParaRPr lang="en-US" sz="1200" dirty="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Azure database for MySQL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643080"/>
                  </a:ext>
                </a:extLst>
              </a:tr>
              <a:tr h="38711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Fileshares</a:t>
                      </a:r>
                      <a:endParaRPr lang="en-US" sz="1200" dirty="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Refactor/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Replatform</a:t>
                      </a:r>
                      <a:endParaRPr lang="en-US" sz="1200" dirty="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Azure Files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3673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MongoDB Instance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Refactor/</a:t>
                      </a:r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Replatform</a:t>
                      </a:r>
                      <a:endParaRPr lang="en-US" sz="1200" dirty="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Azure Document DB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15F9A">
                          <a:alpha val="2470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84741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16118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SQL Instance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Rehost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Azure VM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02044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Server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Rehost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Azure VM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AEC">
                        <a:alpha val="2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95D9">
                        <a:alpha val="2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197822"/>
                  </a:ext>
                </a:extLst>
              </a:tr>
            </a:tbl>
          </a:graphicData>
        </a:graphic>
      </p:graphicFrame>
      <p:sp>
        <p:nvSpPr>
          <p:cNvPr id="3" name="TextBox 2" descr="The list shows source and target combinations based on the workloads with “Migrate” migration intent.&#10;">
            <a:extLst>
              <a:ext uri="{FF2B5EF4-FFF2-40B4-BE49-F238E27FC236}">
                <a16:creationId xmlns:a16="http://schemas.microsoft.com/office/drawing/2014/main" id="{BBF4D008-4DC2-09ED-1A32-CE68FE9DC9CD}"/>
              </a:ext>
            </a:extLst>
          </p:cNvPr>
          <p:cNvSpPr txBox="1"/>
          <p:nvPr/>
        </p:nvSpPr>
        <p:spPr>
          <a:xfrm>
            <a:off x="748798" y="1015937"/>
            <a:ext cx="948144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The list shows source and target combinations based on the workloads with “Migrate” migration intent.
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61985E-7167-28FB-842E-B123A635D804}"/>
              </a:ext>
            </a:extLst>
          </p:cNvPr>
          <p:cNvSpPr txBox="1"/>
          <p:nvPr/>
        </p:nvSpPr>
        <p:spPr>
          <a:xfrm>
            <a:off x="887119" y="5310995"/>
            <a:ext cx="15557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Migrate/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Re-host to Azure (IaaS)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D97DB8-690C-798E-E86F-E32FFEE8B031}"/>
              </a:ext>
            </a:extLst>
          </p:cNvPr>
          <p:cNvSpPr txBox="1"/>
          <p:nvPr/>
        </p:nvSpPr>
        <p:spPr>
          <a:xfrm>
            <a:off x="887119" y="4787775"/>
            <a:ext cx="7898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02.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egoe Sans Text" pitchFamily="2" charset="0"/>
              <a:ea typeface="Segoe UI" pitchFamily="34" charset="0"/>
              <a:cs typeface="Segoe Sans Text" pitchFamily="2" charset="0"/>
            </a:endParaRPr>
          </a:p>
        </p:txBody>
      </p:sp>
      <p:sp>
        <p:nvSpPr>
          <p:cNvPr id="33" name="TextBox 32" descr="0">
            <a:extLst>
              <a:ext uri="{FF2B5EF4-FFF2-40B4-BE49-F238E27FC236}">
                <a16:creationId xmlns:a16="http://schemas.microsoft.com/office/drawing/2014/main" id="{E503CEB6-86E0-1E43-DFBB-A3362AFE1106}"/>
              </a:ext>
            </a:extLst>
          </p:cNvPr>
          <p:cNvSpPr txBox="1"/>
          <p:nvPr/>
        </p:nvSpPr>
        <p:spPr>
          <a:xfrm>
            <a:off x="2677998" y="1933195"/>
            <a:ext cx="605730" cy="239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34" name="TextBox 33" descr="0">
            <a:extLst>
              <a:ext uri="{FF2B5EF4-FFF2-40B4-BE49-F238E27FC236}">
                <a16:creationId xmlns:a16="http://schemas.microsoft.com/office/drawing/2014/main" id="{F342FBCA-EC0F-A31C-5A97-A47136BDB310}"/>
              </a:ext>
            </a:extLst>
          </p:cNvPr>
          <p:cNvSpPr txBox="1"/>
          <p:nvPr/>
        </p:nvSpPr>
        <p:spPr>
          <a:xfrm>
            <a:off x="3514968" y="1933195"/>
            <a:ext cx="794174" cy="23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36" name="TextBox 35" descr="0">
            <a:extLst>
              <a:ext uri="{FF2B5EF4-FFF2-40B4-BE49-F238E27FC236}">
                <a16:creationId xmlns:a16="http://schemas.microsoft.com/office/drawing/2014/main" id="{4908EDE5-4C34-5D83-1D0D-6672DEAA481C}"/>
              </a:ext>
            </a:extLst>
          </p:cNvPr>
          <p:cNvSpPr txBox="1"/>
          <p:nvPr/>
        </p:nvSpPr>
        <p:spPr>
          <a:xfrm>
            <a:off x="2677998" y="2323584"/>
            <a:ext cx="6057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37" name="TextBox 36" descr="0">
            <a:extLst>
              <a:ext uri="{FF2B5EF4-FFF2-40B4-BE49-F238E27FC236}">
                <a16:creationId xmlns:a16="http://schemas.microsoft.com/office/drawing/2014/main" id="{DEE0D9E6-F56D-9D4D-AF92-AE29E1377191}"/>
              </a:ext>
            </a:extLst>
          </p:cNvPr>
          <p:cNvSpPr txBox="1"/>
          <p:nvPr/>
        </p:nvSpPr>
        <p:spPr>
          <a:xfrm>
            <a:off x="3514967" y="2303454"/>
            <a:ext cx="7941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38" name="TextBox 37" descr="0">
            <a:extLst>
              <a:ext uri="{FF2B5EF4-FFF2-40B4-BE49-F238E27FC236}">
                <a16:creationId xmlns:a16="http://schemas.microsoft.com/office/drawing/2014/main" id="{69D812FB-3A4F-4F50-5F6C-A0C7DBF0F429}"/>
              </a:ext>
            </a:extLst>
          </p:cNvPr>
          <p:cNvSpPr txBox="1"/>
          <p:nvPr/>
        </p:nvSpPr>
        <p:spPr>
          <a:xfrm>
            <a:off x="2677998" y="2684645"/>
            <a:ext cx="6816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39" name="TextBox 38" descr="0">
            <a:extLst>
              <a:ext uri="{FF2B5EF4-FFF2-40B4-BE49-F238E27FC236}">
                <a16:creationId xmlns:a16="http://schemas.microsoft.com/office/drawing/2014/main" id="{9058E3A7-C916-A145-A8BF-F30264C4D319}"/>
              </a:ext>
            </a:extLst>
          </p:cNvPr>
          <p:cNvSpPr txBox="1"/>
          <p:nvPr/>
        </p:nvSpPr>
        <p:spPr>
          <a:xfrm>
            <a:off x="3514968" y="2684645"/>
            <a:ext cx="7941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40" name="TextBox 39" descr="0">
            <a:extLst>
              <a:ext uri="{FF2B5EF4-FFF2-40B4-BE49-F238E27FC236}">
                <a16:creationId xmlns:a16="http://schemas.microsoft.com/office/drawing/2014/main" id="{3E3ACDED-E224-ACE6-DC73-3E29A08C2A8B}"/>
              </a:ext>
            </a:extLst>
          </p:cNvPr>
          <p:cNvSpPr txBox="1"/>
          <p:nvPr/>
        </p:nvSpPr>
        <p:spPr>
          <a:xfrm>
            <a:off x="2677997" y="3109034"/>
            <a:ext cx="6355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41" name="TextBox 40" descr="0">
            <a:extLst>
              <a:ext uri="{FF2B5EF4-FFF2-40B4-BE49-F238E27FC236}">
                <a16:creationId xmlns:a16="http://schemas.microsoft.com/office/drawing/2014/main" id="{894E8D76-54B0-78E9-8089-3647AC56B2E7}"/>
              </a:ext>
            </a:extLst>
          </p:cNvPr>
          <p:cNvSpPr txBox="1"/>
          <p:nvPr/>
        </p:nvSpPr>
        <p:spPr>
          <a:xfrm>
            <a:off x="3514968" y="3092743"/>
            <a:ext cx="7941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42" name="TextBox 41" descr="0">
            <a:extLst>
              <a:ext uri="{FF2B5EF4-FFF2-40B4-BE49-F238E27FC236}">
                <a16:creationId xmlns:a16="http://schemas.microsoft.com/office/drawing/2014/main" id="{A6FDD5AF-EEFC-C5F4-ACB4-8E52421736A6}"/>
              </a:ext>
            </a:extLst>
          </p:cNvPr>
          <p:cNvSpPr txBox="1"/>
          <p:nvPr/>
        </p:nvSpPr>
        <p:spPr>
          <a:xfrm>
            <a:off x="2677998" y="3478469"/>
            <a:ext cx="6057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43" name="TextBox 42" descr="0">
            <a:extLst>
              <a:ext uri="{FF2B5EF4-FFF2-40B4-BE49-F238E27FC236}">
                <a16:creationId xmlns:a16="http://schemas.microsoft.com/office/drawing/2014/main" id="{68602946-A02C-0B1E-8113-0C5E1BBD12A1}"/>
              </a:ext>
            </a:extLst>
          </p:cNvPr>
          <p:cNvSpPr txBox="1"/>
          <p:nvPr/>
        </p:nvSpPr>
        <p:spPr>
          <a:xfrm>
            <a:off x="3514968" y="3478469"/>
            <a:ext cx="5639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44" name="TextBox 43" descr="0">
            <a:extLst>
              <a:ext uri="{FF2B5EF4-FFF2-40B4-BE49-F238E27FC236}">
                <a16:creationId xmlns:a16="http://schemas.microsoft.com/office/drawing/2014/main" id="{EA2B8237-758C-6548-E07D-B55941E227A0}"/>
              </a:ext>
            </a:extLst>
          </p:cNvPr>
          <p:cNvSpPr txBox="1"/>
          <p:nvPr/>
        </p:nvSpPr>
        <p:spPr>
          <a:xfrm>
            <a:off x="10053480" y="1856127"/>
            <a:ext cx="648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45" name="TextBox 44" descr="0">
            <a:extLst>
              <a:ext uri="{FF2B5EF4-FFF2-40B4-BE49-F238E27FC236}">
                <a16:creationId xmlns:a16="http://schemas.microsoft.com/office/drawing/2014/main" id="{8801E251-1443-EA07-F8A5-228EFE78559F}"/>
              </a:ext>
            </a:extLst>
          </p:cNvPr>
          <p:cNvSpPr txBox="1"/>
          <p:nvPr/>
        </p:nvSpPr>
        <p:spPr>
          <a:xfrm>
            <a:off x="10932460" y="1854362"/>
            <a:ext cx="766049" cy="234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46" name="TextBox 45" descr="0">
            <a:extLst>
              <a:ext uri="{FF2B5EF4-FFF2-40B4-BE49-F238E27FC236}">
                <a16:creationId xmlns:a16="http://schemas.microsoft.com/office/drawing/2014/main" id="{326CAFFA-3B7A-ED34-305E-0BE455E2A7A2}"/>
              </a:ext>
            </a:extLst>
          </p:cNvPr>
          <p:cNvSpPr txBox="1"/>
          <p:nvPr/>
        </p:nvSpPr>
        <p:spPr>
          <a:xfrm>
            <a:off x="10053480" y="2258123"/>
            <a:ext cx="6481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47" name="TextBox 46" descr="0">
            <a:extLst>
              <a:ext uri="{FF2B5EF4-FFF2-40B4-BE49-F238E27FC236}">
                <a16:creationId xmlns:a16="http://schemas.microsoft.com/office/drawing/2014/main" id="{CA62B174-EB74-1571-C4C4-387711B73BDC}"/>
              </a:ext>
            </a:extLst>
          </p:cNvPr>
          <p:cNvSpPr txBox="1"/>
          <p:nvPr/>
        </p:nvSpPr>
        <p:spPr>
          <a:xfrm>
            <a:off x="10932460" y="2258123"/>
            <a:ext cx="7660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48" name="TextBox 47" descr="0">
            <a:extLst>
              <a:ext uri="{FF2B5EF4-FFF2-40B4-BE49-F238E27FC236}">
                <a16:creationId xmlns:a16="http://schemas.microsoft.com/office/drawing/2014/main" id="{050D15DB-BF66-B215-40E2-5A3D2663D4C5}"/>
              </a:ext>
            </a:extLst>
          </p:cNvPr>
          <p:cNvSpPr txBox="1"/>
          <p:nvPr/>
        </p:nvSpPr>
        <p:spPr>
          <a:xfrm>
            <a:off x="10053480" y="2653253"/>
            <a:ext cx="6481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49" name="TextBox 48" descr="0">
            <a:extLst>
              <a:ext uri="{FF2B5EF4-FFF2-40B4-BE49-F238E27FC236}">
                <a16:creationId xmlns:a16="http://schemas.microsoft.com/office/drawing/2014/main" id="{80FEC2F3-F7C3-FA1C-C39D-1BC88E6ACFC5}"/>
              </a:ext>
            </a:extLst>
          </p:cNvPr>
          <p:cNvSpPr txBox="1"/>
          <p:nvPr/>
        </p:nvSpPr>
        <p:spPr>
          <a:xfrm>
            <a:off x="10932461" y="2653253"/>
            <a:ext cx="7848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50" name="TextBox 49" descr="0">
            <a:extLst>
              <a:ext uri="{FF2B5EF4-FFF2-40B4-BE49-F238E27FC236}">
                <a16:creationId xmlns:a16="http://schemas.microsoft.com/office/drawing/2014/main" id="{108F1E05-770E-FFDD-0010-9508630F0604}"/>
              </a:ext>
            </a:extLst>
          </p:cNvPr>
          <p:cNvSpPr txBox="1"/>
          <p:nvPr/>
        </p:nvSpPr>
        <p:spPr>
          <a:xfrm>
            <a:off x="10053480" y="3074789"/>
            <a:ext cx="6986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51" name="TextBox 50" descr="0">
            <a:extLst>
              <a:ext uri="{FF2B5EF4-FFF2-40B4-BE49-F238E27FC236}">
                <a16:creationId xmlns:a16="http://schemas.microsoft.com/office/drawing/2014/main" id="{3EE48B8C-8E5F-42F5-FE10-5F3A22F44186}"/>
              </a:ext>
            </a:extLst>
          </p:cNvPr>
          <p:cNvSpPr txBox="1"/>
          <p:nvPr/>
        </p:nvSpPr>
        <p:spPr>
          <a:xfrm>
            <a:off x="10932461" y="3044685"/>
            <a:ext cx="7952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52" name="TextBox 51" descr="0">
            <a:extLst>
              <a:ext uri="{FF2B5EF4-FFF2-40B4-BE49-F238E27FC236}">
                <a16:creationId xmlns:a16="http://schemas.microsoft.com/office/drawing/2014/main" id="{718FA07A-DBFC-1255-BB63-BF1E01E108C2}"/>
              </a:ext>
            </a:extLst>
          </p:cNvPr>
          <p:cNvSpPr txBox="1"/>
          <p:nvPr/>
        </p:nvSpPr>
        <p:spPr>
          <a:xfrm>
            <a:off x="10053480" y="3498073"/>
            <a:ext cx="6253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53" name="TextBox 52" descr="0">
            <a:extLst>
              <a:ext uri="{FF2B5EF4-FFF2-40B4-BE49-F238E27FC236}">
                <a16:creationId xmlns:a16="http://schemas.microsoft.com/office/drawing/2014/main" id="{15161326-779D-9CC6-C194-A09F4BA71595}"/>
              </a:ext>
            </a:extLst>
          </p:cNvPr>
          <p:cNvSpPr txBox="1"/>
          <p:nvPr/>
        </p:nvSpPr>
        <p:spPr>
          <a:xfrm>
            <a:off x="10932461" y="3498073"/>
            <a:ext cx="7848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54" name="TextBox 53" descr="0">
            <a:extLst>
              <a:ext uri="{FF2B5EF4-FFF2-40B4-BE49-F238E27FC236}">
                <a16:creationId xmlns:a16="http://schemas.microsoft.com/office/drawing/2014/main" id="{4CC76A6F-4DBF-E09C-97D5-F03B29382EC8}"/>
              </a:ext>
            </a:extLst>
          </p:cNvPr>
          <p:cNvSpPr txBox="1"/>
          <p:nvPr/>
        </p:nvSpPr>
        <p:spPr>
          <a:xfrm>
            <a:off x="2677998" y="5401192"/>
            <a:ext cx="635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55" name="TextBox 54" descr="0">
            <a:extLst>
              <a:ext uri="{FF2B5EF4-FFF2-40B4-BE49-F238E27FC236}">
                <a16:creationId xmlns:a16="http://schemas.microsoft.com/office/drawing/2014/main" id="{93DDA2C3-7D95-4130-B9A4-C9F20E5095E0}"/>
              </a:ext>
            </a:extLst>
          </p:cNvPr>
          <p:cNvSpPr txBox="1"/>
          <p:nvPr/>
        </p:nvSpPr>
        <p:spPr>
          <a:xfrm>
            <a:off x="3514968" y="5401192"/>
            <a:ext cx="7941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56" name="TextBox 55" descr="0">
            <a:extLst>
              <a:ext uri="{FF2B5EF4-FFF2-40B4-BE49-F238E27FC236}">
                <a16:creationId xmlns:a16="http://schemas.microsoft.com/office/drawing/2014/main" id="{281EE528-A733-2294-5E0D-D14B76B3CA71}"/>
              </a:ext>
            </a:extLst>
          </p:cNvPr>
          <p:cNvSpPr txBox="1"/>
          <p:nvPr/>
        </p:nvSpPr>
        <p:spPr>
          <a:xfrm>
            <a:off x="10053480" y="5401192"/>
            <a:ext cx="5639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57" name="TextBox 56" descr="0">
            <a:extLst>
              <a:ext uri="{FF2B5EF4-FFF2-40B4-BE49-F238E27FC236}">
                <a16:creationId xmlns:a16="http://schemas.microsoft.com/office/drawing/2014/main" id="{4D7B91DF-E32A-400B-1E35-F8716F366D58}"/>
              </a:ext>
            </a:extLst>
          </p:cNvPr>
          <p:cNvSpPr txBox="1"/>
          <p:nvPr/>
        </p:nvSpPr>
        <p:spPr>
          <a:xfrm>
            <a:off x="10932461" y="5401192"/>
            <a:ext cx="7848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58" name="TextBox 57" descr="0">
            <a:extLst>
              <a:ext uri="{FF2B5EF4-FFF2-40B4-BE49-F238E27FC236}">
                <a16:creationId xmlns:a16="http://schemas.microsoft.com/office/drawing/2014/main" id="{1246362F-1936-76B7-D0BB-AC2D9A5CAC2E}"/>
              </a:ext>
            </a:extLst>
          </p:cNvPr>
          <p:cNvSpPr txBox="1"/>
          <p:nvPr/>
        </p:nvSpPr>
        <p:spPr>
          <a:xfrm>
            <a:off x="2677997" y="5866558"/>
            <a:ext cx="6816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59" name="TextBox 58" descr="2">
            <a:extLst>
              <a:ext uri="{FF2B5EF4-FFF2-40B4-BE49-F238E27FC236}">
                <a16:creationId xmlns:a16="http://schemas.microsoft.com/office/drawing/2014/main" id="{897204F7-30F2-67B8-37B9-1956CCC5A92D}"/>
              </a:ext>
            </a:extLst>
          </p:cNvPr>
          <p:cNvSpPr txBox="1"/>
          <p:nvPr/>
        </p:nvSpPr>
        <p:spPr>
          <a:xfrm>
            <a:off x="3514967" y="5866558"/>
            <a:ext cx="7941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2</a:t>
            </a:r>
            <a:endParaRPr lang="en-US" sz="900" dirty="0"/>
          </a:p>
        </p:txBody>
      </p:sp>
      <p:sp>
        <p:nvSpPr>
          <p:cNvPr id="60" name="TextBox 59" descr="0">
            <a:extLst>
              <a:ext uri="{FF2B5EF4-FFF2-40B4-BE49-F238E27FC236}">
                <a16:creationId xmlns:a16="http://schemas.microsoft.com/office/drawing/2014/main" id="{3C6CB13E-50FF-4D35-9CE6-583B5CE6CDA0}"/>
              </a:ext>
            </a:extLst>
          </p:cNvPr>
          <p:cNvSpPr txBox="1"/>
          <p:nvPr/>
        </p:nvSpPr>
        <p:spPr>
          <a:xfrm>
            <a:off x="10053480" y="5917972"/>
            <a:ext cx="5639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61" name="TextBox 60" descr="2">
            <a:extLst>
              <a:ext uri="{FF2B5EF4-FFF2-40B4-BE49-F238E27FC236}">
                <a16:creationId xmlns:a16="http://schemas.microsoft.com/office/drawing/2014/main" id="{EE90EEEE-B1E5-D028-AF37-95500982FCC6}"/>
              </a:ext>
            </a:extLst>
          </p:cNvPr>
          <p:cNvSpPr txBox="1"/>
          <p:nvPr/>
        </p:nvSpPr>
        <p:spPr>
          <a:xfrm>
            <a:off x="10932461" y="5914026"/>
            <a:ext cx="7848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2</a:t>
            </a:r>
            <a:endParaRPr lang="en-US" sz="900" dirty="0"/>
          </a:p>
        </p:txBody>
      </p:sp>
      <p:sp>
        <p:nvSpPr>
          <p:cNvPr id="2" name="TextBox 1" descr="0">
            <a:extLst>
              <a:ext uri="{FF2B5EF4-FFF2-40B4-BE49-F238E27FC236}">
                <a16:creationId xmlns:a16="http://schemas.microsoft.com/office/drawing/2014/main" id="{53D7C3AA-B703-6166-A6F7-9299747A49E4}"/>
              </a:ext>
            </a:extLst>
          </p:cNvPr>
          <p:cNvSpPr txBox="1"/>
          <p:nvPr/>
        </p:nvSpPr>
        <p:spPr>
          <a:xfrm>
            <a:off x="2677998" y="3923331"/>
            <a:ext cx="635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7" name="TextBox 6" descr="0">
            <a:extLst>
              <a:ext uri="{FF2B5EF4-FFF2-40B4-BE49-F238E27FC236}">
                <a16:creationId xmlns:a16="http://schemas.microsoft.com/office/drawing/2014/main" id="{98E4DA02-5AE7-C017-4343-39E7A60E26C8}"/>
              </a:ext>
            </a:extLst>
          </p:cNvPr>
          <p:cNvSpPr txBox="1"/>
          <p:nvPr/>
        </p:nvSpPr>
        <p:spPr>
          <a:xfrm>
            <a:off x="3514968" y="3930044"/>
            <a:ext cx="5639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8" name="TextBox 7" descr="0">
            <a:extLst>
              <a:ext uri="{FF2B5EF4-FFF2-40B4-BE49-F238E27FC236}">
                <a16:creationId xmlns:a16="http://schemas.microsoft.com/office/drawing/2014/main" id="{655C68DD-14D1-C756-7D32-0D9ABD446672}"/>
              </a:ext>
            </a:extLst>
          </p:cNvPr>
          <p:cNvSpPr txBox="1"/>
          <p:nvPr/>
        </p:nvSpPr>
        <p:spPr>
          <a:xfrm>
            <a:off x="10053479" y="3930044"/>
            <a:ext cx="6253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11" name="TextBox 10" descr="0">
            <a:extLst>
              <a:ext uri="{FF2B5EF4-FFF2-40B4-BE49-F238E27FC236}">
                <a16:creationId xmlns:a16="http://schemas.microsoft.com/office/drawing/2014/main" id="{3542F40A-5195-8F2A-EF3F-D8EF612A2DAD}"/>
              </a:ext>
            </a:extLst>
          </p:cNvPr>
          <p:cNvSpPr txBox="1"/>
          <p:nvPr/>
        </p:nvSpPr>
        <p:spPr>
          <a:xfrm>
            <a:off x="10932461" y="3923331"/>
            <a:ext cx="7848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12" name="TextBox 11" descr="0">
            <a:extLst>
              <a:ext uri="{FF2B5EF4-FFF2-40B4-BE49-F238E27FC236}">
                <a16:creationId xmlns:a16="http://schemas.microsoft.com/office/drawing/2014/main" id="{1F1AFF93-85EA-76C7-2D86-955897994280}"/>
              </a:ext>
            </a:extLst>
          </p:cNvPr>
          <p:cNvSpPr txBox="1"/>
          <p:nvPr/>
        </p:nvSpPr>
        <p:spPr>
          <a:xfrm>
            <a:off x="10048151" y="4351865"/>
            <a:ext cx="6253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14" name="TextBox 13" descr="0">
            <a:extLst>
              <a:ext uri="{FF2B5EF4-FFF2-40B4-BE49-F238E27FC236}">
                <a16:creationId xmlns:a16="http://schemas.microsoft.com/office/drawing/2014/main" id="{1612D0FE-349A-28B0-C840-4391CA252CFD}"/>
              </a:ext>
            </a:extLst>
          </p:cNvPr>
          <p:cNvSpPr txBox="1"/>
          <p:nvPr/>
        </p:nvSpPr>
        <p:spPr>
          <a:xfrm>
            <a:off x="10942213" y="4351865"/>
            <a:ext cx="6253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15" name="TextBox 14" descr="0">
            <a:extLst>
              <a:ext uri="{FF2B5EF4-FFF2-40B4-BE49-F238E27FC236}">
                <a16:creationId xmlns:a16="http://schemas.microsoft.com/office/drawing/2014/main" id="{69948404-32A3-9C47-B5CF-BF96D8062DE9}"/>
              </a:ext>
            </a:extLst>
          </p:cNvPr>
          <p:cNvSpPr txBox="1"/>
          <p:nvPr/>
        </p:nvSpPr>
        <p:spPr>
          <a:xfrm>
            <a:off x="2677997" y="4351865"/>
            <a:ext cx="6355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16" name="TextBox 15" descr="0">
            <a:extLst>
              <a:ext uri="{FF2B5EF4-FFF2-40B4-BE49-F238E27FC236}">
                <a16:creationId xmlns:a16="http://schemas.microsoft.com/office/drawing/2014/main" id="{D6C2B549-C41F-BD4F-9C1D-E0635D39D9F5}"/>
              </a:ext>
            </a:extLst>
          </p:cNvPr>
          <p:cNvSpPr txBox="1"/>
          <p:nvPr/>
        </p:nvSpPr>
        <p:spPr>
          <a:xfrm>
            <a:off x="3524546" y="4351865"/>
            <a:ext cx="5639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</a:t>
            </a:r>
            <a:endParaRPr lang="en-US" sz="900" dirty="0"/>
          </a:p>
        </p:txBody>
      </p:sp>
      <p:sp>
        <p:nvSpPr>
          <p:cNvPr id="18" name="TextBox 17" descr="N/A">
            <a:extLst>
              <a:ext uri="{FF2B5EF4-FFF2-40B4-BE49-F238E27FC236}">
                <a16:creationId xmlns:a16="http://schemas.microsoft.com/office/drawing/2014/main" id="{E2230030-1D2A-9624-4D7E-9318B9A1B811}"/>
              </a:ext>
            </a:extLst>
          </p:cNvPr>
          <p:cNvSpPr txBox="1"/>
          <p:nvPr/>
        </p:nvSpPr>
        <p:spPr>
          <a:xfrm>
            <a:off x="7574400" y="1839600"/>
            <a:ext cx="2348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Segoe Sans Text" pitchFamily="2" charset="0"/>
                <a:cs typeface="Segoe Sans Text" pitchFamily="2" charset="0"/>
              </a:rPr>
              <a:t>N/A</a:t>
            </a:r>
          </a:p>
        </p:txBody>
      </p:sp>
      <p:sp>
        <p:nvSpPr>
          <p:cNvPr id="20" name="TextBox 19" descr="N/A">
            <a:extLst>
              <a:ext uri="{FF2B5EF4-FFF2-40B4-BE49-F238E27FC236}">
                <a16:creationId xmlns:a16="http://schemas.microsoft.com/office/drawing/2014/main" id="{2FDDC4DF-6DC3-A3FF-EE72-97D62E416073}"/>
              </a:ext>
            </a:extLst>
          </p:cNvPr>
          <p:cNvSpPr txBox="1"/>
          <p:nvPr/>
        </p:nvSpPr>
        <p:spPr>
          <a:xfrm>
            <a:off x="7574400" y="2211956"/>
            <a:ext cx="2348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Segoe Sans Text" pitchFamily="2" charset="0"/>
                <a:cs typeface="Segoe Sans Text" pitchFamily="2" charset="0"/>
              </a:rPr>
              <a:t>N/A</a:t>
            </a:r>
          </a:p>
        </p:txBody>
      </p:sp>
    </p:spTree>
    <p:extLst>
      <p:ext uri="{BB962C8B-B14F-4D97-AF65-F5344CB8AC3E}">
        <p14:creationId xmlns:p14="http://schemas.microsoft.com/office/powerpoint/2010/main" val="2486463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6984C-169F-C6E0-9B9C-749F1371C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93F1566-AFF2-FEE4-2829-36465DB86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056" y="2410090"/>
            <a:ext cx="1198387" cy="292289"/>
          </a:xfrm>
          <a:prstGeom prst="rect">
            <a:avLst/>
          </a:prstGeom>
        </p:spPr>
      </p:pic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822B5D55-ED41-8BDA-B213-67618068A1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14563" y="1218553"/>
            <a:ext cx="3384000" cy="5292532"/>
          </a:xfrm>
          <a:prstGeom prst="roundRect">
            <a:avLst>
              <a:gd name="adj" fmla="val 3753"/>
            </a:avLst>
          </a:prstGeom>
          <a:gradFill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84" name="Title 12">
            <a:extLst>
              <a:ext uri="{FF2B5EF4-FFF2-40B4-BE49-F238E27FC236}">
                <a16:creationId xmlns:a16="http://schemas.microsoft.com/office/drawing/2014/main" id="{ECAD8B17-494A-7107-B5B7-E631BB4A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7200"/>
            <a:ext cx="8385448" cy="55399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Segoe Sans Text" pitchFamily="2" charset="0"/>
                <a:cs typeface="Segoe Sans Text" pitchFamily="2" charset="0"/>
              </a:rPr>
              <a:t>IaaS migration readiness report</a:t>
            </a:r>
          </a:p>
        </p:txBody>
      </p:sp>
      <p:graphicFrame>
        <p:nvGraphicFramePr>
          <p:cNvPr id="3" name="Table 2" descr="&lt;table&gt;&lt;RightSizingTable&gt;">
            <a:extLst>
              <a:ext uri="{FF2B5EF4-FFF2-40B4-BE49-F238E27FC236}">
                <a16:creationId xmlns:a16="http://schemas.microsoft.com/office/drawing/2014/main" id="{55EC0967-17E0-3C06-1B2B-49940CEC32DE}"/>
              </a:ext>
            </a:extLst>
          </p:cNvPr>
          <p:cNvGraphicFramePr>
            <a:graphicFrameLocks noGrp="1"/>
          </p:cNvGraphicFramePr>
          <p:nvPr/>
        </p:nvGraphicFramePr>
        <p:xfrm>
          <a:off x="8240000" y="4698437"/>
          <a:ext cx="3651963" cy="1546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914">
                  <a:extLst>
                    <a:ext uri="{9D8B030D-6E8A-4147-A177-3AD203B41FA5}">
                      <a16:colId xmlns:a16="http://schemas.microsoft.com/office/drawing/2014/main" val="3545939183"/>
                    </a:ext>
                  </a:extLst>
                </a:gridCol>
                <a:gridCol w="1048870">
                  <a:extLst>
                    <a:ext uri="{9D8B030D-6E8A-4147-A177-3AD203B41FA5}">
                      <a16:colId xmlns:a16="http://schemas.microsoft.com/office/drawing/2014/main" val="809416258"/>
                    </a:ext>
                  </a:extLst>
                </a:gridCol>
                <a:gridCol w="1166179">
                  <a:extLst>
                    <a:ext uri="{9D8B030D-6E8A-4147-A177-3AD203B41FA5}">
                      <a16:colId xmlns:a16="http://schemas.microsoft.com/office/drawing/2014/main" val="1076523434"/>
                    </a:ext>
                  </a:extLst>
                </a:gridCol>
              </a:tblGrid>
              <a:tr h="284083">
                <a:tc>
                  <a:txBody>
                    <a:bodyPr/>
                    <a:lstStyle/>
                    <a:p>
                      <a:r>
                        <a:t>Category</a:t>
                      </a:r>
                      <a:endParaRPr lang="en-US" sz="900" i="1">
                        <a:solidFill>
                          <a:schemeClr val="tx1"/>
                        </a:solidFill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marL="136286" marR="136286" marT="68144" marB="68144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i="1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Source Core</a:t>
                      </a:r>
                    </a:p>
                  </a:txBody>
                  <a:tcPr marL="136286" marR="136286" marT="68144" marB="68144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i="1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Target Core</a:t>
                      </a:r>
                    </a:p>
                  </a:txBody>
                  <a:tcPr marL="136286" marR="136286" marT="68144" marB="68144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634484"/>
                  </a:ext>
                </a:extLst>
              </a:tr>
              <a:tr h="284082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Windows</a:t>
                      </a:r>
                    </a:p>
                  </a:txBody>
                  <a:tcPr marL="136286" marR="136286" marT="68144" marB="68144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2</a:t>
                      </a:r>
                    </a:p>
                  </a:txBody>
                  <a:tcPr marL="136286" marR="136286" marT="68144" marB="68144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4</a:t>
                      </a:r>
                    </a:p>
                  </a:txBody>
                  <a:tcPr marL="136286" marR="136286" marT="68144" marB="68144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173452"/>
                  </a:ext>
                </a:extLst>
              </a:tr>
              <a:tr h="284082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Linux</a:t>
                      </a:r>
                    </a:p>
                  </a:txBody>
                  <a:tcPr marL="136286" marR="136286" marT="68144" marB="68144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0</a:t>
                      </a:r>
                    </a:p>
                  </a:txBody>
                  <a:tcPr marL="136286" marR="136286" marT="68144" marB="68144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0</a:t>
                      </a:r>
                    </a:p>
                  </a:txBody>
                  <a:tcPr marL="136286" marR="136286" marT="68144" marB="68144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690030"/>
                  </a:ext>
                </a:extLst>
              </a:tr>
              <a:tr h="284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>
                          <a:solidFill>
                            <a:schemeClr val="dk1"/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Other</a:t>
                      </a:r>
                    </a:p>
                  </a:txBody>
                  <a:tcPr marL="136286" marR="136286" marT="68144" marB="68144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0</a:t>
                      </a:r>
                    </a:p>
                  </a:txBody>
                  <a:tcPr marL="136286" marR="136286" marT="68144" marB="68144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0</a:t>
                      </a:r>
                    </a:p>
                  </a:txBody>
                  <a:tcPr marL="136286" marR="136286" marT="68144" marB="68144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614665"/>
                  </a:ext>
                </a:extLst>
              </a:tr>
              <a:tr h="2840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dk1"/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SQL</a:t>
                      </a:r>
                    </a:p>
                  </a:txBody>
                  <a:tcPr marL="136286" marR="136286" marT="68144" marB="68144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0</a:t>
                      </a:r>
                    </a:p>
                  </a:txBody>
                  <a:tcPr marL="136286" marR="136286" marT="68144" marB="68144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Segoe Sans Text" pitchFamily="2" charset="0"/>
                          <a:cs typeface="Segoe Sans Text" pitchFamily="2" charset="0"/>
                        </a:rPr>
                        <a:t>0</a:t>
                      </a:r>
                    </a:p>
                  </a:txBody>
                  <a:tcPr marL="136286" marR="136286" marT="68144" marB="68144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311295"/>
                  </a:ext>
                </a:extLst>
              </a:tr>
            </a:tbl>
          </a:graphicData>
        </a:graphic>
      </p:graphicFrame>
      <p:grpSp>
        <p:nvGrpSpPr>
          <p:cNvPr id="214" name="Group 213">
            <a:extLst>
              <a:ext uri="{FF2B5EF4-FFF2-40B4-BE49-F238E27FC236}">
                <a16:creationId xmlns:a16="http://schemas.microsoft.com/office/drawing/2014/main" id="{BA3F54E2-8C3A-7250-36C4-8DC13410ABC6}"/>
              </a:ext>
            </a:extLst>
          </p:cNvPr>
          <p:cNvGrpSpPr/>
          <p:nvPr/>
        </p:nvGrpSpPr>
        <p:grpSpPr>
          <a:xfrm>
            <a:off x="4478743" y="1951685"/>
            <a:ext cx="2538036" cy="1805074"/>
            <a:chOff x="4551213" y="-108842"/>
            <a:chExt cx="2538036" cy="180507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DA46373-0DFD-D014-3C46-0EFA90AE3AC3}"/>
                </a:ext>
              </a:extLst>
            </p:cNvPr>
            <p:cNvSpPr txBox="1"/>
            <p:nvPr/>
          </p:nvSpPr>
          <p:spPr>
            <a:xfrm>
              <a:off x="5480540" y="-108842"/>
              <a:ext cx="68095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Segoe UI" pitchFamily="34" charset="0"/>
                  <a:cs typeface="Segoe UI" pitchFamily="34" charset="0"/>
                </a:rPr>
                <a:t>Current</a:t>
              </a:r>
              <a:endPara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82492E2-12BD-B5E2-F851-266C2FC96B42}"/>
                </a:ext>
              </a:extLst>
            </p:cNvPr>
            <p:cNvSpPr txBox="1"/>
            <p:nvPr/>
          </p:nvSpPr>
          <p:spPr>
            <a:xfrm>
              <a:off x="6183803" y="-108842"/>
              <a:ext cx="67937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Segoe UI" pitchFamily="34" charset="0"/>
                  <a:cs typeface="Segoe UI" pitchFamily="34" charset="0"/>
                </a:rPr>
                <a:t>In  3Yrs</a:t>
              </a:r>
              <a:endPara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B4B173D-D4D4-D176-27A5-ACB4B2242083}"/>
                </a:ext>
              </a:extLst>
            </p:cNvPr>
            <p:cNvSpPr txBox="1"/>
            <p:nvPr/>
          </p:nvSpPr>
          <p:spPr>
            <a:xfrm>
              <a:off x="4734410" y="109976"/>
              <a:ext cx="74280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+mn-cs"/>
                </a:rPr>
                <a:t>Windows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endParaRPr>
            </a:p>
          </p:txBody>
        </p:sp>
        <p:sp>
          <p:nvSpPr>
            <p:cNvPr id="42" name="TextBox 41" descr="0">
              <a:extLst>
                <a:ext uri="{FF2B5EF4-FFF2-40B4-BE49-F238E27FC236}">
                  <a16:creationId xmlns:a16="http://schemas.microsoft.com/office/drawing/2014/main" id="{529BC30B-C15E-CFA9-6762-3B98D07282B0}"/>
                </a:ext>
              </a:extLst>
            </p:cNvPr>
            <p:cNvSpPr txBox="1"/>
            <p:nvPr/>
          </p:nvSpPr>
          <p:spPr>
            <a:xfrm>
              <a:off x="5225973" y="112928"/>
              <a:ext cx="977788" cy="2562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Segoe UI" pitchFamily="34" charset="0"/>
                  <a:cs typeface="Segoe UI" pitchFamily="34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E45ABB3-8429-9295-0D80-8DCE5C2E69B2}"/>
                </a:ext>
              </a:extLst>
            </p:cNvPr>
            <p:cNvSpPr txBox="1"/>
            <p:nvPr/>
          </p:nvSpPr>
          <p:spPr>
            <a:xfrm>
              <a:off x="4714906" y="634955"/>
              <a:ext cx="65926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+mn-cs"/>
                </a:rPr>
                <a:t>RHEL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endParaRPr>
            </a:p>
          </p:txBody>
        </p:sp>
        <p:sp>
          <p:nvSpPr>
            <p:cNvPr id="47" name="TextBox 46" descr="0">
              <a:extLst>
                <a:ext uri="{FF2B5EF4-FFF2-40B4-BE49-F238E27FC236}">
                  <a16:creationId xmlns:a16="http://schemas.microsoft.com/office/drawing/2014/main" id="{70C75293-0523-2DCD-645F-C0D6FECAD0F4}"/>
                </a:ext>
              </a:extLst>
            </p:cNvPr>
            <p:cNvSpPr txBox="1"/>
            <p:nvPr/>
          </p:nvSpPr>
          <p:spPr>
            <a:xfrm>
              <a:off x="5186820" y="650403"/>
              <a:ext cx="105609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Segoe UI" pitchFamily="34" charset="0"/>
                  <a:cs typeface="Segoe UI" pitchFamily="34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955641C-59A3-A5B0-F4AB-37D723279202}"/>
                </a:ext>
              </a:extLst>
            </p:cNvPr>
            <p:cNvSpPr txBox="1"/>
            <p:nvPr/>
          </p:nvSpPr>
          <p:spPr>
            <a:xfrm>
              <a:off x="4714803" y="899426"/>
              <a:ext cx="88088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+mn-cs"/>
                </a:rPr>
                <a:t>Other Linux 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endParaRPr>
            </a:p>
          </p:txBody>
        </p:sp>
        <p:sp>
          <p:nvSpPr>
            <p:cNvPr id="49" name="TextBox 48" descr="0">
              <a:extLst>
                <a:ext uri="{FF2B5EF4-FFF2-40B4-BE49-F238E27FC236}">
                  <a16:creationId xmlns:a16="http://schemas.microsoft.com/office/drawing/2014/main" id="{EC462BE2-A486-B257-8337-0BDE532C6119}"/>
                </a:ext>
              </a:extLst>
            </p:cNvPr>
            <p:cNvSpPr txBox="1"/>
            <p:nvPr/>
          </p:nvSpPr>
          <p:spPr>
            <a:xfrm>
              <a:off x="5256624" y="914369"/>
              <a:ext cx="916487" cy="2619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 pitchFamily="34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035F726-786A-8DA6-3954-B5DDC8E75A19}"/>
                </a:ext>
              </a:extLst>
            </p:cNvPr>
            <p:cNvSpPr txBox="1"/>
            <p:nvPr/>
          </p:nvSpPr>
          <p:spPr>
            <a:xfrm>
              <a:off x="4551213" y="1152807"/>
              <a:ext cx="587399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Segoe UI" pitchFamily="34" charset="0"/>
                  <a:cs typeface="Segoe UI" pitchFamily="34" charset="0"/>
                </a:rPr>
                <a:t>Others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endParaRPr>
            </a:p>
          </p:txBody>
        </p:sp>
        <p:sp>
          <p:nvSpPr>
            <p:cNvPr id="51" name="TextBox 50" descr="0">
              <a:extLst>
                <a:ext uri="{FF2B5EF4-FFF2-40B4-BE49-F238E27FC236}">
                  <a16:creationId xmlns:a16="http://schemas.microsoft.com/office/drawing/2014/main" id="{C875E87E-0613-C9BA-82CC-2AE4E4342BA6}"/>
                </a:ext>
              </a:extLst>
            </p:cNvPr>
            <p:cNvSpPr txBox="1"/>
            <p:nvPr/>
          </p:nvSpPr>
          <p:spPr>
            <a:xfrm>
              <a:off x="5152766" y="1187904"/>
              <a:ext cx="112420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Segoe UI" pitchFamily="34" charset="0"/>
                  <a:cs typeface="Segoe UI" pitchFamily="34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14E381E-C1DC-CD2A-F07F-AAFC9AF3FB3C}"/>
                </a:ext>
              </a:extLst>
            </p:cNvPr>
            <p:cNvSpPr txBox="1"/>
            <p:nvPr/>
          </p:nvSpPr>
          <p:spPr>
            <a:xfrm>
              <a:off x="4562430" y="1450011"/>
              <a:ext cx="6978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Segoe UI" pitchFamily="34" charset="0"/>
                  <a:cs typeface="Segoe UI" pitchFamily="34" charset="0"/>
                </a:rPr>
                <a:t>Total</a:t>
              </a:r>
              <a:endPara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endParaRPr>
            </a:p>
          </p:txBody>
        </p:sp>
        <p:sp>
          <p:nvSpPr>
            <p:cNvPr id="53" name="TextBox 52" descr="0">
              <a:extLst>
                <a:ext uri="{FF2B5EF4-FFF2-40B4-BE49-F238E27FC236}">
                  <a16:creationId xmlns:a16="http://schemas.microsoft.com/office/drawing/2014/main" id="{88D03FAF-1267-F3BD-3B76-058121304A15}"/>
                </a:ext>
              </a:extLst>
            </p:cNvPr>
            <p:cNvSpPr txBox="1"/>
            <p:nvPr/>
          </p:nvSpPr>
          <p:spPr>
            <a:xfrm>
              <a:off x="5152766" y="1434883"/>
              <a:ext cx="112420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 pitchFamily="34" charset="0"/>
                </a:rPr>
                <a:t>0</a:t>
              </a:r>
              <a:endPara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endParaRPr>
            </a:p>
          </p:txBody>
        </p:sp>
        <p:sp>
          <p:nvSpPr>
            <p:cNvPr id="55" name="TextBox 54" descr="0">
              <a:extLst>
                <a:ext uri="{FF2B5EF4-FFF2-40B4-BE49-F238E27FC236}">
                  <a16:creationId xmlns:a16="http://schemas.microsoft.com/office/drawing/2014/main" id="{9380E395-5ACC-CD8D-F806-C65AB8126099}"/>
                </a:ext>
              </a:extLst>
            </p:cNvPr>
            <p:cNvSpPr txBox="1"/>
            <p:nvPr/>
          </p:nvSpPr>
          <p:spPr>
            <a:xfrm>
              <a:off x="6245777" y="104711"/>
              <a:ext cx="725943" cy="2567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TextBox 55" descr="0">
              <a:extLst>
                <a:ext uri="{FF2B5EF4-FFF2-40B4-BE49-F238E27FC236}">
                  <a16:creationId xmlns:a16="http://schemas.microsoft.com/office/drawing/2014/main" id="{BF613F63-9123-B1DB-A837-1367975023A2}"/>
                </a:ext>
              </a:extLst>
            </p:cNvPr>
            <p:cNvSpPr txBox="1"/>
            <p:nvPr/>
          </p:nvSpPr>
          <p:spPr>
            <a:xfrm>
              <a:off x="6245777" y="330874"/>
              <a:ext cx="76796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 pitchFamily="34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endParaRPr>
            </a:p>
          </p:txBody>
        </p:sp>
        <p:sp>
          <p:nvSpPr>
            <p:cNvPr id="57" name="TextBox 56" descr="0">
              <a:extLst>
                <a:ext uri="{FF2B5EF4-FFF2-40B4-BE49-F238E27FC236}">
                  <a16:creationId xmlns:a16="http://schemas.microsoft.com/office/drawing/2014/main" id="{9BE87EB5-095D-8AA0-FC89-484A72356CBE}"/>
                </a:ext>
              </a:extLst>
            </p:cNvPr>
            <p:cNvSpPr txBox="1"/>
            <p:nvPr/>
          </p:nvSpPr>
          <p:spPr>
            <a:xfrm>
              <a:off x="6245777" y="608331"/>
              <a:ext cx="745271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Segoe UI" pitchFamily="34" charset="0"/>
                  <a:cs typeface="Segoe UI" pitchFamily="34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endParaRPr>
            </a:p>
          </p:txBody>
        </p:sp>
        <p:sp>
          <p:nvSpPr>
            <p:cNvPr id="58" name="TextBox 57" descr="0">
              <a:extLst>
                <a:ext uri="{FF2B5EF4-FFF2-40B4-BE49-F238E27FC236}">
                  <a16:creationId xmlns:a16="http://schemas.microsoft.com/office/drawing/2014/main" id="{5A20EFD3-B2EA-A1BE-CE82-D510B24B1B19}"/>
                </a:ext>
              </a:extLst>
            </p:cNvPr>
            <p:cNvSpPr txBox="1"/>
            <p:nvPr/>
          </p:nvSpPr>
          <p:spPr>
            <a:xfrm>
              <a:off x="6245777" y="914368"/>
              <a:ext cx="806379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Segoe UI" pitchFamily="34" charset="0"/>
                  <a:cs typeface="Segoe UI" pitchFamily="34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endParaRPr>
            </a:p>
          </p:txBody>
        </p:sp>
        <p:sp>
          <p:nvSpPr>
            <p:cNvPr id="59" name="TextBox 58" descr="0">
              <a:extLst>
                <a:ext uri="{FF2B5EF4-FFF2-40B4-BE49-F238E27FC236}">
                  <a16:creationId xmlns:a16="http://schemas.microsoft.com/office/drawing/2014/main" id="{C01C3E5C-3A9A-3738-F6D7-B10D8D142C25}"/>
                </a:ext>
              </a:extLst>
            </p:cNvPr>
            <p:cNvSpPr txBox="1"/>
            <p:nvPr/>
          </p:nvSpPr>
          <p:spPr>
            <a:xfrm>
              <a:off x="6247835" y="1180816"/>
              <a:ext cx="84141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Segoe UI" pitchFamily="34" charset="0"/>
                  <a:cs typeface="Segoe UI" pitchFamily="34" charset="0"/>
                </a:rPr>
                <a:t>0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endParaRPr>
            </a:p>
          </p:txBody>
        </p:sp>
        <p:sp>
          <p:nvSpPr>
            <p:cNvPr id="60" name="TextBox 59" descr="0">
              <a:extLst>
                <a:ext uri="{FF2B5EF4-FFF2-40B4-BE49-F238E27FC236}">
                  <a16:creationId xmlns:a16="http://schemas.microsoft.com/office/drawing/2014/main" id="{77EB006F-F6B2-FEE7-B7E1-5A547EF6FF64}"/>
                </a:ext>
              </a:extLst>
            </p:cNvPr>
            <p:cNvSpPr txBox="1"/>
            <p:nvPr/>
          </p:nvSpPr>
          <p:spPr>
            <a:xfrm>
              <a:off x="6233317" y="1427358"/>
              <a:ext cx="84141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 pitchFamily="34" charset="0"/>
                </a:rPr>
                <a:t>0</a:t>
              </a:r>
              <a:endPara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endParaRPr>
            </a:p>
          </p:txBody>
        </p:sp>
        <p:pic>
          <p:nvPicPr>
            <p:cNvPr id="78" name="Picture 77" descr="A blue square with black border&#10;&#10;AI-generated content may be incorrect.">
              <a:extLst>
                <a:ext uri="{FF2B5EF4-FFF2-40B4-BE49-F238E27FC236}">
                  <a16:creationId xmlns:a16="http://schemas.microsoft.com/office/drawing/2014/main" id="{93047E82-BBDD-188A-374C-518724506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90859" y="118014"/>
              <a:ext cx="180000" cy="180000"/>
            </a:xfrm>
            <a:prstGeom prst="rect">
              <a:avLst/>
            </a:prstGeom>
          </p:spPr>
        </p:pic>
        <p:pic>
          <p:nvPicPr>
            <p:cNvPr id="80" name="Picture 79" descr="A red hat with a black band&#10;&#10;AI-generated content may be incorrect.">
              <a:extLst>
                <a:ext uri="{FF2B5EF4-FFF2-40B4-BE49-F238E27FC236}">
                  <a16:creationId xmlns:a16="http://schemas.microsoft.com/office/drawing/2014/main" id="{49C06486-E6DB-909C-3931-D5B54454F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85541" y="640556"/>
              <a:ext cx="180000" cy="180000"/>
            </a:xfrm>
            <a:prstGeom prst="rect">
              <a:avLst/>
            </a:prstGeom>
          </p:spPr>
        </p:pic>
        <p:pic>
          <p:nvPicPr>
            <p:cNvPr id="83" name="Picture 82" descr="A cartoon penguin with yellow feet&#10;&#10;AI-generated content may be incorrect.">
              <a:extLst>
                <a:ext uri="{FF2B5EF4-FFF2-40B4-BE49-F238E27FC236}">
                  <a16:creationId xmlns:a16="http://schemas.microsoft.com/office/drawing/2014/main" id="{11E7880E-B314-9DBA-C172-5087B1120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85541" y="928701"/>
              <a:ext cx="180000" cy="180000"/>
            </a:xfrm>
            <a:prstGeom prst="rect">
              <a:avLst/>
            </a:prstGeom>
          </p:spPr>
        </p:pic>
        <p:sp>
          <p:nvSpPr>
            <p:cNvPr id="44" name="TextBox 43" descr="0">
              <a:extLst>
                <a:ext uri="{FF2B5EF4-FFF2-40B4-BE49-F238E27FC236}">
                  <a16:creationId xmlns:a16="http://schemas.microsoft.com/office/drawing/2014/main" id="{41DD9770-7F4F-DA2F-21CA-8116FF9029ED}"/>
                </a:ext>
              </a:extLst>
            </p:cNvPr>
            <p:cNvSpPr txBox="1"/>
            <p:nvPr/>
          </p:nvSpPr>
          <p:spPr>
            <a:xfrm>
              <a:off x="5198271" y="348064"/>
              <a:ext cx="103319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+mn-cs"/>
                </a:rPr>
                <a:t>0</a:t>
              </a:r>
            </a:p>
          </p:txBody>
        </p:sp>
      </p:grpSp>
      <p:sp>
        <p:nvSpPr>
          <p:cNvPr id="94" name="Title 1">
            <a:extLst>
              <a:ext uri="{FF2B5EF4-FFF2-40B4-BE49-F238E27FC236}">
                <a16:creationId xmlns:a16="http://schemas.microsoft.com/office/drawing/2014/main" id="{CC2AF8E4-2A4B-C45A-6365-12C3071D1267}"/>
              </a:ext>
            </a:extLst>
          </p:cNvPr>
          <p:cNvSpPr txBox="1">
            <a:spLocks/>
          </p:cNvSpPr>
          <p:nvPr/>
        </p:nvSpPr>
        <p:spPr>
          <a:xfrm>
            <a:off x="1181475" y="1429240"/>
            <a:ext cx="847336" cy="244425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j-ea"/>
                <a:cs typeface="Segoe Sans Text" pitchFamily="2" charset="0"/>
              </a:rPr>
              <a:t>Servers</a:t>
            </a:r>
          </a:p>
        </p:txBody>
      </p:sp>
      <p:graphicFrame>
        <p:nvGraphicFramePr>
          <p:cNvPr id="96" name="Chart 95" descr="&lt;pie chart&gt;&lt;ServersByOSPieChartNEW_Excel&gt;">
            <a:extLst>
              <a:ext uri="{FF2B5EF4-FFF2-40B4-BE49-F238E27FC236}">
                <a16:creationId xmlns:a16="http://schemas.microsoft.com/office/drawing/2014/main" id="{027CB17B-C720-B725-4D47-1BE5736071F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/>
          <p:nvPr/>
        </p:nvGraphicFramePr>
        <p:xfrm>
          <a:off x="912269" y="5178675"/>
          <a:ext cx="1243301" cy="10604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00" name="Title 1">
            <a:extLst>
              <a:ext uri="{FF2B5EF4-FFF2-40B4-BE49-F238E27FC236}">
                <a16:creationId xmlns:a16="http://schemas.microsoft.com/office/drawing/2014/main" id="{E141F056-6C22-BB3A-6D7D-B4DA7400130D}"/>
              </a:ext>
            </a:extLst>
          </p:cNvPr>
          <p:cNvSpPr txBox="1">
            <a:spLocks/>
          </p:cNvSpPr>
          <p:nvPr/>
        </p:nvSpPr>
        <p:spPr>
          <a:xfrm>
            <a:off x="906197" y="4875604"/>
            <a:ext cx="24544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j-ea"/>
                <a:cs typeface="Segoe Sans Text" pitchFamily="2" charset="0"/>
              </a:rPr>
              <a:t>Distribution by OS type</a:t>
            </a:r>
          </a:p>
        </p:txBody>
      </p:sp>
      <p:sp>
        <p:nvSpPr>
          <p:cNvPr id="101" name="Title 1" descr="2">
            <a:extLst>
              <a:ext uri="{FF2B5EF4-FFF2-40B4-BE49-F238E27FC236}">
                <a16:creationId xmlns:a16="http://schemas.microsoft.com/office/drawing/2014/main" id="{984126C5-4F74-067D-8D05-3103E1F429D3}"/>
              </a:ext>
            </a:extLst>
          </p:cNvPr>
          <p:cNvSpPr txBox="1">
            <a:spLocks/>
          </p:cNvSpPr>
          <p:nvPr/>
        </p:nvSpPr>
        <p:spPr>
          <a:xfrm>
            <a:off x="1181474" y="1693098"/>
            <a:ext cx="974095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j-ea"/>
                <a:cs typeface="Segoe Sans Text" pitchFamily="2" charset="0"/>
              </a:rPr>
              <a:t>2</a:t>
            </a:r>
          </a:p>
        </p:txBody>
      </p:sp>
      <p:pic>
        <p:nvPicPr>
          <p:cNvPr id="102" name="Picture 101" descr="A purple rectangular object with blue buttons">
            <a:extLst>
              <a:ext uri="{FF2B5EF4-FFF2-40B4-BE49-F238E27FC236}">
                <a16:creationId xmlns:a16="http://schemas.microsoft.com/office/drawing/2014/main" id="{BD936DF7-EFC4-2C67-4A33-3B14D94BEF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307" y="1456174"/>
            <a:ext cx="216000" cy="216000"/>
          </a:xfrm>
          <a:prstGeom prst="rect">
            <a:avLst/>
          </a:prstGeom>
        </p:spPr>
      </p:pic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FC558B7-72F1-06F7-D244-938FF8D86524}"/>
              </a:ext>
            </a:extLst>
          </p:cNvPr>
          <p:cNvGrpSpPr/>
          <p:nvPr/>
        </p:nvGrpSpPr>
        <p:grpSpPr>
          <a:xfrm>
            <a:off x="2463477" y="5288520"/>
            <a:ext cx="1651658" cy="771152"/>
            <a:chOff x="755811" y="4818361"/>
            <a:chExt cx="1614635" cy="900685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2728C062-6381-9B7A-81F9-A70A3F82D0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60713" y="4871703"/>
              <a:ext cx="125999" cy="122705"/>
            </a:xfrm>
            <a:prstGeom prst="rect">
              <a:avLst/>
            </a:prstGeom>
            <a:solidFill>
              <a:srgbClr val="637CE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44A1AF64-D7C7-F84C-8AC0-E7ECAE5B01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55811" y="5221807"/>
              <a:ext cx="125999" cy="122705"/>
            </a:xfrm>
            <a:prstGeom prst="rect">
              <a:avLst/>
            </a:prstGeom>
            <a:solidFill>
              <a:srgbClr val="E3008C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37A81DA-247D-5820-D8A1-A1B7EBC00689}"/>
                </a:ext>
              </a:extLst>
            </p:cNvPr>
            <p:cNvSpPr txBox="1"/>
            <p:nvPr/>
          </p:nvSpPr>
          <p:spPr>
            <a:xfrm>
              <a:off x="976995" y="4818361"/>
              <a:ext cx="1388540" cy="1941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Windows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87C9AB6-C3B7-8882-DD11-691EA4BFB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55811" y="5546077"/>
              <a:ext cx="125999" cy="122705"/>
            </a:xfrm>
            <a:prstGeom prst="rect">
              <a:avLst/>
            </a:prstGeom>
            <a:solidFill>
              <a:srgbClr val="3996DD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08" name="TextBox 107" descr="2">
              <a:extLst>
                <a:ext uri="{FF2B5EF4-FFF2-40B4-BE49-F238E27FC236}">
                  <a16:creationId xmlns:a16="http://schemas.microsoft.com/office/drawing/2014/main" id="{6FEF8C6B-6469-64B3-02EC-06B5F5CF3BC9}"/>
                </a:ext>
              </a:extLst>
            </p:cNvPr>
            <p:cNvSpPr txBox="1"/>
            <p:nvPr/>
          </p:nvSpPr>
          <p:spPr>
            <a:xfrm>
              <a:off x="1522430" y="4832569"/>
              <a:ext cx="656440" cy="1944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2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CD69E24-D591-BA2C-2457-E99119A49108}"/>
                </a:ext>
              </a:extLst>
            </p:cNvPr>
            <p:cNvSpPr txBox="1"/>
            <p:nvPr/>
          </p:nvSpPr>
          <p:spPr>
            <a:xfrm>
              <a:off x="981906" y="5171646"/>
              <a:ext cx="1388540" cy="1941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Linux</a:t>
              </a:r>
            </a:p>
          </p:txBody>
        </p:sp>
        <p:sp>
          <p:nvSpPr>
            <p:cNvPr id="110" name="TextBox 109" descr="0">
              <a:extLst>
                <a:ext uri="{FF2B5EF4-FFF2-40B4-BE49-F238E27FC236}">
                  <a16:creationId xmlns:a16="http://schemas.microsoft.com/office/drawing/2014/main" id="{BEE73906-20D5-71F3-3CB9-1D0863EC5B7C}"/>
                </a:ext>
              </a:extLst>
            </p:cNvPr>
            <p:cNvSpPr txBox="1"/>
            <p:nvPr/>
          </p:nvSpPr>
          <p:spPr>
            <a:xfrm>
              <a:off x="1308814" y="5171645"/>
              <a:ext cx="874968" cy="1941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0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D04C72FF-6590-3D7E-7525-6C3F3801929A}"/>
                </a:ext>
              </a:extLst>
            </p:cNvPr>
            <p:cNvSpPr txBox="1"/>
            <p:nvPr/>
          </p:nvSpPr>
          <p:spPr>
            <a:xfrm>
              <a:off x="981906" y="5524930"/>
              <a:ext cx="1388540" cy="1941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Other</a:t>
              </a:r>
            </a:p>
          </p:txBody>
        </p:sp>
        <p:sp>
          <p:nvSpPr>
            <p:cNvPr id="112" name="TextBox 111" descr="0">
              <a:extLst>
                <a:ext uri="{FF2B5EF4-FFF2-40B4-BE49-F238E27FC236}">
                  <a16:creationId xmlns:a16="http://schemas.microsoft.com/office/drawing/2014/main" id="{CC94B9D6-14D2-A780-883B-A64D37A1196B}"/>
                </a:ext>
              </a:extLst>
            </p:cNvPr>
            <p:cNvSpPr txBox="1"/>
            <p:nvPr/>
          </p:nvSpPr>
          <p:spPr>
            <a:xfrm>
              <a:off x="1413811" y="5510372"/>
              <a:ext cx="769970" cy="1941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0</a:t>
              </a: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86AC7F8A-7F4B-A63D-DEC2-E872B7E36109}"/>
              </a:ext>
            </a:extLst>
          </p:cNvPr>
          <p:cNvSpPr txBox="1"/>
          <p:nvPr/>
        </p:nvSpPr>
        <p:spPr>
          <a:xfrm>
            <a:off x="826177" y="2174954"/>
            <a:ext cx="31847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  <a:sym typeface="Inter"/>
              </a:rPr>
              <a:t>Following workloads are recommended for migration as part of  Lift and Shift Server to Azure VM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22" name="Title 1" descr="2">
            <a:extLst>
              <a:ext uri="{FF2B5EF4-FFF2-40B4-BE49-F238E27FC236}">
                <a16:creationId xmlns:a16="http://schemas.microsoft.com/office/drawing/2014/main" id="{C4419914-C5FA-F830-3A95-EB6D66546395}"/>
              </a:ext>
            </a:extLst>
          </p:cNvPr>
          <p:cNvSpPr txBox="1">
            <a:spLocks/>
          </p:cNvSpPr>
          <p:nvPr/>
        </p:nvSpPr>
        <p:spPr>
          <a:xfrm>
            <a:off x="3244576" y="2584547"/>
            <a:ext cx="658497" cy="184666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j-ea"/>
                <a:cs typeface="Segoe Sans Text" pitchFamily="2" charset="0"/>
              </a:rPr>
              <a:t>2</a:t>
            </a:r>
          </a:p>
        </p:txBody>
      </p:sp>
      <p:sp>
        <p:nvSpPr>
          <p:cNvPr id="26" name="TextBox 25" descr="2">
            <a:extLst>
              <a:ext uri="{FF2B5EF4-FFF2-40B4-BE49-F238E27FC236}">
                <a16:creationId xmlns:a16="http://schemas.microsoft.com/office/drawing/2014/main" id="{8AF42B92-0292-346E-7A19-57E21B3B7250}"/>
              </a:ext>
            </a:extLst>
          </p:cNvPr>
          <p:cNvSpPr txBox="1"/>
          <p:nvPr/>
        </p:nvSpPr>
        <p:spPr>
          <a:xfrm>
            <a:off x="3140128" y="2999902"/>
            <a:ext cx="8432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Segoe UI" pitchFamily="34" charset="0"/>
                <a:cs typeface="Segoe UI" pitchFamily="34" charset="0"/>
              </a:rPr>
              <a:t>2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95" name="Title 1">
            <a:extLst>
              <a:ext uri="{FF2B5EF4-FFF2-40B4-BE49-F238E27FC236}">
                <a16:creationId xmlns:a16="http://schemas.microsoft.com/office/drawing/2014/main" id="{BCEB8683-0331-4ACA-914B-B1B75EE5EA22}"/>
              </a:ext>
            </a:extLst>
          </p:cNvPr>
          <p:cNvSpPr txBox="1">
            <a:spLocks/>
          </p:cNvSpPr>
          <p:nvPr/>
        </p:nvSpPr>
        <p:spPr>
          <a:xfrm>
            <a:off x="904332" y="2614119"/>
            <a:ext cx="1222799" cy="184666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j-ea"/>
                <a:cs typeface="Segoe Sans Text" pitchFamily="2" charset="0"/>
              </a:rPr>
              <a:t>DB Instances</a:t>
            </a:r>
          </a:p>
        </p:txBody>
      </p:sp>
      <p:sp>
        <p:nvSpPr>
          <p:cNvPr id="98" name="Title 1" descr="1">
            <a:extLst>
              <a:ext uri="{FF2B5EF4-FFF2-40B4-BE49-F238E27FC236}">
                <a16:creationId xmlns:a16="http://schemas.microsoft.com/office/drawing/2014/main" id="{38E75577-6A0B-93F5-9B39-8D1EB750B15E}"/>
              </a:ext>
            </a:extLst>
          </p:cNvPr>
          <p:cNvSpPr txBox="1">
            <a:spLocks/>
          </p:cNvSpPr>
          <p:nvPr/>
        </p:nvSpPr>
        <p:spPr>
          <a:xfrm>
            <a:off x="1705862" y="2632120"/>
            <a:ext cx="773120" cy="184666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j-ea"/>
                <a:cs typeface="Segoe Sans Text" pitchFamily="2" charset="0"/>
              </a:rPr>
              <a:t>1</a:t>
            </a:r>
          </a:p>
        </p:txBody>
      </p:sp>
      <p:sp>
        <p:nvSpPr>
          <p:cNvPr id="121" name="Title 1">
            <a:extLst>
              <a:ext uri="{FF2B5EF4-FFF2-40B4-BE49-F238E27FC236}">
                <a16:creationId xmlns:a16="http://schemas.microsoft.com/office/drawing/2014/main" id="{A37F8C70-C052-9DEE-C3A9-B661D3AB95F9}"/>
              </a:ext>
            </a:extLst>
          </p:cNvPr>
          <p:cNvSpPr txBox="1">
            <a:spLocks/>
          </p:cNvSpPr>
          <p:nvPr/>
        </p:nvSpPr>
        <p:spPr>
          <a:xfrm>
            <a:off x="2626598" y="2612107"/>
            <a:ext cx="920959" cy="184666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j-ea"/>
                <a:cs typeface="Segoe Sans Text" pitchFamily="2" charset="0"/>
              </a:rPr>
              <a:t>Webapps</a:t>
            </a:r>
          </a:p>
        </p:txBody>
      </p:sp>
      <p:pic>
        <p:nvPicPr>
          <p:cNvPr id="10" name="Picture 9" descr="A logo of a cup of coffee">
            <a:extLst>
              <a:ext uri="{FF2B5EF4-FFF2-40B4-BE49-F238E27FC236}">
                <a16:creationId xmlns:a16="http://schemas.microsoft.com/office/drawing/2014/main" id="{67A6C249-5E12-4377-7DE3-9D2ADCEDA3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7186" y="2839467"/>
            <a:ext cx="108000" cy="108000"/>
          </a:xfrm>
          <a:prstGeom prst="rect">
            <a:avLst/>
          </a:prstGeom>
        </p:spPr>
      </p:pic>
      <p:pic>
        <p:nvPicPr>
          <p:cNvPr id="19" name="Picture 18" descr="A blue logo with black background">
            <a:extLst>
              <a:ext uri="{FF2B5EF4-FFF2-40B4-BE49-F238E27FC236}">
                <a16:creationId xmlns:a16="http://schemas.microsoft.com/office/drawing/2014/main" id="{24D848EF-79F4-8600-0402-E3A3031DE7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22649" y="3063665"/>
            <a:ext cx="108000" cy="108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10327D7-1D3E-B1DB-4A89-BB6768050E8C}"/>
              </a:ext>
            </a:extLst>
          </p:cNvPr>
          <p:cNvSpPr txBox="1"/>
          <p:nvPr/>
        </p:nvSpPr>
        <p:spPr>
          <a:xfrm>
            <a:off x="2661255" y="2788684"/>
            <a:ext cx="77312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Java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1" name="TextBox 20" descr="0">
            <a:extLst>
              <a:ext uri="{FF2B5EF4-FFF2-40B4-BE49-F238E27FC236}">
                <a16:creationId xmlns:a16="http://schemas.microsoft.com/office/drawing/2014/main" id="{84B65953-2227-A5AF-1F6D-37EF64420A6C}"/>
              </a:ext>
            </a:extLst>
          </p:cNvPr>
          <p:cNvSpPr txBox="1"/>
          <p:nvPr/>
        </p:nvSpPr>
        <p:spPr>
          <a:xfrm>
            <a:off x="3195643" y="2775704"/>
            <a:ext cx="7877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Segoe UI" pitchFamily="34" charset="0"/>
                <a:cs typeface="Segoe UI" pitchFamily="34" charset="0"/>
              </a:rPr>
              <a:t>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29FF7E-D6A7-57D4-EBAB-966AD7D03390}"/>
              </a:ext>
            </a:extLst>
          </p:cNvPr>
          <p:cNvSpPr txBox="1"/>
          <p:nvPr/>
        </p:nvSpPr>
        <p:spPr>
          <a:xfrm>
            <a:off x="2661254" y="3012882"/>
            <a:ext cx="6540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ASP.Net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28" name="Picture 27" descr="A blue elephant with white outline">
            <a:extLst>
              <a:ext uri="{FF2B5EF4-FFF2-40B4-BE49-F238E27FC236}">
                <a16:creationId xmlns:a16="http://schemas.microsoft.com/office/drawing/2014/main" id="{FFFD671D-AC7C-231C-A3E6-B2A901DC3D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596" y="3363113"/>
            <a:ext cx="108000" cy="108000"/>
          </a:xfrm>
          <a:prstGeom prst="rect">
            <a:avLst/>
          </a:prstGeom>
        </p:spPr>
      </p:pic>
      <p:pic>
        <p:nvPicPr>
          <p:cNvPr id="29" name="Picture 28" descr="A red and white spiral">
            <a:extLst>
              <a:ext uri="{FF2B5EF4-FFF2-40B4-BE49-F238E27FC236}">
                <a16:creationId xmlns:a16="http://schemas.microsoft.com/office/drawing/2014/main" id="{C003BC2E-04A5-95C1-F54E-0C3D40CF77F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5205" y="2889800"/>
            <a:ext cx="108000" cy="108000"/>
          </a:xfrm>
          <a:prstGeom prst="rect">
            <a:avLst/>
          </a:prstGeom>
        </p:spPr>
      </p:pic>
      <p:pic>
        <p:nvPicPr>
          <p:cNvPr id="30" name="Picture 29" descr="A logo of a dolphin&#10;&#10;AI-generated content may be incorrect.">
            <a:extLst>
              <a:ext uri="{FF2B5EF4-FFF2-40B4-BE49-F238E27FC236}">
                <a16:creationId xmlns:a16="http://schemas.microsoft.com/office/drawing/2014/main" id="{363BAC23-58AE-951D-9BF3-16DFB2B384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6197" y="3097864"/>
            <a:ext cx="108000" cy="1080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061F8A1-E588-548E-41CB-E832377ED4F8}"/>
              </a:ext>
            </a:extLst>
          </p:cNvPr>
          <p:cNvSpPr txBox="1"/>
          <p:nvPr/>
        </p:nvSpPr>
        <p:spPr>
          <a:xfrm>
            <a:off x="964741" y="2834786"/>
            <a:ext cx="77312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SQL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6" name="TextBox 35" descr="1">
            <a:extLst>
              <a:ext uri="{FF2B5EF4-FFF2-40B4-BE49-F238E27FC236}">
                <a16:creationId xmlns:a16="http://schemas.microsoft.com/office/drawing/2014/main" id="{4412A153-C15A-B882-1CFD-089B324EA3A1}"/>
              </a:ext>
            </a:extLst>
          </p:cNvPr>
          <p:cNvSpPr txBox="1"/>
          <p:nvPr/>
        </p:nvSpPr>
        <p:spPr>
          <a:xfrm>
            <a:off x="1447123" y="2834786"/>
            <a:ext cx="773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Segoe UI" pitchFamily="34" charset="0"/>
                <a:cs typeface="Segoe UI" pitchFamily="34" charset="0"/>
              </a:rPr>
              <a:t>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625B51-74B5-F817-4723-8A935A2AB4CA}"/>
              </a:ext>
            </a:extLst>
          </p:cNvPr>
          <p:cNvSpPr txBox="1"/>
          <p:nvPr/>
        </p:nvSpPr>
        <p:spPr>
          <a:xfrm>
            <a:off x="964740" y="3058984"/>
            <a:ext cx="9678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MySQL/MariaDB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4" name="TextBox 53" descr="0">
            <a:extLst>
              <a:ext uri="{FF2B5EF4-FFF2-40B4-BE49-F238E27FC236}">
                <a16:creationId xmlns:a16="http://schemas.microsoft.com/office/drawing/2014/main" id="{33BAAF75-0F35-B14E-56B6-90786150F194}"/>
              </a:ext>
            </a:extLst>
          </p:cNvPr>
          <p:cNvSpPr txBox="1"/>
          <p:nvPr/>
        </p:nvSpPr>
        <p:spPr>
          <a:xfrm>
            <a:off x="1475563" y="3058984"/>
            <a:ext cx="7446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 pitchFamily="34" charset="0"/>
              </a:rPr>
              <a:t>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E2736F-3F89-64C9-0330-7497016CCEF8}"/>
              </a:ext>
            </a:extLst>
          </p:cNvPr>
          <p:cNvSpPr txBox="1"/>
          <p:nvPr/>
        </p:nvSpPr>
        <p:spPr>
          <a:xfrm>
            <a:off x="964741" y="3299773"/>
            <a:ext cx="8530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PostgreSQL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64" name="TextBox 63" descr="0">
            <a:extLst>
              <a:ext uri="{FF2B5EF4-FFF2-40B4-BE49-F238E27FC236}">
                <a16:creationId xmlns:a16="http://schemas.microsoft.com/office/drawing/2014/main" id="{36BC918D-F33C-E398-6D9A-45D3967C8B00}"/>
              </a:ext>
            </a:extLst>
          </p:cNvPr>
          <p:cNvSpPr txBox="1"/>
          <p:nvPr/>
        </p:nvSpPr>
        <p:spPr>
          <a:xfrm>
            <a:off x="1490305" y="3299772"/>
            <a:ext cx="7299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Segoe UI" pitchFamily="34" charset="0"/>
                <a:cs typeface="Segoe UI" pitchFamily="34" charset="0"/>
              </a:rPr>
              <a:t>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71" name="Title 1">
            <a:extLst>
              <a:ext uri="{FF2B5EF4-FFF2-40B4-BE49-F238E27FC236}">
                <a16:creationId xmlns:a16="http://schemas.microsoft.com/office/drawing/2014/main" id="{7B4C3113-3F68-B9E9-1EAF-0EE5292099F9}"/>
              </a:ext>
            </a:extLst>
          </p:cNvPr>
          <p:cNvSpPr txBox="1">
            <a:spLocks/>
          </p:cNvSpPr>
          <p:nvPr/>
        </p:nvSpPr>
        <p:spPr>
          <a:xfrm>
            <a:off x="8264714" y="4359570"/>
            <a:ext cx="3407939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j-ea"/>
                <a:cs typeface="Segoe Sans Text" pitchFamily="2" charset="0"/>
              </a:rPr>
              <a:t>Right Sizing Benefit</a:t>
            </a:r>
          </a:p>
        </p:txBody>
      </p:sp>
      <p:sp>
        <p:nvSpPr>
          <p:cNvPr id="207" name="Title 1">
            <a:extLst>
              <a:ext uri="{FF2B5EF4-FFF2-40B4-BE49-F238E27FC236}">
                <a16:creationId xmlns:a16="http://schemas.microsoft.com/office/drawing/2014/main" id="{08EE1D57-A244-6AE2-07D9-5FD6E2337B94}"/>
              </a:ext>
            </a:extLst>
          </p:cNvPr>
          <p:cNvSpPr txBox="1">
            <a:spLocks/>
          </p:cNvSpPr>
          <p:nvPr/>
        </p:nvSpPr>
        <p:spPr>
          <a:xfrm>
            <a:off x="4480421" y="4359570"/>
            <a:ext cx="1548224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j-ea"/>
                <a:cs typeface="Segoe Sans Text" pitchFamily="2" charset="0"/>
              </a:rPr>
              <a:t>Readiness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2DF34E67-8596-4631-62C2-70BA197F652F}"/>
              </a:ext>
            </a:extLst>
          </p:cNvPr>
          <p:cNvSpPr/>
          <p:nvPr/>
        </p:nvSpPr>
        <p:spPr>
          <a:xfrm>
            <a:off x="4485818" y="4288822"/>
            <a:ext cx="3420000" cy="108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DE486CEC-BBED-B91D-4FAC-1DAC76989C0E}"/>
              </a:ext>
            </a:extLst>
          </p:cNvPr>
          <p:cNvSpPr/>
          <p:nvPr/>
        </p:nvSpPr>
        <p:spPr>
          <a:xfrm>
            <a:off x="8246818" y="4288822"/>
            <a:ext cx="3420000" cy="108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0" name="Title 1">
            <a:extLst>
              <a:ext uri="{FF2B5EF4-FFF2-40B4-BE49-F238E27FC236}">
                <a16:creationId xmlns:a16="http://schemas.microsoft.com/office/drawing/2014/main" id="{DE287902-F261-F91B-C669-729082782BB5}"/>
              </a:ext>
            </a:extLst>
          </p:cNvPr>
          <p:cNvSpPr txBox="1">
            <a:spLocks/>
          </p:cNvSpPr>
          <p:nvPr/>
        </p:nvSpPr>
        <p:spPr>
          <a:xfrm>
            <a:off x="4478743" y="1320219"/>
            <a:ext cx="2523223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j-ea"/>
                <a:cs typeface="Segoe Sans Text" pitchFamily="2" charset="0"/>
              </a:rPr>
              <a:t>Support Landscape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B311AE0A-CA72-3E18-9BCE-C1F8A353DF20}"/>
              </a:ext>
            </a:extLst>
          </p:cNvPr>
          <p:cNvSpPr/>
          <p:nvPr/>
        </p:nvSpPr>
        <p:spPr>
          <a:xfrm>
            <a:off x="4478743" y="1265638"/>
            <a:ext cx="7380000" cy="108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212" name="Chart 211" descr="&lt;bar chart&gt;&lt;OutOfSupportWorkloadsChart_Excel&gt;">
            <a:extLst>
              <a:ext uri="{FF2B5EF4-FFF2-40B4-BE49-F238E27FC236}">
                <a16:creationId xmlns:a16="http://schemas.microsoft.com/office/drawing/2014/main" id="{FD7D8308-03A0-EF03-7F21-AF3DC1442F16}"/>
              </a:ext>
            </a:extLst>
          </p:cNvPr>
          <p:cNvGraphicFramePr/>
          <p:nvPr/>
        </p:nvGraphicFramePr>
        <p:xfrm>
          <a:off x="6933144" y="1931114"/>
          <a:ext cx="4925600" cy="1943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213" name="Title 1">
            <a:extLst>
              <a:ext uri="{FF2B5EF4-FFF2-40B4-BE49-F238E27FC236}">
                <a16:creationId xmlns:a16="http://schemas.microsoft.com/office/drawing/2014/main" id="{8B61812E-A825-ED2A-E8AD-35B0AF1510F7}"/>
              </a:ext>
            </a:extLst>
          </p:cNvPr>
          <p:cNvSpPr txBox="1">
            <a:spLocks/>
          </p:cNvSpPr>
          <p:nvPr/>
        </p:nvSpPr>
        <p:spPr>
          <a:xfrm>
            <a:off x="4478743" y="1659231"/>
            <a:ext cx="24544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j-ea"/>
                <a:cs typeface="Segoe Sans Text" pitchFamily="2" charset="0"/>
              </a:rPr>
              <a:t>Out of Support workloads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440DD7-0F09-4AAE-DE9F-A44CCC553BB2}"/>
              </a:ext>
            </a:extLst>
          </p:cNvPr>
          <p:cNvGrpSpPr/>
          <p:nvPr/>
        </p:nvGrpSpPr>
        <p:grpSpPr>
          <a:xfrm>
            <a:off x="792380" y="3789499"/>
            <a:ext cx="3779271" cy="939557"/>
            <a:chOff x="792380" y="3602642"/>
            <a:chExt cx="3779271" cy="939557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D524454D-63F1-AFAC-1107-2215CF656DF7}"/>
                </a:ext>
              </a:extLst>
            </p:cNvPr>
            <p:cNvSpPr>
              <a:spLocks/>
            </p:cNvSpPr>
            <p:nvPr/>
          </p:nvSpPr>
          <p:spPr>
            <a:xfrm flipH="1" flipV="1">
              <a:off x="828926" y="3602642"/>
              <a:ext cx="3134304" cy="939557"/>
            </a:xfrm>
            <a:prstGeom prst="roundRect">
              <a:avLst>
                <a:gd name="adj" fmla="val 375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‸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CF427D3-ED46-D52E-A68F-C291A54839E9}"/>
                </a:ext>
              </a:extLst>
            </p:cNvPr>
            <p:cNvGrpSpPr/>
            <p:nvPr/>
          </p:nvGrpSpPr>
          <p:grpSpPr>
            <a:xfrm>
              <a:off x="792380" y="3695209"/>
              <a:ext cx="3779271" cy="772312"/>
              <a:chOff x="792380" y="3956956"/>
              <a:chExt cx="3779271" cy="772312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6723761-6BBD-E3E9-91E5-24BF871945B3}"/>
                  </a:ext>
                </a:extLst>
              </p:cNvPr>
              <p:cNvGrpSpPr/>
              <p:nvPr/>
            </p:nvGrpSpPr>
            <p:grpSpPr>
              <a:xfrm>
                <a:off x="792380" y="3956956"/>
                <a:ext cx="3779271" cy="772312"/>
                <a:chOff x="678525" y="2482793"/>
                <a:chExt cx="3779271" cy="772312"/>
              </a:xfrm>
            </p:grpSpPr>
            <p:graphicFrame>
              <p:nvGraphicFramePr>
                <p:cNvPr id="5" name="Chart 4" descr="&lt;bar chart&gt;&lt;MappedWorkloadChart&gt;">
                  <a:extLst>
                    <a:ext uri="{FF2B5EF4-FFF2-40B4-BE49-F238E27FC236}">
                      <a16:creationId xmlns:a16="http://schemas.microsoft.com/office/drawing/2014/main" id="{F20993E0-5D2E-1FC6-9DBC-A90AD5C04B23}"/>
                    </a:ext>
                  </a:extLst>
                </p:cNvPr>
                <p:cNvGraphicFramePr/>
                <p:nvPr/>
              </p:nvGraphicFramePr>
              <p:xfrm>
                <a:off x="678525" y="2482793"/>
                <a:ext cx="3779271" cy="539331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15"/>
                </a:graphicData>
              </a:graphic>
            </p:graphicFrame>
            <p:sp>
              <p:nvSpPr>
                <p:cNvPr id="6" name="TextBox 5" descr="Mapped to Applications 0">
                  <a:extLst>
                    <a:ext uri="{FF2B5EF4-FFF2-40B4-BE49-F238E27FC236}">
                      <a16:creationId xmlns:a16="http://schemas.microsoft.com/office/drawing/2014/main" id="{3489AE77-A47C-672D-70CF-DB3E148FE58B}"/>
                    </a:ext>
                  </a:extLst>
                </p:cNvPr>
                <p:cNvSpPr txBox="1"/>
                <p:nvPr/>
              </p:nvSpPr>
              <p:spPr>
                <a:xfrm>
                  <a:off x="945603" y="2885773"/>
                  <a:ext cx="140083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IN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Sans Text" pitchFamily="2" charset="0"/>
                      <a:ea typeface="+mn-ea"/>
                      <a:cs typeface="Segoe Sans Text" pitchFamily="2" charset="0"/>
                    </a:rPr>
                    <a:t>Mapped to Applications 0</a:t>
                  </a:r>
                  <a:endPara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endParaRPr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9465E716-1416-CA11-8B22-7421DFE8A3B6}"/>
                    </a:ext>
                  </a:extLst>
                </p:cNvPr>
                <p:cNvSpPr/>
                <p:nvPr/>
              </p:nvSpPr>
              <p:spPr bwMode="auto">
                <a:xfrm>
                  <a:off x="840168" y="2955611"/>
                  <a:ext cx="108000" cy="108000"/>
                </a:xfrm>
                <a:prstGeom prst="rect">
                  <a:avLst/>
                </a:prstGeom>
                <a:solidFill>
                  <a:srgbClr val="637CEF"/>
                </a:solidFill>
                <a:ln w="9525" cap="flat" cmpd="sng" algn="ctr">
                  <a:noFill/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endParaRPr>
                </a:p>
              </p:txBody>
            </p:sp>
            <p:sp>
              <p:nvSpPr>
                <p:cNvPr id="8" name="TextBox 7" descr="Ungrouped 5">
                  <a:extLst>
                    <a:ext uri="{FF2B5EF4-FFF2-40B4-BE49-F238E27FC236}">
                      <a16:creationId xmlns:a16="http://schemas.microsoft.com/office/drawing/2014/main" id="{1FD54A6A-432E-E281-FB17-750B4DEDE502}"/>
                    </a:ext>
                  </a:extLst>
                </p:cNvPr>
                <p:cNvSpPr txBox="1"/>
                <p:nvPr/>
              </p:nvSpPr>
              <p:spPr>
                <a:xfrm>
                  <a:off x="2688838" y="2893723"/>
                  <a:ext cx="834743" cy="3416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IN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Sans Text" pitchFamily="2" charset="0"/>
                      <a:ea typeface="+mn-ea"/>
                      <a:cs typeface="Segoe Sans Text" pitchFamily="2" charset="0"/>
                    </a:rPr>
                    <a:t>Ungrouped 5</a:t>
                  </a:r>
                  <a:endPara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endParaRP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79C5253-0550-1E9C-E0AE-6DA4307400C7}"/>
                    </a:ext>
                  </a:extLst>
                </p:cNvPr>
                <p:cNvSpPr/>
                <p:nvPr/>
              </p:nvSpPr>
              <p:spPr bwMode="auto">
                <a:xfrm>
                  <a:off x="2585886" y="2969043"/>
                  <a:ext cx="108000" cy="108000"/>
                </a:xfrm>
                <a:prstGeom prst="rect">
                  <a:avLst/>
                </a:prstGeom>
                <a:solidFill>
                  <a:srgbClr val="E3008C"/>
                </a:solidFill>
                <a:ln w="9525" cap="flat" cmpd="sng" algn="ctr">
                  <a:noFill/>
                  <a:prstDash val="solid"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endParaRPr>
                </a:p>
              </p:txBody>
            </p:sp>
          </p:grpSp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712F298D-FE08-E249-9677-5F92F4290E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6197" y="3966387"/>
                <a:ext cx="2044821" cy="153888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b" anchorCtr="0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4000" kern="120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2841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Segoe Sans Text" pitchFamily="2" charset="0"/>
                    <a:ea typeface="+mj-ea"/>
                    <a:cs typeface="Segoe Sans Text" pitchFamily="2" charset="0"/>
                  </a:rPr>
                  <a:t>Total workload count </a:t>
                </a:r>
              </a:p>
            </p:txBody>
          </p:sp>
          <p:sp>
            <p:nvSpPr>
              <p:cNvPr id="13" name="Title 1" descr="5">
                <a:extLst>
                  <a:ext uri="{FF2B5EF4-FFF2-40B4-BE49-F238E27FC236}">
                    <a16:creationId xmlns:a16="http://schemas.microsoft.com/office/drawing/2014/main" id="{2EF02671-2F95-4429-3A75-4A60559F5D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78982" y="3966387"/>
                <a:ext cx="1318767" cy="153888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b" anchorCtr="0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4000" kern="1200" dirty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marR="0" lvl="0" indent="0" algn="r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2841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Segoe Sans Text" pitchFamily="2" charset="0"/>
                    <a:ea typeface="+mj-ea"/>
                    <a:cs typeface="Segoe Sans Text" pitchFamily="2" charset="0"/>
                  </a:rPr>
                  <a:t>5</a:t>
                </a:r>
              </a:p>
            </p:txBody>
          </p:sp>
        </p:grpSp>
      </p:grpSp>
      <p:graphicFrame>
        <p:nvGraphicFramePr>
          <p:cNvPr id="14" name="Chart 13" descr="&lt;bar chart&gt;&lt;ReadinessIaaS&gt;">
            <a:extLst>
              <a:ext uri="{FF2B5EF4-FFF2-40B4-BE49-F238E27FC236}">
                <a16:creationId xmlns:a16="http://schemas.microsoft.com/office/drawing/2014/main" id="{A3B6538B-649A-5B8F-CC45-E1B1B547434E}"/>
              </a:ext>
            </a:extLst>
          </p:cNvPr>
          <p:cNvGraphicFramePr/>
          <p:nvPr/>
        </p:nvGraphicFramePr>
        <p:xfrm>
          <a:off x="4010891" y="4858348"/>
          <a:ext cx="4508846" cy="1382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6" name="TextBox 15" descr="Visit Azure Migrate portal for details">
            <a:extLst>
              <a:ext uri="{FF2B5EF4-FFF2-40B4-BE49-F238E27FC236}">
                <a16:creationId xmlns:a16="http://schemas.microsoft.com/office/drawing/2014/main" id="{C7EA6EE3-4A45-75C2-419A-3359D97060AC}"/>
              </a:ext>
            </a:extLst>
          </p:cNvPr>
          <p:cNvSpPr txBox="1"/>
          <p:nvPr/>
        </p:nvSpPr>
        <p:spPr>
          <a:xfrm>
            <a:off x="9731194" y="667610"/>
            <a:ext cx="2180308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0" i="0">
                <a:latin typeface="Segoe Sans Text"/>
              </a:rPr>
              <a:t>Visit </a:t>
            </a:r>
            <a:r>
              <a:rPr sz="1000" b="0" i="0">
                <a:latin typeface="Segoe Sans Text"/>
                <a:hlinkClick r:id="rId17"/>
              </a:rPr>
              <a:t>Azure Migrate</a:t>
            </a:r>
            <a:r>
              <a:rPr sz="1000" b="0" i="0">
                <a:latin typeface="Segoe Sans Text"/>
              </a:rPr>
              <a:t> portal for details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1BF522-CC48-A9B3-6793-8B54703829D2}"/>
              </a:ext>
            </a:extLst>
          </p:cNvPr>
          <p:cNvSpPr txBox="1"/>
          <p:nvPr/>
        </p:nvSpPr>
        <p:spPr>
          <a:xfrm>
            <a:off x="971944" y="3492449"/>
            <a:ext cx="8530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MongoDB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22" name="TextBox 21" descr="0">
            <a:extLst>
              <a:ext uri="{FF2B5EF4-FFF2-40B4-BE49-F238E27FC236}">
                <a16:creationId xmlns:a16="http://schemas.microsoft.com/office/drawing/2014/main" id="{971FCF2B-0814-6EA9-D1CA-04BA6A330302}"/>
              </a:ext>
            </a:extLst>
          </p:cNvPr>
          <p:cNvSpPr txBox="1"/>
          <p:nvPr/>
        </p:nvSpPr>
        <p:spPr>
          <a:xfrm>
            <a:off x="1496839" y="3492334"/>
            <a:ext cx="7299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Segoe UI" pitchFamily="34" charset="0"/>
                <a:cs typeface="Segoe UI" pitchFamily="34" charset="0"/>
              </a:rPr>
              <a:t>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23" name="Picture 22" descr="A green leaf with grey text&#10;&#10;AI-generated content may be incorrect.">
            <a:extLst>
              <a:ext uri="{FF2B5EF4-FFF2-40B4-BE49-F238E27FC236}">
                <a16:creationId xmlns:a16="http://schemas.microsoft.com/office/drawing/2014/main" id="{C2569A93-3273-5F52-6DC4-89E14168B50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3522" y="3545837"/>
            <a:ext cx="148760" cy="14876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FC9CC0A-5A0C-C124-A045-D5115F9BB264}"/>
              </a:ext>
            </a:extLst>
          </p:cNvPr>
          <p:cNvSpPr txBox="1"/>
          <p:nvPr/>
        </p:nvSpPr>
        <p:spPr>
          <a:xfrm>
            <a:off x="2086873" y="1431951"/>
            <a:ext cx="13082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Database Server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6FBD74-A912-7C18-4D0B-29EBDF1ECE8A}"/>
              </a:ext>
            </a:extLst>
          </p:cNvPr>
          <p:cNvSpPr txBox="1"/>
          <p:nvPr/>
        </p:nvSpPr>
        <p:spPr>
          <a:xfrm>
            <a:off x="2097757" y="1708950"/>
            <a:ext cx="13082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Webapp  Server</a:t>
            </a:r>
          </a:p>
        </p:txBody>
      </p:sp>
      <p:sp>
        <p:nvSpPr>
          <p:cNvPr id="39" name="TextBox 38" descr="1">
            <a:extLst>
              <a:ext uri="{FF2B5EF4-FFF2-40B4-BE49-F238E27FC236}">
                <a16:creationId xmlns:a16="http://schemas.microsoft.com/office/drawing/2014/main" id="{4B530B8A-FE1C-365A-7295-D8FD94F034A6}"/>
              </a:ext>
            </a:extLst>
          </p:cNvPr>
          <p:cNvSpPr txBox="1"/>
          <p:nvPr/>
        </p:nvSpPr>
        <p:spPr>
          <a:xfrm>
            <a:off x="3371481" y="1708950"/>
            <a:ext cx="6394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1</a:t>
            </a:r>
          </a:p>
        </p:txBody>
      </p:sp>
      <p:sp>
        <p:nvSpPr>
          <p:cNvPr id="43" name="TextBox 42" descr="1">
            <a:extLst>
              <a:ext uri="{FF2B5EF4-FFF2-40B4-BE49-F238E27FC236}">
                <a16:creationId xmlns:a16="http://schemas.microsoft.com/office/drawing/2014/main" id="{8983F553-E741-80B1-25F5-EE5C90627912}"/>
              </a:ext>
            </a:extLst>
          </p:cNvPr>
          <p:cNvSpPr txBox="1"/>
          <p:nvPr/>
        </p:nvSpPr>
        <p:spPr>
          <a:xfrm>
            <a:off x="3360597" y="1431951"/>
            <a:ext cx="6502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>
                    <a:lumMod val="95000"/>
                    <a:lumOff val="5000"/>
                  </a:prstClr>
                </a:solidFill>
                <a:latin typeface="Segoe Sans Text" pitchFamily="2" charset="0"/>
                <a:cs typeface="Segoe Sans Text" pitchFamily="2" charset="0"/>
              </a:rPr>
              <a:t>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534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62AEB-5E9A-60ED-5361-7736E239E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itle 12">
            <a:extLst>
              <a:ext uri="{FF2B5EF4-FFF2-40B4-BE49-F238E27FC236}">
                <a16:creationId xmlns:a16="http://schemas.microsoft.com/office/drawing/2014/main" id="{39A82D4D-EA1E-13A3-3FF2-8899BE3C8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7200"/>
            <a:ext cx="6859624" cy="553998"/>
          </a:xfrm>
        </p:spPr>
        <p:txBody>
          <a:bodyPr>
            <a:normAutofit/>
          </a:bodyPr>
          <a:lstStyle/>
          <a:p>
            <a:r>
              <a:rPr lang="en-US" sz="2800">
                <a:latin typeface="Segoe Sans Text" pitchFamily="2" charset="0"/>
                <a:cs typeface="Segoe Sans Text" pitchFamily="2" charset="0"/>
              </a:rPr>
              <a:t>IaaS migration readiness report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90512B2-9854-BFA0-0873-EE5C03F1AD7D}"/>
              </a:ext>
            </a:extLst>
          </p:cNvPr>
          <p:cNvSpPr/>
          <p:nvPr/>
        </p:nvSpPr>
        <p:spPr>
          <a:xfrm>
            <a:off x="657233" y="1025761"/>
            <a:ext cx="11234730" cy="2841821"/>
          </a:xfrm>
          <a:prstGeom prst="roundRect">
            <a:avLst>
              <a:gd name="adj" fmla="val 5035"/>
            </a:avLst>
          </a:prstGeom>
          <a:gradFill flip="none" rotWithShape="1"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Segoe UI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6A3016-8A14-DAB5-2D39-711346831A19}"/>
              </a:ext>
            </a:extLst>
          </p:cNvPr>
          <p:cNvSpPr txBox="1"/>
          <p:nvPr/>
        </p:nvSpPr>
        <p:spPr>
          <a:xfrm>
            <a:off x="817246" y="1084263"/>
            <a:ext cx="29844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 Semibold"/>
                <a:ea typeface="+mn-ea"/>
                <a:cs typeface="Segoe UI" panose="020B0502040204020203" pitchFamily="34" charset="0"/>
              </a:rPr>
              <a:t>Azure VM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7" name="TextBox 26" descr="0">
            <a:extLst>
              <a:ext uri="{FF2B5EF4-FFF2-40B4-BE49-F238E27FC236}">
                <a16:creationId xmlns:a16="http://schemas.microsoft.com/office/drawing/2014/main" id="{508910D4-25AA-7FE6-7E89-B15CAE694F0E}"/>
              </a:ext>
            </a:extLst>
          </p:cNvPr>
          <p:cNvSpPr txBox="1"/>
          <p:nvPr/>
        </p:nvSpPr>
        <p:spPr>
          <a:xfrm>
            <a:off x="2458088" y="1673853"/>
            <a:ext cx="716193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FA29DF-3B5B-1161-39F3-F6B5E8240689}"/>
              </a:ext>
            </a:extLst>
          </p:cNvPr>
          <p:cNvSpPr txBox="1"/>
          <p:nvPr/>
        </p:nvSpPr>
        <p:spPr>
          <a:xfrm>
            <a:off x="2458089" y="1448739"/>
            <a:ext cx="1252208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Linux (#)</a:t>
            </a:r>
          </a:p>
        </p:txBody>
      </p:sp>
      <p:sp>
        <p:nvSpPr>
          <p:cNvPr id="53" name="TextBox 52" descr="2">
            <a:extLst>
              <a:ext uri="{FF2B5EF4-FFF2-40B4-BE49-F238E27FC236}">
                <a16:creationId xmlns:a16="http://schemas.microsoft.com/office/drawing/2014/main" id="{6D47657A-5922-44A1-6807-761F5917B9E7}"/>
              </a:ext>
            </a:extLst>
          </p:cNvPr>
          <p:cNvSpPr txBox="1"/>
          <p:nvPr/>
        </p:nvSpPr>
        <p:spPr>
          <a:xfrm>
            <a:off x="834127" y="1648812"/>
            <a:ext cx="110137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D257C5-1A31-F42C-4375-1D9A72A14BE5}"/>
              </a:ext>
            </a:extLst>
          </p:cNvPr>
          <p:cNvSpPr txBox="1"/>
          <p:nvPr/>
        </p:nvSpPr>
        <p:spPr>
          <a:xfrm>
            <a:off x="829749" y="1448739"/>
            <a:ext cx="1448858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Windows (#)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529F9D90-284B-860A-C676-94AB3B6D6B46}"/>
              </a:ext>
            </a:extLst>
          </p:cNvPr>
          <p:cNvSpPr/>
          <p:nvPr/>
        </p:nvSpPr>
        <p:spPr>
          <a:xfrm>
            <a:off x="843989" y="1932385"/>
            <a:ext cx="2568049" cy="1399457"/>
          </a:xfrm>
          <a:prstGeom prst="roundRect">
            <a:avLst>
              <a:gd name="adj" fmla="val 9075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Segoe UI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E834F56-0BE8-FCCC-0511-13DFF5E6F797}"/>
              </a:ext>
            </a:extLst>
          </p:cNvPr>
          <p:cNvSpPr txBox="1"/>
          <p:nvPr/>
        </p:nvSpPr>
        <p:spPr>
          <a:xfrm>
            <a:off x="879206" y="2113530"/>
            <a:ext cx="12319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Compute Cost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68" name="TextBox 67" descr="$ 2.03K">
            <a:extLst>
              <a:ext uri="{FF2B5EF4-FFF2-40B4-BE49-F238E27FC236}">
                <a16:creationId xmlns:a16="http://schemas.microsoft.com/office/drawing/2014/main" id="{5BB0D9F5-A301-6282-97CA-739437A18A8A}"/>
              </a:ext>
            </a:extLst>
          </p:cNvPr>
          <p:cNvSpPr txBox="1"/>
          <p:nvPr/>
        </p:nvSpPr>
        <p:spPr>
          <a:xfrm>
            <a:off x="898855" y="2324278"/>
            <a:ext cx="9499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$ 2.03K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69" name="TextBox 68" descr="$ 0">
            <a:extLst>
              <a:ext uri="{FF2B5EF4-FFF2-40B4-BE49-F238E27FC236}">
                <a16:creationId xmlns:a16="http://schemas.microsoft.com/office/drawing/2014/main" id="{5223E437-1589-C280-D54D-48C3A6C2A101}"/>
              </a:ext>
            </a:extLst>
          </p:cNvPr>
          <p:cNvSpPr txBox="1"/>
          <p:nvPr/>
        </p:nvSpPr>
        <p:spPr>
          <a:xfrm>
            <a:off x="2260149" y="2325078"/>
            <a:ext cx="9646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$ 0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05CAD9-A1AD-008A-1FC1-DBF72CD89BF0}"/>
              </a:ext>
            </a:extLst>
          </p:cNvPr>
          <p:cNvSpPr txBox="1"/>
          <p:nvPr/>
        </p:nvSpPr>
        <p:spPr>
          <a:xfrm>
            <a:off x="2239964" y="2114330"/>
            <a:ext cx="12072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Security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 Cost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71" name="TextBox 70" descr="$ 2.09K">
            <a:extLst>
              <a:ext uri="{FF2B5EF4-FFF2-40B4-BE49-F238E27FC236}">
                <a16:creationId xmlns:a16="http://schemas.microsoft.com/office/drawing/2014/main" id="{3E424A75-6C93-6E99-B995-0DFF00B491FE}"/>
              </a:ext>
            </a:extLst>
          </p:cNvPr>
          <p:cNvSpPr txBox="1"/>
          <p:nvPr/>
        </p:nvSpPr>
        <p:spPr>
          <a:xfrm>
            <a:off x="1848759" y="2737965"/>
            <a:ext cx="15378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$ 2.09K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8445974-E41E-D6A1-7040-4A083B3435CA}"/>
              </a:ext>
            </a:extLst>
          </p:cNvPr>
          <p:cNvSpPr txBox="1"/>
          <p:nvPr/>
        </p:nvSpPr>
        <p:spPr>
          <a:xfrm>
            <a:off x="879206" y="2658781"/>
            <a:ext cx="11013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Storage Cost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73" name="TextBox 72" descr="$ 63.36">
            <a:extLst>
              <a:ext uri="{FF2B5EF4-FFF2-40B4-BE49-F238E27FC236}">
                <a16:creationId xmlns:a16="http://schemas.microsoft.com/office/drawing/2014/main" id="{9A3773BD-9D08-9EE8-447F-DC4B45F2C2EB}"/>
              </a:ext>
            </a:extLst>
          </p:cNvPr>
          <p:cNvSpPr txBox="1"/>
          <p:nvPr/>
        </p:nvSpPr>
        <p:spPr>
          <a:xfrm>
            <a:off x="898855" y="2869529"/>
            <a:ext cx="110136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$ 63.36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graphicFrame>
        <p:nvGraphicFramePr>
          <p:cNvPr id="56" name="Chart 55" descr="&lt;bar chart&gt;&lt;IaaSMigration_RecommendedSKUByCost:AzureVM&gt;">
            <a:extLst>
              <a:ext uri="{FF2B5EF4-FFF2-40B4-BE49-F238E27FC236}">
                <a16:creationId xmlns:a16="http://schemas.microsoft.com/office/drawing/2014/main" id="{B4584A2C-3B11-9AD0-EE98-EA542A867B09}"/>
              </a:ext>
            </a:extLst>
          </p:cNvPr>
          <p:cNvGraphicFramePr/>
          <p:nvPr/>
        </p:nvGraphicFramePr>
        <p:xfrm>
          <a:off x="6665498" y="1727350"/>
          <a:ext cx="2549018" cy="18246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AADE5C63-FF52-49EF-FB78-E04B6F723495}"/>
              </a:ext>
            </a:extLst>
          </p:cNvPr>
          <p:cNvSpPr txBox="1"/>
          <p:nvPr/>
        </p:nvSpPr>
        <p:spPr>
          <a:xfrm>
            <a:off x="7215820" y="1430272"/>
            <a:ext cx="22218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Recommended SKU by cost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48F6B5-5B0D-B9A2-DE4F-0B1C4E3B3D85}"/>
              </a:ext>
            </a:extLst>
          </p:cNvPr>
          <p:cNvSpPr txBox="1"/>
          <p:nvPr/>
        </p:nvSpPr>
        <p:spPr>
          <a:xfrm>
            <a:off x="9393634" y="1442144"/>
            <a:ext cx="22218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Recommended SKU by count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5C1B499-56BD-321A-8466-C59ACD88CC07}"/>
              </a:ext>
            </a:extLst>
          </p:cNvPr>
          <p:cNvCxnSpPr>
            <a:cxnSpLocks/>
          </p:cNvCxnSpPr>
          <p:nvPr/>
        </p:nvCxnSpPr>
        <p:spPr>
          <a:xfrm>
            <a:off x="3801727" y="1521598"/>
            <a:ext cx="0" cy="140400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8BDFB46-B1C7-CB95-F957-64BD778AC6F9}"/>
              </a:ext>
            </a:extLst>
          </p:cNvPr>
          <p:cNvCxnSpPr>
            <a:cxnSpLocks/>
          </p:cNvCxnSpPr>
          <p:nvPr/>
        </p:nvCxnSpPr>
        <p:spPr>
          <a:xfrm>
            <a:off x="6573213" y="1500414"/>
            <a:ext cx="0" cy="140400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75DC8F47-3075-D0BF-C6F4-4D81EDECCEAA}"/>
              </a:ext>
            </a:extLst>
          </p:cNvPr>
          <p:cNvSpPr/>
          <p:nvPr/>
        </p:nvSpPr>
        <p:spPr>
          <a:xfrm>
            <a:off x="657233" y="3991006"/>
            <a:ext cx="11234730" cy="2690791"/>
          </a:xfrm>
          <a:prstGeom prst="roundRect">
            <a:avLst>
              <a:gd name="adj" fmla="val 5035"/>
            </a:avLst>
          </a:prstGeom>
          <a:gradFill flip="none" rotWithShape="1"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Segoe UI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1BDB80E-1038-819D-D193-1C30E2AB158E}"/>
              </a:ext>
            </a:extLst>
          </p:cNvPr>
          <p:cNvSpPr txBox="1"/>
          <p:nvPr/>
        </p:nvSpPr>
        <p:spPr>
          <a:xfrm>
            <a:off x="817246" y="4049508"/>
            <a:ext cx="29844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 Semibold"/>
                <a:ea typeface="+mn-ea"/>
                <a:cs typeface="Segoe UI" panose="020B0502040204020203" pitchFamily="34" charset="0"/>
              </a:rPr>
              <a:t>Azure SQL VM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B81FBB38-93D2-5386-78FC-0BD517C3A2B2}"/>
              </a:ext>
            </a:extLst>
          </p:cNvPr>
          <p:cNvSpPr/>
          <p:nvPr/>
        </p:nvSpPr>
        <p:spPr>
          <a:xfrm>
            <a:off x="843989" y="4897630"/>
            <a:ext cx="2568049" cy="1399457"/>
          </a:xfrm>
          <a:prstGeom prst="roundRect">
            <a:avLst>
              <a:gd name="adj" fmla="val 9075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Segoe UI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A145F3B-B838-8403-21F2-C69E942A047B}"/>
              </a:ext>
            </a:extLst>
          </p:cNvPr>
          <p:cNvSpPr txBox="1"/>
          <p:nvPr/>
        </p:nvSpPr>
        <p:spPr>
          <a:xfrm>
            <a:off x="879206" y="5078775"/>
            <a:ext cx="12319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Compute Cost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22" name="TextBox 121" descr="N/A">
            <a:extLst>
              <a:ext uri="{FF2B5EF4-FFF2-40B4-BE49-F238E27FC236}">
                <a16:creationId xmlns:a16="http://schemas.microsoft.com/office/drawing/2014/main" id="{7644329D-4E1D-A6E6-6F7E-7FBD489C367C}"/>
              </a:ext>
            </a:extLst>
          </p:cNvPr>
          <p:cNvSpPr txBox="1"/>
          <p:nvPr/>
        </p:nvSpPr>
        <p:spPr>
          <a:xfrm>
            <a:off x="898855" y="5289523"/>
            <a:ext cx="9499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N/A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23" name="TextBox 122" descr="N/A">
            <a:extLst>
              <a:ext uri="{FF2B5EF4-FFF2-40B4-BE49-F238E27FC236}">
                <a16:creationId xmlns:a16="http://schemas.microsoft.com/office/drawing/2014/main" id="{F1CB2BF3-4623-78A7-56A9-C41F16525791}"/>
              </a:ext>
            </a:extLst>
          </p:cNvPr>
          <p:cNvSpPr txBox="1"/>
          <p:nvPr/>
        </p:nvSpPr>
        <p:spPr>
          <a:xfrm>
            <a:off x="2260149" y="5290323"/>
            <a:ext cx="9646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N/A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5D9580B-2188-04C9-9F3E-3FA7B875E569}"/>
              </a:ext>
            </a:extLst>
          </p:cNvPr>
          <p:cNvSpPr txBox="1"/>
          <p:nvPr/>
        </p:nvSpPr>
        <p:spPr>
          <a:xfrm>
            <a:off x="2239964" y="5079575"/>
            <a:ext cx="12072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Security</a:t>
            </a: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 Cost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25" name="TextBox 124" descr="N/A">
            <a:extLst>
              <a:ext uri="{FF2B5EF4-FFF2-40B4-BE49-F238E27FC236}">
                <a16:creationId xmlns:a16="http://schemas.microsoft.com/office/drawing/2014/main" id="{B21FB057-EDEB-3EA5-0509-1C15F1358115}"/>
              </a:ext>
            </a:extLst>
          </p:cNvPr>
          <p:cNvSpPr txBox="1"/>
          <p:nvPr/>
        </p:nvSpPr>
        <p:spPr>
          <a:xfrm>
            <a:off x="1848758" y="5732002"/>
            <a:ext cx="15829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N/A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6950054-F27B-6155-BC50-2A129FA591A1}"/>
              </a:ext>
            </a:extLst>
          </p:cNvPr>
          <p:cNvSpPr txBox="1"/>
          <p:nvPr/>
        </p:nvSpPr>
        <p:spPr>
          <a:xfrm>
            <a:off x="879206" y="5624026"/>
            <a:ext cx="11013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Storage Cost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27" name="TextBox 126" descr="N/A">
            <a:extLst>
              <a:ext uri="{FF2B5EF4-FFF2-40B4-BE49-F238E27FC236}">
                <a16:creationId xmlns:a16="http://schemas.microsoft.com/office/drawing/2014/main" id="{F46D626B-688E-24CB-073D-7AE23369B0F9}"/>
              </a:ext>
            </a:extLst>
          </p:cNvPr>
          <p:cNvSpPr txBox="1"/>
          <p:nvPr/>
        </p:nvSpPr>
        <p:spPr>
          <a:xfrm>
            <a:off x="898855" y="5834774"/>
            <a:ext cx="110136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N/A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graphicFrame>
        <p:nvGraphicFramePr>
          <p:cNvPr id="111" name="Chart 110" descr="&lt;bar chart&gt;&lt;IaaSMigration_RecommendedSKUByCost:AzureSQLVM&gt;">
            <a:extLst>
              <a:ext uri="{FF2B5EF4-FFF2-40B4-BE49-F238E27FC236}">
                <a16:creationId xmlns:a16="http://schemas.microsoft.com/office/drawing/2014/main" id="{D16E4AB5-2D79-8642-757A-8CBBFA3AF1FD}"/>
              </a:ext>
            </a:extLst>
          </p:cNvPr>
          <p:cNvGraphicFramePr/>
          <p:nvPr/>
        </p:nvGraphicFramePr>
        <p:xfrm>
          <a:off x="6665498" y="4692595"/>
          <a:ext cx="2549018" cy="16768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2" name="TextBox 111">
            <a:extLst>
              <a:ext uri="{FF2B5EF4-FFF2-40B4-BE49-F238E27FC236}">
                <a16:creationId xmlns:a16="http://schemas.microsoft.com/office/drawing/2014/main" id="{3A7E12D7-CB68-CCED-BF13-2839E0B742D1}"/>
              </a:ext>
            </a:extLst>
          </p:cNvPr>
          <p:cNvSpPr txBox="1"/>
          <p:nvPr/>
        </p:nvSpPr>
        <p:spPr>
          <a:xfrm>
            <a:off x="7215820" y="4395517"/>
            <a:ext cx="22218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Recommended SKU by cost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463F341-2A96-60E1-9CFC-2E5354E3AB28}"/>
              </a:ext>
            </a:extLst>
          </p:cNvPr>
          <p:cNvSpPr txBox="1"/>
          <p:nvPr/>
        </p:nvSpPr>
        <p:spPr>
          <a:xfrm>
            <a:off x="9393634" y="4407389"/>
            <a:ext cx="22218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Recommended SKU by count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E969E4C6-CA70-0E71-0FCE-8585FD6B886C}"/>
              </a:ext>
            </a:extLst>
          </p:cNvPr>
          <p:cNvCxnSpPr>
            <a:cxnSpLocks/>
          </p:cNvCxnSpPr>
          <p:nvPr/>
        </p:nvCxnSpPr>
        <p:spPr>
          <a:xfrm>
            <a:off x="3801727" y="4486843"/>
            <a:ext cx="0" cy="140400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1A20BD2-8626-94FF-68CE-85BF391727E4}"/>
              </a:ext>
            </a:extLst>
          </p:cNvPr>
          <p:cNvCxnSpPr>
            <a:cxnSpLocks/>
          </p:cNvCxnSpPr>
          <p:nvPr/>
        </p:nvCxnSpPr>
        <p:spPr>
          <a:xfrm>
            <a:off x="6573213" y="4465659"/>
            <a:ext cx="0" cy="140400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1508210-38DA-827A-7C86-44F1AC62570F}"/>
              </a:ext>
            </a:extLst>
          </p:cNvPr>
          <p:cNvSpPr txBox="1"/>
          <p:nvPr/>
        </p:nvSpPr>
        <p:spPr>
          <a:xfrm>
            <a:off x="879206" y="6369418"/>
            <a:ext cx="25734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9373C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  <a:hlinkClick r:id="" action="ppaction://noaction"/>
              </a:rPr>
              <a:t>View more details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9373C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61A4E5-31D7-A5BD-874B-9ABC5D2E5F19}"/>
              </a:ext>
            </a:extLst>
          </p:cNvPr>
          <p:cNvSpPr txBox="1"/>
          <p:nvPr/>
        </p:nvSpPr>
        <p:spPr>
          <a:xfrm>
            <a:off x="813155" y="3367381"/>
            <a:ext cx="25734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9373C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  <a:hlinkClick r:id="" action="ppaction://noaction"/>
              </a:rPr>
              <a:t>View more details for Windows Server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9373C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74B196-1DBF-C24A-20DF-298B7B919C22}"/>
              </a:ext>
            </a:extLst>
          </p:cNvPr>
          <p:cNvSpPr txBox="1"/>
          <p:nvPr/>
        </p:nvSpPr>
        <p:spPr>
          <a:xfrm>
            <a:off x="813155" y="3552020"/>
            <a:ext cx="25734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9373C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  <a:hlinkClick r:id="" action="ppaction://noaction"/>
              </a:rPr>
              <a:t>View more details for Linux Server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9373C0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3" name="TextBox 2" descr="N/A">
            <a:extLst>
              <a:ext uri="{FF2B5EF4-FFF2-40B4-BE49-F238E27FC236}">
                <a16:creationId xmlns:a16="http://schemas.microsoft.com/office/drawing/2014/main" id="{4D3E8791-33D6-C318-7AEA-E847AE5B7E4F}"/>
              </a:ext>
            </a:extLst>
          </p:cNvPr>
          <p:cNvSpPr txBox="1"/>
          <p:nvPr/>
        </p:nvSpPr>
        <p:spPr>
          <a:xfrm>
            <a:off x="2459668" y="4592677"/>
            <a:ext cx="716193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N/A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D16874-4A18-D425-218F-336B31B39878}"/>
              </a:ext>
            </a:extLst>
          </p:cNvPr>
          <p:cNvSpPr txBox="1"/>
          <p:nvPr/>
        </p:nvSpPr>
        <p:spPr>
          <a:xfrm>
            <a:off x="2459669" y="4367563"/>
            <a:ext cx="1139473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Databases (#)</a:t>
            </a:r>
          </a:p>
        </p:txBody>
      </p:sp>
      <p:sp>
        <p:nvSpPr>
          <p:cNvPr id="8" name="TextBox 7" descr="N/A">
            <a:extLst>
              <a:ext uri="{FF2B5EF4-FFF2-40B4-BE49-F238E27FC236}">
                <a16:creationId xmlns:a16="http://schemas.microsoft.com/office/drawing/2014/main" id="{C29FB816-6EB1-9705-3DF9-208C87B3409C}"/>
              </a:ext>
            </a:extLst>
          </p:cNvPr>
          <p:cNvSpPr txBox="1"/>
          <p:nvPr/>
        </p:nvSpPr>
        <p:spPr>
          <a:xfrm>
            <a:off x="835707" y="4567636"/>
            <a:ext cx="110137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N/A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0337D6-41D7-8529-0130-00CA87DEC330}"/>
              </a:ext>
            </a:extLst>
          </p:cNvPr>
          <p:cNvSpPr txBox="1"/>
          <p:nvPr/>
        </p:nvSpPr>
        <p:spPr>
          <a:xfrm>
            <a:off x="831329" y="4367563"/>
            <a:ext cx="1448858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Instances (#)</a:t>
            </a:r>
          </a:p>
        </p:txBody>
      </p:sp>
      <p:graphicFrame>
        <p:nvGraphicFramePr>
          <p:cNvPr id="10" name="Chart 9" descr="&lt;bar chart&gt;&lt;IaaSMigration_RecommendedSKUByCount:AzureVM&gt;">
            <a:extLst>
              <a:ext uri="{FF2B5EF4-FFF2-40B4-BE49-F238E27FC236}">
                <a16:creationId xmlns:a16="http://schemas.microsoft.com/office/drawing/2014/main" id="{8E952C8B-EAEE-4D22-37E3-336C3DEA6911}"/>
              </a:ext>
            </a:extLst>
          </p:cNvPr>
          <p:cNvGraphicFramePr/>
          <p:nvPr/>
        </p:nvGraphicFramePr>
        <p:xfrm>
          <a:off x="9408739" y="1729473"/>
          <a:ext cx="2549018" cy="18225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11" descr="&lt;bar chart&gt;&lt;IaaSMigration_RecommendedSKUByCount:AzureSQLVM&gt;">
            <a:extLst>
              <a:ext uri="{FF2B5EF4-FFF2-40B4-BE49-F238E27FC236}">
                <a16:creationId xmlns:a16="http://schemas.microsoft.com/office/drawing/2014/main" id="{2AB11E9C-7B35-1A1D-167B-19167FC36AA3}"/>
              </a:ext>
            </a:extLst>
          </p:cNvPr>
          <p:cNvGraphicFramePr/>
          <p:nvPr/>
        </p:nvGraphicFramePr>
        <p:xfrm>
          <a:off x="9389087" y="4692595"/>
          <a:ext cx="2549018" cy="16768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5EE1D58-DBC3-0518-8B5D-610259F8D0EA}"/>
              </a:ext>
            </a:extLst>
          </p:cNvPr>
          <p:cNvSpPr txBox="1"/>
          <p:nvPr/>
        </p:nvSpPr>
        <p:spPr>
          <a:xfrm>
            <a:off x="3959644" y="1493916"/>
            <a:ext cx="264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Remediate minor issues to modernize to PaaS platforms</a:t>
            </a:r>
          </a:p>
        </p:txBody>
      </p:sp>
      <p:sp>
        <p:nvSpPr>
          <p:cNvPr id="16" name="TextBox 15" descr="N/A">
            <a:extLst>
              <a:ext uri="{FF2B5EF4-FFF2-40B4-BE49-F238E27FC236}">
                <a16:creationId xmlns:a16="http://schemas.microsoft.com/office/drawing/2014/main" id="{E25C0D8E-B01D-AEF7-45ED-0C99364865FE}"/>
              </a:ext>
            </a:extLst>
          </p:cNvPr>
          <p:cNvSpPr txBox="1"/>
          <p:nvPr/>
        </p:nvSpPr>
        <p:spPr>
          <a:xfrm>
            <a:off x="3957891" y="1916555"/>
            <a:ext cx="26413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N/A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18464E-DDA2-1CFE-44B9-1ECB687DD14F}"/>
              </a:ext>
            </a:extLst>
          </p:cNvPr>
          <p:cNvSpPr txBox="1"/>
          <p:nvPr/>
        </p:nvSpPr>
        <p:spPr>
          <a:xfrm>
            <a:off x="3957891" y="4473489"/>
            <a:ext cx="2641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Remediate minor issues to modernize to PaaS platforms</a:t>
            </a:r>
          </a:p>
        </p:txBody>
      </p:sp>
      <p:sp>
        <p:nvSpPr>
          <p:cNvPr id="18" name="TextBox 17" descr="SqlPerfToMachinePerfFallback (1)">
            <a:extLst>
              <a:ext uri="{FF2B5EF4-FFF2-40B4-BE49-F238E27FC236}">
                <a16:creationId xmlns:a16="http://schemas.microsoft.com/office/drawing/2014/main" id="{D447BB74-D44D-9AAD-7443-30227AF78681}"/>
              </a:ext>
            </a:extLst>
          </p:cNvPr>
          <p:cNvSpPr txBox="1"/>
          <p:nvPr/>
        </p:nvSpPr>
        <p:spPr>
          <a:xfrm>
            <a:off x="3957891" y="4891141"/>
            <a:ext cx="26413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SqlPerfToMachinePerfFallback (1)</a:t>
            </a:r>
          </a:p>
        </p:txBody>
      </p:sp>
      <p:sp>
        <p:nvSpPr>
          <p:cNvPr id="11" name="TextBox 10" descr="Visit Azure Migrate portal for details">
            <a:extLst>
              <a:ext uri="{FF2B5EF4-FFF2-40B4-BE49-F238E27FC236}">
                <a16:creationId xmlns:a16="http://schemas.microsoft.com/office/drawing/2014/main" id="{BFAB5CFA-8CB0-D04A-E5CD-C0DD5DCDECB4}"/>
              </a:ext>
            </a:extLst>
          </p:cNvPr>
          <p:cNvSpPr txBox="1"/>
          <p:nvPr/>
        </p:nvSpPr>
        <p:spPr>
          <a:xfrm>
            <a:off x="9731194" y="661125"/>
            <a:ext cx="2180308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0" i="0">
                <a:latin typeface="Segoe Sans Text"/>
              </a:rPr>
              <a:t>Visit </a:t>
            </a:r>
            <a:r>
              <a:rPr sz="1000" b="0" i="0">
                <a:latin typeface="Segoe Sans Text"/>
                <a:hlinkClick r:id="rId7"/>
              </a:rPr>
              <a:t>Azure Migrate</a:t>
            </a:r>
            <a:r>
              <a:rPr sz="1000" b="0" i="0">
                <a:latin typeface="Segoe Sans Text"/>
              </a:rPr>
              <a:t> portal for details</a:t>
            </a:r>
          </a:p>
        </p:txBody>
      </p:sp>
    </p:spTree>
    <p:extLst>
      <p:ext uri="{BB962C8B-B14F-4D97-AF65-F5344CB8AC3E}">
        <p14:creationId xmlns:p14="http://schemas.microsoft.com/office/powerpoint/2010/main" val="213020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C074F-5094-5F29-7A0A-5DD5272AC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9467FAD1-D37E-770F-4BE8-A5C904C295F2}"/>
              </a:ext>
            </a:extLst>
          </p:cNvPr>
          <p:cNvSpPr>
            <a:spLocks/>
          </p:cNvSpPr>
          <p:nvPr/>
        </p:nvSpPr>
        <p:spPr>
          <a:xfrm>
            <a:off x="1920135" y="5443113"/>
            <a:ext cx="12091481" cy="5140404"/>
          </a:xfrm>
          <a:prstGeom prst="roundRect">
            <a:avLst>
              <a:gd name="adj" fmla="val 2330"/>
            </a:avLst>
          </a:prstGeom>
          <a:gradFill flip="none" rotWithShape="1"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66B4E7CA-39BF-C183-224E-6A6E6A04B410}"/>
              </a:ext>
            </a:extLst>
          </p:cNvPr>
          <p:cNvSpPr/>
          <p:nvPr/>
        </p:nvSpPr>
        <p:spPr>
          <a:xfrm>
            <a:off x="1920135" y="1720265"/>
            <a:ext cx="2045937" cy="2997649"/>
          </a:xfrm>
          <a:prstGeom prst="roundRect">
            <a:avLst>
              <a:gd name="adj" fmla="val 6207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AFF6C14-B19D-FEA7-0F1C-3EB4FBB6F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60243"/>
            <a:ext cx="11018520" cy="453124"/>
          </a:xfrm>
        </p:spPr>
        <p:txBody>
          <a:bodyPr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800" dirty="0">
                <a:latin typeface="Segoe Sans Text" pitchFamily="2" charset="0"/>
                <a:cs typeface="Segoe Sans Text" pitchFamily="2" charset="0"/>
              </a:rPr>
              <a:t>Migration wave plan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9019694-0C7F-F1D8-BCC5-2B9136255646}"/>
              </a:ext>
            </a:extLst>
          </p:cNvPr>
          <p:cNvSpPr txBox="1">
            <a:spLocks/>
          </p:cNvSpPr>
          <p:nvPr/>
        </p:nvSpPr>
        <p:spPr>
          <a:xfrm>
            <a:off x="711354" y="985817"/>
            <a:ext cx="11101666" cy="430887"/>
          </a:xfrm>
          <a:prstGeom prst="rect">
            <a:avLst/>
          </a:prstGeom>
        </p:spPr>
        <p:txBody>
          <a:bodyPr vert="horz" wrap="square" lIns="0" tIns="0" rIns="18288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>
              <a:defRPr/>
            </a:pPr>
            <a:r>
              <a:rPr lang="en-US" sz="1400" spc="0" dirty="0">
                <a:ln>
                  <a:noFill/>
                </a:ln>
                <a:solidFill>
                  <a:srgbClr val="000000"/>
                </a:solidFill>
                <a:latin typeface="Segoe Sans Text"/>
              </a:rPr>
              <a:t>Outlines phased execution strategy by organizing applications and </a:t>
            </a:r>
            <a:r>
              <a:rPr lang="en-US" sz="1400" dirty="0">
                <a:solidFill>
                  <a:srgbClr val="000000"/>
                </a:solidFill>
                <a:latin typeface="Segoe Sans Text"/>
              </a:rPr>
              <a:t>workloads </a:t>
            </a:r>
            <a:r>
              <a:rPr lang="en-US" sz="1400" spc="0" dirty="0">
                <a:ln>
                  <a:noFill/>
                </a:ln>
                <a:solidFill>
                  <a:srgbClr val="000000"/>
                </a:solidFill>
                <a:latin typeface="Segoe Sans Text"/>
              </a:rPr>
              <a:t>into migration waves, enabling structured and manageable rollout.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411E5C-51EF-9A5F-E5AA-EB8A79AD7C3A}"/>
              </a:ext>
            </a:extLst>
          </p:cNvPr>
          <p:cNvSpPr txBox="1"/>
          <p:nvPr/>
        </p:nvSpPr>
        <p:spPr>
          <a:xfrm>
            <a:off x="9731194" y="667141"/>
            <a:ext cx="2180308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** Visit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  <a:hlinkClick r:id="rId3"/>
              </a:rPr>
              <a:t>Azure Migrate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 portal for details</a:t>
            </a:r>
          </a:p>
        </p:txBody>
      </p:sp>
      <p:sp>
        <p:nvSpPr>
          <p:cNvPr id="7" name="TextBox 6" descr="0 Applications&#10;">
            <a:extLst>
              <a:ext uri="{FF2B5EF4-FFF2-40B4-BE49-F238E27FC236}">
                <a16:creationId xmlns:a16="http://schemas.microsoft.com/office/drawing/2014/main" id="{2122FB55-5027-C9E4-F3AC-05A8DD8140C0}"/>
              </a:ext>
            </a:extLst>
          </p:cNvPr>
          <p:cNvSpPr txBox="1"/>
          <p:nvPr/>
        </p:nvSpPr>
        <p:spPr>
          <a:xfrm>
            <a:off x="5224039" y="2419912"/>
            <a:ext cx="11916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02020"/>
                </a:solidFill>
              </a:defRPr>
            </a:pPr>
            <a:r>
              <a:rPr lang="en-US" dirty="0"/>
              <a:t>0 Applications
</a:t>
            </a:r>
            <a:endParaRPr dirty="0"/>
          </a:p>
        </p:txBody>
      </p:sp>
      <p:sp>
        <p:nvSpPr>
          <p:cNvPr id="11" name="TextBox 10" descr="5 Workloads&#10;">
            <a:extLst>
              <a:ext uri="{FF2B5EF4-FFF2-40B4-BE49-F238E27FC236}">
                <a16:creationId xmlns:a16="http://schemas.microsoft.com/office/drawing/2014/main" id="{23240778-7B05-EF61-BBF1-38C0F97D7694}"/>
              </a:ext>
            </a:extLst>
          </p:cNvPr>
          <p:cNvSpPr txBox="1"/>
          <p:nvPr/>
        </p:nvSpPr>
        <p:spPr>
          <a:xfrm>
            <a:off x="5241439" y="2815774"/>
            <a:ext cx="11916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02020"/>
                </a:solidFill>
              </a:defRPr>
            </a:pPr>
            <a:r>
              <a:rPr lang="en-US" dirty="0"/>
              <a:t>5 Workloads
</a:t>
            </a:r>
            <a:endParaRPr dirty="0"/>
          </a:p>
        </p:txBody>
      </p:sp>
      <p:sp>
        <p:nvSpPr>
          <p:cNvPr id="12" name="TextBox 11" descr="100% Rehost&#10;">
            <a:extLst>
              <a:ext uri="{FF2B5EF4-FFF2-40B4-BE49-F238E27FC236}">
                <a16:creationId xmlns:a16="http://schemas.microsoft.com/office/drawing/2014/main" id="{E0FC8014-BC28-6614-BD1C-05BDE84D0A8C}"/>
              </a:ext>
            </a:extLst>
          </p:cNvPr>
          <p:cNvSpPr txBox="1"/>
          <p:nvPr/>
        </p:nvSpPr>
        <p:spPr>
          <a:xfrm>
            <a:off x="5224039" y="3397625"/>
            <a:ext cx="11916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02020"/>
                </a:solidFill>
              </a:defRPr>
            </a:pPr>
            <a:r>
              <a:rPr lang="en-US" dirty="0"/>
              <a:t>100% Rehost
</a:t>
            </a:r>
            <a:endParaRPr dirty="0"/>
          </a:p>
        </p:txBody>
      </p:sp>
      <p:sp>
        <p:nvSpPr>
          <p:cNvPr id="15" name="TextBox 14" descr="Medium&#10;">
            <a:extLst>
              <a:ext uri="{FF2B5EF4-FFF2-40B4-BE49-F238E27FC236}">
                <a16:creationId xmlns:a16="http://schemas.microsoft.com/office/drawing/2014/main" id="{D15CB4F7-612B-886F-8AA4-DDC5A2DDE53C}"/>
              </a:ext>
            </a:extLst>
          </p:cNvPr>
          <p:cNvSpPr txBox="1"/>
          <p:nvPr/>
        </p:nvSpPr>
        <p:spPr>
          <a:xfrm>
            <a:off x="5224039" y="3837332"/>
            <a:ext cx="11916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02020"/>
                </a:solidFill>
              </a:defRPr>
            </a:pPr>
            <a:r>
              <a:rPr lang="en-US" dirty="0"/>
              <a:t>Medium
</a:t>
            </a:r>
            <a:endParaRPr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F52ECE-E5B4-3297-5181-A88423671DA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1920135" y="5848282"/>
            <a:ext cx="4300665" cy="153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000" dirty="0">
                <a:solidFill>
                  <a:srgbClr val="000000"/>
                </a:solidFill>
              </a:rPr>
              <a:t>The slide covers the first four waves. For the complete wave plan, reference</a:t>
            </a:r>
            <a:endParaRPr kumimoji="0" lang="en-US" sz="10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TextBox 5" descr="this workbook https://artsprodkocsa.blob.core.windows.net/a-ad9525be1441c2ca/75c87798468f/Inventory_wave_mapping_hyper-v-assessment_LiftAndShift.csv?skoid=d1c3a018-3072-4cce-9cc7-baebf0066435&amp;sktid=33e01921-4d64-4f8c-a055-5bdaffd5e33d&amp;skt=2026-09-01T14%3A31%3A18Z&amp;ske=2026-09-01T15%3A36%3A18Z&amp;sks=b&amp;skv=2026-06-06&amp;sv=2026-06-06&amp;spr=https&amp;st=2026-09-01T14%3A31%3A21Z&amp;se=2026-09-01T15%3A36%3A21Z&amp;sr=b&amp;sp=r&amp;sig=OmfplUu2ozZ4%2BaocshwnhJEgAsjQbup5qP3VoAT%2FmHQ%3D">
            <a:extLst>
              <a:ext uri="{FF2B5EF4-FFF2-40B4-BE49-F238E27FC236}">
                <a16:creationId xmlns:a16="http://schemas.microsoft.com/office/drawing/2014/main" id="{FF99119F-AEBA-373C-3306-486AE5CEE5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220800" y="5848282"/>
            <a:ext cx="843269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0070C0"/>
                </a:solidFill>
                <a:hlinkClick r:id="rId4"/>
              </a:rPr>
              <a:t>this workbook</a:t>
            </a:r>
          </a:p>
        </p:txBody>
      </p:sp>
      <p:sp>
        <p:nvSpPr>
          <p:cNvPr id="56" name="TextBox TotalCost1" descr="$0.35K&#10;">
            <a:extLst>
              <a:ext uri="{FF2B5EF4-FFF2-40B4-BE49-F238E27FC236}">
                <a16:creationId xmlns:a16="http://schemas.microsoft.com/office/drawing/2014/main" id="{43D16341-9862-448D-84C3-7CD976A83E5C}"/>
              </a:ext>
            </a:extLst>
          </p:cNvPr>
          <p:cNvSpPr txBox="1"/>
          <p:nvPr/>
        </p:nvSpPr>
        <p:spPr>
          <a:xfrm>
            <a:off x="5224039" y="4368761"/>
            <a:ext cx="11916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02020"/>
                </a:solidFill>
              </a:defRPr>
            </a:pPr>
            <a:r>
              <a:rPr lang="en-US" dirty="0"/>
              <a:t>$0.35K
</a:t>
            </a:r>
            <a:endParaRPr dirty="0"/>
          </a:p>
        </p:txBody>
      </p:sp>
      <p:sp>
        <p:nvSpPr>
          <p:cNvPr id="78" name="Rounded Rectangle 52">
            <a:extLst>
              <a:ext uri="{FF2B5EF4-FFF2-40B4-BE49-F238E27FC236}">
                <a16:creationId xmlns:a16="http://schemas.microsoft.com/office/drawing/2014/main" id="{ECD21179-62A3-1867-ED02-1DE00E29D863}"/>
              </a:ext>
            </a:extLst>
          </p:cNvPr>
          <p:cNvSpPr>
            <a:spLocks/>
          </p:cNvSpPr>
          <p:nvPr/>
        </p:nvSpPr>
        <p:spPr>
          <a:xfrm>
            <a:off x="39519" y="1302835"/>
            <a:ext cx="12091481" cy="5140404"/>
          </a:xfrm>
          <a:prstGeom prst="roundRect">
            <a:avLst>
              <a:gd name="adj" fmla="val 2330"/>
            </a:avLst>
          </a:prstGeom>
          <a:gradFill flip="none" rotWithShape="1"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82" name="Rounded Rectangle 54">
            <a:extLst>
              <a:ext uri="{FF2B5EF4-FFF2-40B4-BE49-F238E27FC236}">
                <a16:creationId xmlns:a16="http://schemas.microsoft.com/office/drawing/2014/main" id="{D5BD992C-56B9-2022-F0E5-80D983BEA74F}"/>
              </a:ext>
            </a:extLst>
          </p:cNvPr>
          <p:cNvSpPr/>
          <p:nvPr/>
        </p:nvSpPr>
        <p:spPr>
          <a:xfrm>
            <a:off x="5073031" y="2190025"/>
            <a:ext cx="2045937" cy="3065744"/>
          </a:xfrm>
          <a:prstGeom prst="roundRect">
            <a:avLst>
              <a:gd name="adj" fmla="val 6207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86" name="Title">
            <a:extLst>
              <a:ext uri="{FF2B5EF4-FFF2-40B4-BE49-F238E27FC236}">
                <a16:creationId xmlns:a16="http://schemas.microsoft.com/office/drawing/2014/main" id="{83773285-FABE-549C-3A10-B2004034BAB2}"/>
              </a:ext>
            </a:extLst>
          </p:cNvPr>
          <p:cNvSpPr txBox="1">
            <a:spLocks/>
          </p:cNvSpPr>
          <p:nvPr/>
        </p:nvSpPr>
        <p:spPr>
          <a:xfrm>
            <a:off x="576000" y="460243"/>
            <a:ext cx="11018520" cy="4531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2800">
                <a:latin typeface="Segoe Sans Text" pitchFamily="2" charset="0"/>
                <a:cs typeface="Segoe Sans Text" pitchFamily="2" charset="0"/>
              </a:rPr>
              <a:t>Migration wave plan</a:t>
            </a:r>
            <a:endParaRPr lang="en-US" sz="2800" dirty="0">
              <a:latin typeface="Segoe Sans Text" pitchFamily="2" charset="0"/>
              <a:cs typeface="Segoe Sans Text" pitchFamily="2" charset="0"/>
            </a:endParaRPr>
          </a:p>
        </p:txBody>
      </p:sp>
      <p:sp>
        <p:nvSpPr>
          <p:cNvPr id="87" name="Title 1">
            <a:extLst>
              <a:ext uri="{FF2B5EF4-FFF2-40B4-BE49-F238E27FC236}">
                <a16:creationId xmlns:a16="http://schemas.microsoft.com/office/drawing/2014/main" id="{C778D167-7314-EC46-3257-F711C873A326}"/>
              </a:ext>
            </a:extLst>
          </p:cNvPr>
          <p:cNvSpPr txBox="1">
            <a:spLocks/>
          </p:cNvSpPr>
          <p:nvPr/>
        </p:nvSpPr>
        <p:spPr>
          <a:xfrm>
            <a:off x="711354" y="985817"/>
            <a:ext cx="11101666" cy="430887"/>
          </a:xfrm>
          <a:prstGeom prst="rect">
            <a:avLst/>
          </a:prstGeom>
        </p:spPr>
        <p:txBody>
          <a:bodyPr vert="horz" wrap="square" lIns="0" tIns="0" rIns="18288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>
              <a:defRPr/>
            </a:pPr>
            <a:r>
              <a:rPr lang="en-US" sz="1400" spc="0" dirty="0">
                <a:ln>
                  <a:noFill/>
                </a:ln>
                <a:solidFill>
                  <a:srgbClr val="000000"/>
                </a:solidFill>
                <a:latin typeface="Segoe Sans Text"/>
              </a:rPr>
              <a:t>Outlines phased execution strategy by organizing applications and </a:t>
            </a:r>
            <a:r>
              <a:rPr lang="en-US" sz="1400" dirty="0">
                <a:solidFill>
                  <a:srgbClr val="000000"/>
                </a:solidFill>
                <a:latin typeface="Segoe Sans Text"/>
              </a:rPr>
              <a:t>workloads </a:t>
            </a:r>
            <a:r>
              <a:rPr lang="en-US" sz="1400" spc="0" dirty="0">
                <a:ln>
                  <a:noFill/>
                </a:ln>
                <a:solidFill>
                  <a:srgbClr val="000000"/>
                </a:solidFill>
                <a:latin typeface="Segoe Sans Text"/>
              </a:rPr>
              <a:t>into migration waves, enabling structured and manageable rollout.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27F5FB7-F593-C8B5-B9CA-4B5FBC58ECB3}"/>
              </a:ext>
            </a:extLst>
          </p:cNvPr>
          <p:cNvSpPr txBox="1"/>
          <p:nvPr/>
        </p:nvSpPr>
        <p:spPr>
          <a:xfrm>
            <a:off x="9731194" y="667141"/>
            <a:ext cx="2180308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** Visit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  <a:hlinkClick r:id="rId3"/>
              </a:rPr>
              <a:t>Azure Migrate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 portal for details</a:t>
            </a:r>
          </a:p>
        </p:txBody>
      </p:sp>
      <p:sp>
        <p:nvSpPr>
          <p:cNvPr id="90" name="TextBox 89" descr="0 Applications&#10;">
            <a:extLst>
              <a:ext uri="{FF2B5EF4-FFF2-40B4-BE49-F238E27FC236}">
                <a16:creationId xmlns:a16="http://schemas.microsoft.com/office/drawing/2014/main" id="{ACECC1D2-9F23-ECC8-3625-D2240D23196F}"/>
              </a:ext>
            </a:extLst>
          </p:cNvPr>
          <p:cNvSpPr txBox="1"/>
          <p:nvPr/>
        </p:nvSpPr>
        <p:spPr>
          <a:xfrm>
            <a:off x="5224039" y="2419912"/>
            <a:ext cx="11916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02020"/>
                </a:solidFill>
              </a:defRPr>
            </a:pPr>
            <a:r>
              <a:rPr lang="en-US" dirty="0"/>
              <a:t>0 Applications
</a:t>
            </a:r>
            <a:endParaRPr dirty="0"/>
          </a:p>
        </p:txBody>
      </p:sp>
      <p:sp>
        <p:nvSpPr>
          <p:cNvPr id="91" name="TextBox 90" descr="5 Workloads&#10;">
            <a:extLst>
              <a:ext uri="{FF2B5EF4-FFF2-40B4-BE49-F238E27FC236}">
                <a16:creationId xmlns:a16="http://schemas.microsoft.com/office/drawing/2014/main" id="{B3DD8C7A-382D-E47F-59DD-F907DE9F5EBC}"/>
              </a:ext>
            </a:extLst>
          </p:cNvPr>
          <p:cNvSpPr txBox="1"/>
          <p:nvPr/>
        </p:nvSpPr>
        <p:spPr>
          <a:xfrm>
            <a:off x="5224039" y="2911370"/>
            <a:ext cx="11916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02020"/>
                </a:solidFill>
              </a:defRPr>
            </a:pPr>
            <a:r>
              <a:rPr lang="en-US" dirty="0"/>
              <a:t>5 Workloads
</a:t>
            </a:r>
            <a:endParaRPr dirty="0"/>
          </a:p>
        </p:txBody>
      </p:sp>
      <p:sp>
        <p:nvSpPr>
          <p:cNvPr id="92" name="TextBox 91" descr="100% Rehost&#10;">
            <a:extLst>
              <a:ext uri="{FF2B5EF4-FFF2-40B4-BE49-F238E27FC236}">
                <a16:creationId xmlns:a16="http://schemas.microsoft.com/office/drawing/2014/main" id="{1D244D91-61DA-D6A6-C947-2AEF90C67F7B}"/>
              </a:ext>
            </a:extLst>
          </p:cNvPr>
          <p:cNvSpPr txBox="1"/>
          <p:nvPr/>
        </p:nvSpPr>
        <p:spPr>
          <a:xfrm>
            <a:off x="5241439" y="3460978"/>
            <a:ext cx="11916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02020"/>
                </a:solidFill>
              </a:defRPr>
            </a:pPr>
            <a:r>
              <a:rPr lang="en-US" dirty="0"/>
              <a:t>100% Rehost
</a:t>
            </a:r>
            <a:endParaRPr dirty="0"/>
          </a:p>
        </p:txBody>
      </p:sp>
      <p:sp>
        <p:nvSpPr>
          <p:cNvPr id="93" name="TextBox 92" descr="Medium&#10;">
            <a:extLst>
              <a:ext uri="{FF2B5EF4-FFF2-40B4-BE49-F238E27FC236}">
                <a16:creationId xmlns:a16="http://schemas.microsoft.com/office/drawing/2014/main" id="{FE58CED7-6074-5BA7-BDC4-EC8AFBD4E78D}"/>
              </a:ext>
            </a:extLst>
          </p:cNvPr>
          <p:cNvSpPr txBox="1"/>
          <p:nvPr/>
        </p:nvSpPr>
        <p:spPr>
          <a:xfrm>
            <a:off x="5241439" y="3935006"/>
            <a:ext cx="11916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02020"/>
                </a:solidFill>
              </a:defRPr>
            </a:pPr>
            <a:r>
              <a:rPr lang="en-US" dirty="0"/>
              <a:t>Medium
</a:t>
            </a:r>
            <a:endParaRPr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14E03EF-C531-A97D-1753-EB88DF0491F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1920135" y="5848282"/>
            <a:ext cx="4300665" cy="153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1000" dirty="0">
                <a:solidFill>
                  <a:srgbClr val="000000"/>
                </a:solidFill>
              </a:rPr>
              <a:t>The slide covers the first four waves. For the complete wave plan, reference</a:t>
            </a:r>
            <a:endParaRPr kumimoji="0" lang="en-US" sz="1000" b="0" i="0" u="sng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7" name="TextBox 106" descr="this workbook https://artsprodkocsa.blob.core.windows.net/a-ad9525be1441c2ca/75c87798468f/Inventory_wave_mapping_hyper-v-assessment_LiftAndShift.csv?skoid=d1c3a018-3072-4cce-9cc7-baebf0066435&amp;sktid=33e01921-4d64-4f8c-a055-5bdaffd5e33d&amp;skt=2026-09-01T14%3A31%3A18Z&amp;ske=2026-09-01T15%3A36%3A18Z&amp;sks=b&amp;skv=2026-06-06&amp;sv=2026-06-06&amp;spr=https&amp;st=2026-09-01T14%3A31%3A21Z&amp;se=2026-09-01T15%3A36%3A21Z&amp;sr=b&amp;sp=r&amp;sig=OmfplUu2ozZ4%2BaocshwnhJEgAsjQbup5qP3VoAT%2FmHQ%3D">
            <a:extLst>
              <a:ext uri="{FF2B5EF4-FFF2-40B4-BE49-F238E27FC236}">
                <a16:creationId xmlns:a16="http://schemas.microsoft.com/office/drawing/2014/main" id="{B3665C33-E3E9-3A15-26F5-5102C1032A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6220800" y="5848282"/>
            <a:ext cx="843269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0070C0"/>
                </a:solidFill>
                <a:hlinkClick r:id="rId4"/>
              </a:rPr>
              <a:t>this workbook</a:t>
            </a:r>
          </a:p>
        </p:txBody>
      </p:sp>
      <p:sp>
        <p:nvSpPr>
          <p:cNvPr id="108" name="TextBox TotalCost1" descr="$0.35K&#10;">
            <a:extLst>
              <a:ext uri="{FF2B5EF4-FFF2-40B4-BE49-F238E27FC236}">
                <a16:creationId xmlns:a16="http://schemas.microsoft.com/office/drawing/2014/main" id="{5C340C27-35BA-A18C-F521-E371F2AD2CEB}"/>
              </a:ext>
            </a:extLst>
          </p:cNvPr>
          <p:cNvSpPr txBox="1"/>
          <p:nvPr/>
        </p:nvSpPr>
        <p:spPr>
          <a:xfrm>
            <a:off x="5241439" y="4423571"/>
            <a:ext cx="11916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02020"/>
                </a:solidFill>
              </a:defRPr>
            </a:pPr>
            <a:r>
              <a:rPr lang="en-US" dirty="0"/>
              <a:t>$0.35K
</a:t>
            </a:r>
            <a:endParaRPr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EC1280DC-0604-C894-6ED5-F1AC6DFE6434}"/>
              </a:ext>
            </a:extLst>
          </p:cNvPr>
          <p:cNvCxnSpPr>
            <a:cxnSpLocks/>
          </p:cNvCxnSpPr>
          <p:nvPr/>
        </p:nvCxnSpPr>
        <p:spPr>
          <a:xfrm>
            <a:off x="5224039" y="3317132"/>
            <a:ext cx="18094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3C39831-D5A7-EC85-BB42-4B5089B820CB}"/>
              </a:ext>
            </a:extLst>
          </p:cNvPr>
          <p:cNvCxnSpPr>
            <a:cxnSpLocks/>
          </p:cNvCxnSpPr>
          <p:nvPr/>
        </p:nvCxnSpPr>
        <p:spPr>
          <a:xfrm>
            <a:off x="5204670" y="4286655"/>
            <a:ext cx="18094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67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28B3A-2EF2-D70F-DBBF-FD4F4F711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A64CDBB-EE5F-4224-75FD-E33E36495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7200"/>
            <a:ext cx="11018520" cy="553998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Segoe Sans Text" pitchFamily="2" charset="0"/>
                <a:cs typeface="Segoe Sans Text" pitchFamily="2" charset="0"/>
              </a:rPr>
              <a:t>TCO Comparison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8FD185-38F6-4026-C81F-210F28F9A74F}"/>
              </a:ext>
            </a:extLst>
          </p:cNvPr>
          <p:cNvSpPr txBox="1"/>
          <p:nvPr/>
        </p:nvSpPr>
        <p:spPr>
          <a:xfrm>
            <a:off x="620235" y="952355"/>
            <a:ext cx="110185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-50" normalizeH="0" baseline="0" noProof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The following calculations and assumptions were used to generate a comparison between on-premises and Azure TCO.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A51EB6-2627-CBD6-B630-FC8407884384}"/>
              </a:ext>
            </a:extLst>
          </p:cNvPr>
          <p:cNvSpPr txBox="1"/>
          <p:nvPr/>
        </p:nvSpPr>
        <p:spPr>
          <a:xfrm>
            <a:off x="838199" y="6444915"/>
            <a:ext cx="8567058" cy="184666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pPr marL="0" marR="0" lvl="0" indent="0" algn="l" defTabSz="9327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80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74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Cost assumptions in this </a:t>
            </a: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FF74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report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74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are fully configurable in Azure Portal. You can update</a:t>
            </a:r>
            <a:r>
              <a:rPr kumimoji="0" lang="en-IN" sz="900" b="0" i="0" u="none" strike="noStrike" kern="1200" cap="none" spc="0" normalizeH="0" baseline="0" noProof="0">
                <a:ln>
                  <a:noFill/>
                </a:ln>
                <a:solidFill>
                  <a:srgbClr val="FF74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 the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74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inputs and regenerate this report to reflect revised models.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13CE645-8514-F05C-F2CB-30279548C049}"/>
              </a:ext>
            </a:extLst>
          </p:cNvPr>
          <p:cNvSpPr txBox="1"/>
          <p:nvPr/>
        </p:nvSpPr>
        <p:spPr>
          <a:xfrm>
            <a:off x="1692506" y="1338755"/>
            <a:ext cx="342922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On-Prem Cost Analysis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3B667CCE-3908-239A-2B4A-0A7CF5032499}"/>
              </a:ext>
            </a:extLst>
          </p:cNvPr>
          <p:cNvGraphicFramePr>
            <a:graphicFrameLocks noGrp="1"/>
          </p:cNvGraphicFramePr>
          <p:nvPr/>
        </p:nvGraphicFramePr>
        <p:xfrm>
          <a:off x="1692506" y="1699826"/>
          <a:ext cx="10172115" cy="4458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1705">
                  <a:extLst>
                    <a:ext uri="{9D8B030D-6E8A-4147-A177-3AD203B41FA5}">
                      <a16:colId xmlns:a16="http://schemas.microsoft.com/office/drawing/2014/main" val="1694609457"/>
                    </a:ext>
                  </a:extLst>
                </a:gridCol>
                <a:gridCol w="3266868">
                  <a:extLst>
                    <a:ext uri="{9D8B030D-6E8A-4147-A177-3AD203B41FA5}">
                      <a16:colId xmlns:a16="http://schemas.microsoft.com/office/drawing/2014/main" val="4050365984"/>
                    </a:ext>
                  </a:extLst>
                </a:gridCol>
                <a:gridCol w="390679">
                  <a:extLst>
                    <a:ext uri="{9D8B030D-6E8A-4147-A177-3AD203B41FA5}">
                      <a16:colId xmlns:a16="http://schemas.microsoft.com/office/drawing/2014/main" val="3732269620"/>
                    </a:ext>
                  </a:extLst>
                </a:gridCol>
                <a:gridCol w="687682">
                  <a:extLst>
                    <a:ext uri="{9D8B030D-6E8A-4147-A177-3AD203B41FA5}">
                      <a16:colId xmlns:a16="http://schemas.microsoft.com/office/drawing/2014/main" val="1326141186"/>
                    </a:ext>
                  </a:extLst>
                </a:gridCol>
                <a:gridCol w="3941379">
                  <a:extLst>
                    <a:ext uri="{9D8B030D-6E8A-4147-A177-3AD203B41FA5}">
                      <a16:colId xmlns:a16="http://schemas.microsoft.com/office/drawing/2014/main" val="2375083978"/>
                    </a:ext>
                  </a:extLst>
                </a:gridCol>
                <a:gridCol w="973802">
                  <a:extLst>
                    <a:ext uri="{9D8B030D-6E8A-4147-A177-3AD203B41FA5}">
                      <a16:colId xmlns:a16="http://schemas.microsoft.com/office/drawing/2014/main" val="3501564647"/>
                    </a:ext>
                  </a:extLst>
                </a:gridCol>
              </a:tblGrid>
              <a:tr h="31262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900" b="0" i="1" kern="12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Cost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900" b="0" i="1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 Inclusions &amp; Assumptions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900" b="0" i="1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j-ea"/>
                        <a:cs typeface="Segoe Sans Text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900" b="0" i="1" kern="12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Cost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900" b="0" i="1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 Inclusions &amp; Assumptions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900" b="1" i="1" kern="12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Savings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149467"/>
                  </a:ext>
                </a:extLst>
              </a:tr>
              <a:tr h="47625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j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800" dirty="0">
                          <a:latin typeface="Segoe Sans Text" pitchFamily="2" charset="0"/>
                          <a:cs typeface="Segoe Sans Text" pitchFamily="2" charset="0"/>
                        </a:rPr>
                        <a:t>Host machines hardware cost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800" dirty="0">
                          <a:latin typeface="Segoe Sans Text" pitchFamily="2" charset="0"/>
                          <a:cs typeface="Segoe Sans Text" pitchFamily="2" charset="0"/>
                        </a:rPr>
                        <a:t>License and ESU cost for Windows &amp; SQL Server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800" dirty="0">
                          <a:latin typeface="Segoe Sans Text" pitchFamily="2" charset="0"/>
                          <a:cs typeface="Segoe Sans Text" pitchFamily="2" charset="0"/>
                        </a:rPr>
                        <a:t>Virtualization software (VMWare License cost)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IN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j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900">
                          <a:latin typeface="Segoe Sans Text" pitchFamily="2" charset="0"/>
                          <a:cs typeface="Segoe Sans Text" pitchFamily="2" charset="0"/>
                        </a:rPr>
                        <a:t>Total of yearly compute cost (3Year RI + AHUB) for recommended Azure targets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891871"/>
                  </a:ext>
                </a:extLst>
              </a:tr>
              <a:tr h="6035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800" dirty="0">
                          <a:latin typeface="Segoe Sans Text" pitchFamily="2" charset="0"/>
                          <a:cs typeface="Segoe Sans Text" pitchFamily="2" charset="0"/>
                        </a:rPr>
                        <a:t>Storage hardware cost which is $2 per GB/month based on total volume of storage attached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800" dirty="0">
                          <a:latin typeface="Segoe Sans Text" pitchFamily="2" charset="0"/>
                          <a:cs typeface="Segoe Sans Text" pitchFamily="2" charset="0"/>
                        </a:rPr>
                        <a:t>Storage maintenance cost which is 10% of Storage hardware cost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IN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900" dirty="0">
                          <a:latin typeface="Segoe Sans Text" pitchFamily="2" charset="0"/>
                          <a:cs typeface="Segoe Sans Text" pitchFamily="2" charset="0"/>
                        </a:rPr>
                        <a:t>Total of yearly storage cost for recommended Azure targets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IN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latin typeface="Segoe Sans Text" pitchFamily="2" charset="0"/>
                        <a:cs typeface="Segoe Sans Text" pitchFamily="2" charset="0"/>
                      </a:endParaRPr>
                    </a:p>
                    <a:p>
                      <a:pPr marL="171450" marR="0" lvl="0" indent="-17145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IN" sz="12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261819"/>
                  </a:ext>
                </a:extLst>
              </a:tr>
              <a:tr h="6035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800" dirty="0">
                          <a:latin typeface="Segoe Sans Text" pitchFamily="2" charset="0"/>
                          <a:cs typeface="Segoe Sans Text" pitchFamily="2" charset="0"/>
                        </a:rPr>
                        <a:t>Network hardware and software cost which is estimated to be 10% of storage and compute cost.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800" dirty="0">
                          <a:latin typeface="Segoe Sans Text" pitchFamily="2" charset="0"/>
                          <a:cs typeface="Segoe Sans Text" pitchFamily="2" charset="0"/>
                        </a:rPr>
                        <a:t>Network maintenance which is 15% Network hardware and software cost</a:t>
                      </a:r>
                      <a:r>
                        <a:rPr lang="en-IN" sz="900" dirty="0">
                          <a:latin typeface="Segoe Sans Text" pitchFamily="2" charset="0"/>
                          <a:cs typeface="Segoe Sans Text" pitchFamily="2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IN" sz="9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900" dirty="0">
                          <a:latin typeface="Segoe Sans Text" pitchFamily="2" charset="0"/>
                          <a:cs typeface="Segoe Sans Text" pitchFamily="2" charset="0"/>
                        </a:rPr>
                        <a:t>As per industry estimates, network hardware and software cost is estimated as 10% of storage and compute cost.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900" dirty="0">
                          <a:latin typeface="Segoe Sans Text" pitchFamily="2" charset="0"/>
                          <a:cs typeface="Segoe Sans Text" pitchFamily="2" charset="0"/>
                        </a:rPr>
                        <a:t>Network maintenance is estimated as 15% Network hardware and software cost.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latin typeface="Segoe Sans Text" pitchFamily="2" charset="0"/>
                        <a:cs typeface="Segoe Sans Text" pitchFamily="2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187497"/>
                  </a:ext>
                </a:extLst>
              </a:tr>
              <a:tr h="4338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800" dirty="0">
                          <a:latin typeface="Segoe Sans Text" pitchFamily="2" charset="0"/>
                          <a:cs typeface="Segoe Sans Text" pitchFamily="2" charset="0"/>
                        </a:rPr>
                        <a:t>Estimated using industry benchmarks aligned to your environment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900">
                          <a:latin typeface="Segoe Sans Text" pitchFamily="2" charset="0"/>
                          <a:cs typeface="Segoe Sans Text" pitchFamily="2" charset="0"/>
                        </a:rPr>
                        <a:t>Defender for cloud cost (based on readiness) for respective targets on Azure.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136410"/>
                  </a:ext>
                </a:extLst>
              </a:tr>
              <a:tr h="73088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800" dirty="0">
                          <a:latin typeface="Segoe Sans Text" pitchFamily="2" charset="0"/>
                          <a:cs typeface="Segoe Sans Text" pitchFamily="2" charset="0"/>
                        </a:rPr>
                        <a:t>System </a:t>
                      </a:r>
                      <a:r>
                        <a:rPr lang="en-IN" sz="800" dirty="0" err="1">
                          <a:latin typeface="Segoe Sans Text" pitchFamily="2" charset="0"/>
                          <a:cs typeface="Segoe Sans Text" pitchFamily="2" charset="0"/>
                        </a:rPr>
                        <a:t>center</a:t>
                      </a:r>
                      <a:r>
                        <a:rPr lang="en-IN" sz="800" dirty="0">
                          <a:latin typeface="Segoe Sans Text" pitchFamily="2" charset="0"/>
                          <a:cs typeface="Segoe Sans Text" pitchFamily="2" charset="0"/>
                        </a:rPr>
                        <a:t> management software cost or other management software cost as detected.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8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Monitoring Cost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8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Patch Management cost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8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Backup cost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IN" sz="900" kern="120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Total of Azure Monitor and Azure backup costs for each server Assumptions - Logs data of 3GB/month.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Azure Update Manager is free for Azure servers.</a:t>
                      </a:r>
                      <a:endParaRPr lang="en-IN" sz="900" kern="120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231552"/>
                  </a:ext>
                </a:extLst>
              </a:tr>
              <a:tr h="43381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800" dirty="0">
                          <a:latin typeface="Segoe Sans Text" pitchFamily="2" charset="0"/>
                          <a:cs typeface="Segoe Sans Text" pitchFamily="2" charset="0"/>
                        </a:rPr>
                        <a:t>IT Admin resource cost which is configuration in Azure Migrate portal.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>
                        <a:latin typeface="Segoe Sans Text" pitchFamily="2" charset="0"/>
                        <a:cs typeface="Segoe Sans Text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900">
                          <a:latin typeface="Segoe Sans Text" pitchFamily="2" charset="0"/>
                          <a:cs typeface="Segoe Sans Text" pitchFamily="2" charset="0"/>
                        </a:rPr>
                        <a:t>IT Admin resource cost which is configuration in Azure Migrate portal..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268121"/>
                  </a:ext>
                </a:extLst>
              </a:tr>
              <a:tr h="43381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800" dirty="0">
                          <a:latin typeface="Segoe Sans Text" pitchFamily="2" charset="0"/>
                          <a:cs typeface="Segoe Sans Text" pitchFamily="2" charset="0"/>
                        </a:rPr>
                        <a:t>DC Facilities – Lease and </a:t>
                      </a:r>
                      <a:r>
                        <a:rPr lang="en-IN" sz="8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Power which is </a:t>
                      </a:r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based on a colocation model, which includes space, power, and lease costs per kWh.</a:t>
                      </a:r>
                      <a:endParaRPr lang="en-IN" sz="8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900" kern="120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900" dirty="0">
                          <a:latin typeface="Segoe Sans Text" pitchFamily="2" charset="0"/>
                          <a:cs typeface="Segoe Sans Text" pitchFamily="2" charset="0"/>
                        </a:rPr>
                        <a:t>Facilities cost isn’t applicable for Azure</a:t>
                      </a:r>
                      <a:endParaRPr lang="en-IN" sz="9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059421"/>
                  </a:ext>
                </a:extLst>
              </a:tr>
              <a:tr h="42970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j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j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j-ea"/>
                        <a:cs typeface="Segoe Sans Text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2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Segoe Sans Text" pitchFamily="2" charset="0"/>
                        <a:ea typeface="+mj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349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2FB2A6-FCC8-5760-8923-36735B6152A4}"/>
              </a:ext>
            </a:extLst>
          </p:cNvPr>
          <p:cNvSpPr txBox="1"/>
          <p:nvPr/>
        </p:nvSpPr>
        <p:spPr>
          <a:xfrm>
            <a:off x="6282008" y="1354778"/>
            <a:ext cx="342922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Azure Cost Analysis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84BFAD5-01CF-BB46-E446-E8C8E6159DD9}"/>
              </a:ext>
            </a:extLst>
          </p:cNvPr>
          <p:cNvGraphicFramePr>
            <a:graphicFrameLocks noGrp="1"/>
          </p:cNvGraphicFramePr>
          <p:nvPr/>
        </p:nvGraphicFramePr>
        <p:xfrm>
          <a:off x="683515" y="1535278"/>
          <a:ext cx="935506" cy="4684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5506">
                  <a:extLst>
                    <a:ext uri="{9D8B030D-6E8A-4147-A177-3AD203B41FA5}">
                      <a16:colId xmlns:a16="http://schemas.microsoft.com/office/drawing/2014/main" val="1914296019"/>
                    </a:ext>
                  </a:extLst>
                </a:gridCol>
              </a:tblGrid>
              <a:tr h="53325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endParaRPr lang="en-US" sz="1000" kern="1200">
                        <a:solidFill>
                          <a:schemeClr val="tx1"/>
                        </a:solidFill>
                        <a:latin typeface="Segoe Sans Text" pitchFamily="2" charset="0"/>
                        <a:ea typeface="+mj-ea"/>
                        <a:cs typeface="Segoe Sans Text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598225"/>
                  </a:ext>
                </a:extLst>
              </a:tr>
              <a:tr h="5010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10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Compute &amp; licensing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696307"/>
                  </a:ext>
                </a:extLst>
              </a:tr>
              <a:tr h="5010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1000" kern="12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052100"/>
                  </a:ext>
                </a:extLst>
              </a:tr>
              <a:tr h="5010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1000" kern="12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6084037"/>
                  </a:ext>
                </a:extLst>
              </a:tr>
              <a:tr h="5010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1000" kern="12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434285"/>
                  </a:ext>
                </a:extLst>
              </a:tr>
              <a:tr h="7905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1000" kern="12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073915"/>
                  </a:ext>
                </a:extLst>
              </a:tr>
              <a:tr h="42203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10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IT Staff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556660"/>
                  </a:ext>
                </a:extLst>
              </a:tr>
              <a:tr h="43375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1000" kern="12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Facilities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306819"/>
                  </a:ext>
                </a:extLst>
              </a:tr>
              <a:tr h="50106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sz="10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Segoe Sans Text" pitchFamily="2" charset="0"/>
                          <a:ea typeface="+mj-ea"/>
                          <a:cs typeface="Segoe Sans Text" pitchFamily="2" charset="0"/>
                        </a:rPr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508001"/>
                  </a:ext>
                </a:extLst>
              </a:tr>
            </a:tbl>
          </a:graphicData>
        </a:graphic>
      </p:graphicFrame>
      <p:sp>
        <p:nvSpPr>
          <p:cNvPr id="12" name="TextBox 11" descr="$1.63K">
            <a:extLst>
              <a:ext uri="{FF2B5EF4-FFF2-40B4-BE49-F238E27FC236}">
                <a16:creationId xmlns:a16="http://schemas.microsoft.com/office/drawing/2014/main" id="{5203324F-66B0-CB81-1920-9EA96581A7D6}"/>
              </a:ext>
            </a:extLst>
          </p:cNvPr>
          <p:cNvSpPr txBox="1"/>
          <p:nvPr/>
        </p:nvSpPr>
        <p:spPr>
          <a:xfrm>
            <a:off x="1689857" y="2124614"/>
            <a:ext cx="78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$1.63K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 descr="$0.22K">
            <a:extLst>
              <a:ext uri="{FF2B5EF4-FFF2-40B4-BE49-F238E27FC236}">
                <a16:creationId xmlns:a16="http://schemas.microsoft.com/office/drawing/2014/main" id="{DB44288C-45D2-17BB-5833-D41007FBB4CE}"/>
              </a:ext>
            </a:extLst>
          </p:cNvPr>
          <p:cNvSpPr txBox="1"/>
          <p:nvPr/>
        </p:nvSpPr>
        <p:spPr>
          <a:xfrm>
            <a:off x="1689857" y="2649136"/>
            <a:ext cx="786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$0.22K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 descr="$0.69K">
            <a:extLst>
              <a:ext uri="{FF2B5EF4-FFF2-40B4-BE49-F238E27FC236}">
                <a16:creationId xmlns:a16="http://schemas.microsoft.com/office/drawing/2014/main" id="{115043CC-271E-B37A-E6D6-499CF272327C}"/>
              </a:ext>
            </a:extLst>
          </p:cNvPr>
          <p:cNvSpPr txBox="1"/>
          <p:nvPr/>
        </p:nvSpPr>
        <p:spPr>
          <a:xfrm>
            <a:off x="1689857" y="3224933"/>
            <a:ext cx="786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$0.69K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Box 14" descr="$1.63K">
            <a:extLst>
              <a:ext uri="{FF2B5EF4-FFF2-40B4-BE49-F238E27FC236}">
                <a16:creationId xmlns:a16="http://schemas.microsoft.com/office/drawing/2014/main" id="{997B385F-4CE8-221C-8C19-8EC3CC42AC79}"/>
              </a:ext>
            </a:extLst>
          </p:cNvPr>
          <p:cNvSpPr txBox="1"/>
          <p:nvPr/>
        </p:nvSpPr>
        <p:spPr>
          <a:xfrm>
            <a:off x="1689857" y="4316875"/>
            <a:ext cx="786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$1.63K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 descr="$1.25K">
            <a:extLst>
              <a:ext uri="{FF2B5EF4-FFF2-40B4-BE49-F238E27FC236}">
                <a16:creationId xmlns:a16="http://schemas.microsoft.com/office/drawing/2014/main" id="{68328078-2C19-190B-C478-F8FC9BFB91F2}"/>
              </a:ext>
            </a:extLst>
          </p:cNvPr>
          <p:cNvSpPr txBox="1"/>
          <p:nvPr/>
        </p:nvSpPr>
        <p:spPr>
          <a:xfrm>
            <a:off x="1689857" y="3742595"/>
            <a:ext cx="7394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$1.25K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Box 16" descr="$0.11K">
            <a:extLst>
              <a:ext uri="{FF2B5EF4-FFF2-40B4-BE49-F238E27FC236}">
                <a16:creationId xmlns:a16="http://schemas.microsoft.com/office/drawing/2014/main" id="{4332CDFD-B449-A1A5-F85E-69C1868EF094}"/>
              </a:ext>
            </a:extLst>
          </p:cNvPr>
          <p:cNvSpPr txBox="1"/>
          <p:nvPr/>
        </p:nvSpPr>
        <p:spPr>
          <a:xfrm>
            <a:off x="1689857" y="5365356"/>
            <a:ext cx="7860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$0.11K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Box 18" descr="$77.87K">
            <a:extLst>
              <a:ext uri="{FF2B5EF4-FFF2-40B4-BE49-F238E27FC236}">
                <a16:creationId xmlns:a16="http://schemas.microsoft.com/office/drawing/2014/main" id="{2112D22A-A6B1-5386-A7B9-5BE90C132FA6}"/>
              </a:ext>
            </a:extLst>
          </p:cNvPr>
          <p:cNvSpPr txBox="1"/>
          <p:nvPr/>
        </p:nvSpPr>
        <p:spPr>
          <a:xfrm>
            <a:off x="1689857" y="4918056"/>
            <a:ext cx="78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$77.87K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extBox 19" descr="$83.4K">
            <a:extLst>
              <a:ext uri="{FF2B5EF4-FFF2-40B4-BE49-F238E27FC236}">
                <a16:creationId xmlns:a16="http://schemas.microsoft.com/office/drawing/2014/main" id="{C1E545A7-180B-FF7E-229A-AB80D550828E}"/>
              </a:ext>
            </a:extLst>
          </p:cNvPr>
          <p:cNvSpPr txBox="1"/>
          <p:nvPr/>
        </p:nvSpPr>
        <p:spPr>
          <a:xfrm>
            <a:off x="1689857" y="5874866"/>
            <a:ext cx="832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$83.4K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Box 20" descr="$2.03K">
            <a:extLst>
              <a:ext uri="{FF2B5EF4-FFF2-40B4-BE49-F238E27FC236}">
                <a16:creationId xmlns:a16="http://schemas.microsoft.com/office/drawing/2014/main" id="{579255FC-78D5-7BD2-1D3D-6165F012FBDB}"/>
              </a:ext>
            </a:extLst>
          </p:cNvPr>
          <p:cNvSpPr txBox="1"/>
          <p:nvPr/>
        </p:nvSpPr>
        <p:spPr>
          <a:xfrm>
            <a:off x="5961331" y="2132381"/>
            <a:ext cx="9295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$2.03K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 descr="$0.1K">
            <a:extLst>
              <a:ext uri="{FF2B5EF4-FFF2-40B4-BE49-F238E27FC236}">
                <a16:creationId xmlns:a16="http://schemas.microsoft.com/office/drawing/2014/main" id="{11F55111-F5FE-505E-92FC-5BF465F19D9C}"/>
              </a:ext>
            </a:extLst>
          </p:cNvPr>
          <p:cNvSpPr txBox="1"/>
          <p:nvPr/>
        </p:nvSpPr>
        <p:spPr>
          <a:xfrm>
            <a:off x="5961331" y="3210029"/>
            <a:ext cx="9295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$0.1K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Box 23" descr="$0.06K">
            <a:extLst>
              <a:ext uri="{FF2B5EF4-FFF2-40B4-BE49-F238E27FC236}">
                <a16:creationId xmlns:a16="http://schemas.microsoft.com/office/drawing/2014/main" id="{F506F0F9-A6A7-5BED-B1C4-6AB03D5247C7}"/>
              </a:ext>
            </a:extLst>
          </p:cNvPr>
          <p:cNvSpPr txBox="1"/>
          <p:nvPr/>
        </p:nvSpPr>
        <p:spPr>
          <a:xfrm>
            <a:off x="5961331" y="2602853"/>
            <a:ext cx="9667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$0.06K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Box 24" descr="$0">
            <a:extLst>
              <a:ext uri="{FF2B5EF4-FFF2-40B4-BE49-F238E27FC236}">
                <a16:creationId xmlns:a16="http://schemas.microsoft.com/office/drawing/2014/main" id="{022325F1-ADC2-8903-0F4C-46BC751B4A29}"/>
              </a:ext>
            </a:extLst>
          </p:cNvPr>
          <p:cNvSpPr txBox="1"/>
          <p:nvPr/>
        </p:nvSpPr>
        <p:spPr>
          <a:xfrm>
            <a:off x="5961331" y="3762706"/>
            <a:ext cx="9667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TextBox 25" descr="$0.52K">
            <a:extLst>
              <a:ext uri="{FF2B5EF4-FFF2-40B4-BE49-F238E27FC236}">
                <a16:creationId xmlns:a16="http://schemas.microsoft.com/office/drawing/2014/main" id="{167E0706-C34C-791A-890A-3B615865D0C7}"/>
              </a:ext>
            </a:extLst>
          </p:cNvPr>
          <p:cNvSpPr txBox="1"/>
          <p:nvPr/>
        </p:nvSpPr>
        <p:spPr>
          <a:xfrm>
            <a:off x="5961331" y="4316875"/>
            <a:ext cx="9374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$0.52K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 descr="$58.4K">
            <a:extLst>
              <a:ext uri="{FF2B5EF4-FFF2-40B4-BE49-F238E27FC236}">
                <a16:creationId xmlns:a16="http://schemas.microsoft.com/office/drawing/2014/main" id="{8ECF0731-33D8-93AB-613D-89262712CC4B}"/>
              </a:ext>
            </a:extLst>
          </p:cNvPr>
          <p:cNvSpPr txBox="1"/>
          <p:nvPr/>
        </p:nvSpPr>
        <p:spPr>
          <a:xfrm>
            <a:off x="5961331" y="4911953"/>
            <a:ext cx="9215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$58.4K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TextBox 27" descr="$0">
            <a:extLst>
              <a:ext uri="{FF2B5EF4-FFF2-40B4-BE49-F238E27FC236}">
                <a16:creationId xmlns:a16="http://schemas.microsoft.com/office/drawing/2014/main" id="{1FEA2A37-6388-DED9-937E-EE4E9756C1BC}"/>
              </a:ext>
            </a:extLst>
          </p:cNvPr>
          <p:cNvSpPr txBox="1"/>
          <p:nvPr/>
        </p:nvSpPr>
        <p:spPr>
          <a:xfrm>
            <a:off x="5961331" y="5382849"/>
            <a:ext cx="929505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TextBox 28" descr="$61.12K">
            <a:extLst>
              <a:ext uri="{FF2B5EF4-FFF2-40B4-BE49-F238E27FC236}">
                <a16:creationId xmlns:a16="http://schemas.microsoft.com/office/drawing/2014/main" id="{D72B736F-1CE7-60C9-CDCC-A66420CDB45C}"/>
              </a:ext>
            </a:extLst>
          </p:cNvPr>
          <p:cNvSpPr txBox="1"/>
          <p:nvPr/>
        </p:nvSpPr>
        <p:spPr>
          <a:xfrm>
            <a:off x="5961331" y="5843734"/>
            <a:ext cx="9295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$61.12K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Box 29" descr="-$0.39K">
            <a:extLst>
              <a:ext uri="{FF2B5EF4-FFF2-40B4-BE49-F238E27FC236}">
                <a16:creationId xmlns:a16="http://schemas.microsoft.com/office/drawing/2014/main" id="{82CDDACD-A922-2D36-475B-E2D235D754B0}"/>
              </a:ext>
            </a:extLst>
          </p:cNvPr>
          <p:cNvSpPr txBox="1"/>
          <p:nvPr/>
        </p:nvSpPr>
        <p:spPr>
          <a:xfrm>
            <a:off x="10910144" y="2082925"/>
            <a:ext cx="8343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-$0.39K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TextBox 30" descr="$0.16K">
            <a:extLst>
              <a:ext uri="{FF2B5EF4-FFF2-40B4-BE49-F238E27FC236}">
                <a16:creationId xmlns:a16="http://schemas.microsoft.com/office/drawing/2014/main" id="{3DF25152-1D97-C93C-A33C-900874F41424}"/>
              </a:ext>
            </a:extLst>
          </p:cNvPr>
          <p:cNvSpPr txBox="1"/>
          <p:nvPr/>
        </p:nvSpPr>
        <p:spPr>
          <a:xfrm>
            <a:off x="10910144" y="2602853"/>
            <a:ext cx="786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$0.16K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Box 31" descr="$1.11K">
            <a:extLst>
              <a:ext uri="{FF2B5EF4-FFF2-40B4-BE49-F238E27FC236}">
                <a16:creationId xmlns:a16="http://schemas.microsoft.com/office/drawing/2014/main" id="{DA428A4E-5AB7-1E79-49A7-64A53A117948}"/>
              </a:ext>
            </a:extLst>
          </p:cNvPr>
          <p:cNvSpPr txBox="1"/>
          <p:nvPr/>
        </p:nvSpPr>
        <p:spPr>
          <a:xfrm>
            <a:off x="10910144" y="4329995"/>
            <a:ext cx="8152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$1.11K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TextBox 32" descr="$1.25K">
            <a:extLst>
              <a:ext uri="{FF2B5EF4-FFF2-40B4-BE49-F238E27FC236}">
                <a16:creationId xmlns:a16="http://schemas.microsoft.com/office/drawing/2014/main" id="{CDA9E9BA-8C20-6A06-C09B-3F5C7F3212E1}"/>
              </a:ext>
            </a:extLst>
          </p:cNvPr>
          <p:cNvSpPr txBox="1"/>
          <p:nvPr/>
        </p:nvSpPr>
        <p:spPr>
          <a:xfrm>
            <a:off x="10910144" y="3736413"/>
            <a:ext cx="8063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$1.25K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TextBox 33" descr="$0.59K">
            <a:extLst>
              <a:ext uri="{FF2B5EF4-FFF2-40B4-BE49-F238E27FC236}">
                <a16:creationId xmlns:a16="http://schemas.microsoft.com/office/drawing/2014/main" id="{A3ED8430-B5CF-8DFB-0DBE-D5F219B85540}"/>
              </a:ext>
            </a:extLst>
          </p:cNvPr>
          <p:cNvSpPr txBox="1"/>
          <p:nvPr/>
        </p:nvSpPr>
        <p:spPr>
          <a:xfrm>
            <a:off x="10910144" y="3210029"/>
            <a:ext cx="7903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$0.59K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Box 34" descr="$19.47K">
            <a:extLst>
              <a:ext uri="{FF2B5EF4-FFF2-40B4-BE49-F238E27FC236}">
                <a16:creationId xmlns:a16="http://schemas.microsoft.com/office/drawing/2014/main" id="{D51625EB-89AA-1318-D8A2-62A986BDB595}"/>
              </a:ext>
            </a:extLst>
          </p:cNvPr>
          <p:cNvSpPr txBox="1"/>
          <p:nvPr/>
        </p:nvSpPr>
        <p:spPr>
          <a:xfrm>
            <a:off x="10910144" y="4931501"/>
            <a:ext cx="8592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$19.47K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TextBox 35" descr="$0.11K">
            <a:extLst>
              <a:ext uri="{FF2B5EF4-FFF2-40B4-BE49-F238E27FC236}">
                <a16:creationId xmlns:a16="http://schemas.microsoft.com/office/drawing/2014/main" id="{672E7F29-17D7-79B1-BFF1-6B973174BDE1}"/>
              </a:ext>
            </a:extLst>
          </p:cNvPr>
          <p:cNvSpPr txBox="1"/>
          <p:nvPr/>
        </p:nvSpPr>
        <p:spPr>
          <a:xfrm>
            <a:off x="10910144" y="5363744"/>
            <a:ext cx="9295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$0.11K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TextBox 36" descr="$22.29K">
            <a:extLst>
              <a:ext uri="{FF2B5EF4-FFF2-40B4-BE49-F238E27FC236}">
                <a16:creationId xmlns:a16="http://schemas.microsoft.com/office/drawing/2014/main" id="{30362956-55AC-5AB4-26A2-83222F81DED1}"/>
              </a:ext>
            </a:extLst>
          </p:cNvPr>
          <p:cNvSpPr txBox="1"/>
          <p:nvPr/>
        </p:nvSpPr>
        <p:spPr>
          <a:xfrm>
            <a:off x="10910144" y="5834528"/>
            <a:ext cx="9295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$22.29K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 descr="Visit Azure Migrate portal for details">
            <a:extLst>
              <a:ext uri="{FF2B5EF4-FFF2-40B4-BE49-F238E27FC236}">
                <a16:creationId xmlns:a16="http://schemas.microsoft.com/office/drawing/2014/main" id="{EFAFFA38-D15F-02F4-13B3-E913C6496745}"/>
              </a:ext>
            </a:extLst>
          </p:cNvPr>
          <p:cNvSpPr txBox="1"/>
          <p:nvPr/>
        </p:nvSpPr>
        <p:spPr>
          <a:xfrm>
            <a:off x="9731194" y="667141"/>
            <a:ext cx="2180308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0" i="0">
                <a:latin typeface="Segoe Sans Text"/>
              </a:rPr>
              <a:t>Visit </a:t>
            </a:r>
            <a:r>
              <a:rPr sz="1000" b="0" i="0">
                <a:latin typeface="Segoe Sans Text"/>
                <a:hlinkClick r:id="rId3"/>
              </a:rPr>
              <a:t>Azure Migrate</a:t>
            </a:r>
            <a:r>
              <a:rPr sz="1000" b="0" i="0">
                <a:latin typeface="Segoe Sans Text"/>
              </a:rPr>
              <a:t> portal for details</a:t>
            </a:r>
          </a:p>
        </p:txBody>
      </p:sp>
    </p:spTree>
    <p:extLst>
      <p:ext uri="{BB962C8B-B14F-4D97-AF65-F5344CB8AC3E}">
        <p14:creationId xmlns:p14="http://schemas.microsoft.com/office/powerpoint/2010/main" val="3442372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B4AA9-7CDE-D435-3C19-BF8B866C0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DB5980-7617-5FAC-C020-44C6F66A7DAC}"/>
              </a:ext>
            </a:extLst>
          </p:cNvPr>
          <p:cNvSpPr txBox="1">
            <a:spLocks/>
          </p:cNvSpPr>
          <p:nvPr/>
        </p:nvSpPr>
        <p:spPr>
          <a:xfrm>
            <a:off x="576000" y="494271"/>
            <a:ext cx="2890465" cy="5539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j-ea"/>
                <a:cs typeface="Segoe Sans Text" pitchFamily="2" charset="0"/>
                <a:sym typeface="Inter"/>
              </a:rPr>
              <a:t>Windows server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j-ea"/>
              <a:cs typeface="Segoe Sans Text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CE7A15-4D46-2002-4EBD-9D6FFE27FEAA}"/>
              </a:ext>
            </a:extLst>
          </p:cNvPr>
          <p:cNvSpPr txBox="1"/>
          <p:nvPr/>
        </p:nvSpPr>
        <p:spPr>
          <a:xfrm>
            <a:off x="8398487" y="2951362"/>
            <a:ext cx="24474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Edition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171D49-4CB3-3D19-D0FA-27CC5276BDCA}"/>
              </a:ext>
            </a:extLst>
          </p:cNvPr>
          <p:cNvSpPr txBox="1"/>
          <p:nvPr/>
        </p:nvSpPr>
        <p:spPr>
          <a:xfrm>
            <a:off x="8398487" y="1381926"/>
            <a:ext cx="24474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Version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7BF802-1059-05F8-88E3-0AC6BAB688F9}"/>
              </a:ext>
            </a:extLst>
          </p:cNvPr>
          <p:cNvSpPr txBox="1"/>
          <p:nvPr/>
        </p:nvSpPr>
        <p:spPr>
          <a:xfrm>
            <a:off x="4695353" y="4670606"/>
            <a:ext cx="24474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Readiness by Target</a:t>
            </a:r>
          </a:p>
        </p:txBody>
      </p:sp>
      <p:graphicFrame>
        <p:nvGraphicFramePr>
          <p:cNvPr id="88" name="Chart 87" descr="&lt;pie chart&gt;&lt;Windows_Server_Version_Distribution&gt;">
            <a:extLst>
              <a:ext uri="{FF2B5EF4-FFF2-40B4-BE49-F238E27FC236}">
                <a16:creationId xmlns:a16="http://schemas.microsoft.com/office/drawing/2014/main" id="{3804B004-925D-E816-A9BB-6D9033F479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/>
          <p:nvPr/>
        </p:nvGraphicFramePr>
        <p:xfrm>
          <a:off x="8470534" y="1688700"/>
          <a:ext cx="3401956" cy="10390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55817FC-BE63-15E8-0BAA-19AAC79593A7}"/>
              </a:ext>
            </a:extLst>
          </p:cNvPr>
          <p:cNvSpPr txBox="1"/>
          <p:nvPr/>
        </p:nvSpPr>
        <p:spPr>
          <a:xfrm>
            <a:off x="4633122" y="1380824"/>
            <a:ext cx="30800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Support Status</a:t>
            </a:r>
          </a:p>
        </p:txBody>
      </p:sp>
      <p:graphicFrame>
        <p:nvGraphicFramePr>
          <p:cNvPr id="82" name="Chart 81" descr="&lt;bar chart&gt;&lt;Windows_Server_Workloads_Support_Summary&gt;">
            <a:extLst>
              <a:ext uri="{FF2B5EF4-FFF2-40B4-BE49-F238E27FC236}">
                <a16:creationId xmlns:a16="http://schemas.microsoft.com/office/drawing/2014/main" id="{B902E72C-FB8C-AAFB-B5ED-15B9CDC957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0611531"/>
              </p:ext>
            </p:extLst>
          </p:nvPr>
        </p:nvGraphicFramePr>
        <p:xfrm>
          <a:off x="4633122" y="1728010"/>
          <a:ext cx="3302220" cy="1761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8" name="TextBox 157">
            <a:extLst>
              <a:ext uri="{FF2B5EF4-FFF2-40B4-BE49-F238E27FC236}">
                <a16:creationId xmlns:a16="http://schemas.microsoft.com/office/drawing/2014/main" id="{1EECF147-E99C-C833-44CD-1DAC6DF180C1}"/>
              </a:ext>
            </a:extLst>
          </p:cNvPr>
          <p:cNvSpPr txBox="1"/>
          <p:nvPr/>
        </p:nvSpPr>
        <p:spPr>
          <a:xfrm>
            <a:off x="576000" y="943878"/>
            <a:ext cx="111799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Run SQL on Azure for always-on reliability, intelligent performance, lower costs, and seamless innovation—all powered by a secure, fully managed cloud platform.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10F364-E40C-1C03-FA6A-D878AE9998FF}"/>
              </a:ext>
            </a:extLst>
          </p:cNvPr>
          <p:cNvSpPr/>
          <p:nvPr/>
        </p:nvSpPr>
        <p:spPr>
          <a:xfrm>
            <a:off x="4711896" y="4597177"/>
            <a:ext cx="7200000" cy="108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432BC3-BC55-22FF-E3F2-C1C671C84CA2}"/>
              </a:ext>
            </a:extLst>
          </p:cNvPr>
          <p:cNvSpPr/>
          <p:nvPr/>
        </p:nvSpPr>
        <p:spPr>
          <a:xfrm>
            <a:off x="4711896" y="1332609"/>
            <a:ext cx="3312000" cy="108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08451E-8E3E-5078-FAB4-D602095C32A3}"/>
              </a:ext>
            </a:extLst>
          </p:cNvPr>
          <p:cNvSpPr/>
          <p:nvPr/>
        </p:nvSpPr>
        <p:spPr>
          <a:xfrm>
            <a:off x="8380491" y="1332609"/>
            <a:ext cx="3492000" cy="108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89E03B-3444-9793-1AAB-7E5FDE47B32B}"/>
              </a:ext>
            </a:extLst>
          </p:cNvPr>
          <p:cNvSpPr txBox="1"/>
          <p:nvPr/>
        </p:nvSpPr>
        <p:spPr>
          <a:xfrm>
            <a:off x="626695" y="1499243"/>
            <a:ext cx="22697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Windows Server</a:t>
            </a:r>
          </a:p>
        </p:txBody>
      </p:sp>
      <p:sp>
        <p:nvSpPr>
          <p:cNvPr id="8" name="TextBox 7" descr="2">
            <a:extLst>
              <a:ext uri="{FF2B5EF4-FFF2-40B4-BE49-F238E27FC236}">
                <a16:creationId xmlns:a16="http://schemas.microsoft.com/office/drawing/2014/main" id="{7840EA89-EC6A-AB22-94F6-129CBE969342}"/>
              </a:ext>
            </a:extLst>
          </p:cNvPr>
          <p:cNvSpPr txBox="1"/>
          <p:nvPr/>
        </p:nvSpPr>
        <p:spPr>
          <a:xfrm>
            <a:off x="641041" y="1771906"/>
            <a:ext cx="21021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93083F-3C7B-63B0-C1D8-6FB7CBA0F6D3}"/>
              </a:ext>
            </a:extLst>
          </p:cNvPr>
          <p:cNvSpPr txBox="1"/>
          <p:nvPr/>
        </p:nvSpPr>
        <p:spPr>
          <a:xfrm>
            <a:off x="622746" y="2180441"/>
            <a:ext cx="14465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Storage Utilization</a:t>
            </a:r>
          </a:p>
        </p:txBody>
      </p:sp>
      <p:sp>
        <p:nvSpPr>
          <p:cNvPr id="19" name="TextBox 18" descr="39.4%">
            <a:extLst>
              <a:ext uri="{FF2B5EF4-FFF2-40B4-BE49-F238E27FC236}">
                <a16:creationId xmlns:a16="http://schemas.microsoft.com/office/drawing/2014/main" id="{ED5FB9D6-6805-AC59-CC7E-43655C4734A3}"/>
              </a:ext>
            </a:extLst>
          </p:cNvPr>
          <p:cNvSpPr txBox="1"/>
          <p:nvPr/>
        </p:nvSpPr>
        <p:spPr>
          <a:xfrm>
            <a:off x="622745" y="2376953"/>
            <a:ext cx="11468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39.4%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340A46-B1D6-1ADB-AE1C-A41677C39174}"/>
              </a:ext>
            </a:extLst>
          </p:cNvPr>
          <p:cNvSpPr txBox="1"/>
          <p:nvPr/>
        </p:nvSpPr>
        <p:spPr>
          <a:xfrm>
            <a:off x="619630" y="2832401"/>
            <a:ext cx="1358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RAM Utilization</a:t>
            </a:r>
          </a:p>
        </p:txBody>
      </p:sp>
      <p:sp>
        <p:nvSpPr>
          <p:cNvPr id="24" name="TextBox 23" descr="47.8%">
            <a:extLst>
              <a:ext uri="{FF2B5EF4-FFF2-40B4-BE49-F238E27FC236}">
                <a16:creationId xmlns:a16="http://schemas.microsoft.com/office/drawing/2014/main" id="{11777370-1263-7970-F6D9-73BFB049F696}"/>
              </a:ext>
            </a:extLst>
          </p:cNvPr>
          <p:cNvSpPr txBox="1"/>
          <p:nvPr/>
        </p:nvSpPr>
        <p:spPr>
          <a:xfrm>
            <a:off x="619629" y="3017682"/>
            <a:ext cx="11468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47.8%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D133A9-673A-C430-ECD1-D9CEB16D2C99}"/>
              </a:ext>
            </a:extLst>
          </p:cNvPr>
          <p:cNvSpPr txBox="1"/>
          <p:nvPr/>
        </p:nvSpPr>
        <p:spPr>
          <a:xfrm>
            <a:off x="2671458" y="2198729"/>
            <a:ext cx="1358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CPU Utilization</a:t>
            </a:r>
          </a:p>
        </p:txBody>
      </p:sp>
      <p:sp>
        <p:nvSpPr>
          <p:cNvPr id="39" name="TextBox 38" descr="N/A">
            <a:extLst>
              <a:ext uri="{FF2B5EF4-FFF2-40B4-BE49-F238E27FC236}">
                <a16:creationId xmlns:a16="http://schemas.microsoft.com/office/drawing/2014/main" id="{A3877FB0-3388-42CD-571E-8A3ECC04D373}"/>
              </a:ext>
            </a:extLst>
          </p:cNvPr>
          <p:cNvSpPr txBox="1"/>
          <p:nvPr/>
        </p:nvSpPr>
        <p:spPr>
          <a:xfrm>
            <a:off x="2671457" y="2384379"/>
            <a:ext cx="11468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N/A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DCA0C38-BFB2-21A0-3983-B4E901B283C9}"/>
              </a:ext>
            </a:extLst>
          </p:cNvPr>
          <p:cNvSpPr/>
          <p:nvPr/>
        </p:nvSpPr>
        <p:spPr>
          <a:xfrm>
            <a:off x="731838" y="3481561"/>
            <a:ext cx="3401784" cy="3117524"/>
          </a:xfrm>
          <a:prstGeom prst="roundRect">
            <a:avLst>
              <a:gd name="adj" fmla="val 4074"/>
            </a:avLst>
          </a:prstGeom>
          <a:gradFill flip="none" rotWithShape="1"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5832FC-EED0-DB9D-8EDC-FAF502D0B338}"/>
              </a:ext>
            </a:extLst>
          </p:cNvPr>
          <p:cNvSpPr txBox="1"/>
          <p:nvPr/>
        </p:nvSpPr>
        <p:spPr>
          <a:xfrm>
            <a:off x="809048" y="4378093"/>
            <a:ext cx="824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Storage</a:t>
            </a:r>
          </a:p>
        </p:txBody>
      </p:sp>
      <p:sp>
        <p:nvSpPr>
          <p:cNvPr id="10" name="TextBox 9" descr="0.1 GB">
            <a:extLst>
              <a:ext uri="{FF2B5EF4-FFF2-40B4-BE49-F238E27FC236}">
                <a16:creationId xmlns:a16="http://schemas.microsoft.com/office/drawing/2014/main" id="{FD085A4F-52C3-4D7C-B191-1367E5B681A1}"/>
              </a:ext>
            </a:extLst>
          </p:cNvPr>
          <p:cNvSpPr txBox="1"/>
          <p:nvPr/>
        </p:nvSpPr>
        <p:spPr>
          <a:xfrm>
            <a:off x="1450414" y="4378093"/>
            <a:ext cx="12927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0.1 GB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D132B0-0A98-5F54-1E1E-8949E3F07246}"/>
              </a:ext>
            </a:extLst>
          </p:cNvPr>
          <p:cNvSpPr txBox="1"/>
          <p:nvPr/>
        </p:nvSpPr>
        <p:spPr>
          <a:xfrm>
            <a:off x="809048" y="4086063"/>
            <a:ext cx="8323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Cores</a:t>
            </a:r>
          </a:p>
        </p:txBody>
      </p:sp>
      <p:sp>
        <p:nvSpPr>
          <p:cNvPr id="12" name="TextBox 11" descr="2">
            <a:extLst>
              <a:ext uri="{FF2B5EF4-FFF2-40B4-BE49-F238E27FC236}">
                <a16:creationId xmlns:a16="http://schemas.microsoft.com/office/drawing/2014/main" id="{A3012B86-FE16-FDA5-5BDA-47B7F999B92A}"/>
              </a:ext>
            </a:extLst>
          </p:cNvPr>
          <p:cNvSpPr txBox="1"/>
          <p:nvPr/>
        </p:nvSpPr>
        <p:spPr>
          <a:xfrm>
            <a:off x="1726680" y="4086063"/>
            <a:ext cx="1016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B44264-8EE6-0676-0B76-F455D46C9242}"/>
              </a:ext>
            </a:extLst>
          </p:cNvPr>
          <p:cNvSpPr txBox="1"/>
          <p:nvPr/>
        </p:nvSpPr>
        <p:spPr>
          <a:xfrm>
            <a:off x="809047" y="3561141"/>
            <a:ext cx="18505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Right Sizing Savings</a:t>
            </a:r>
          </a:p>
        </p:txBody>
      </p:sp>
      <p:sp>
        <p:nvSpPr>
          <p:cNvPr id="44" name="TextBox 43" descr="0.06 GB">
            <a:extLst>
              <a:ext uri="{FF2B5EF4-FFF2-40B4-BE49-F238E27FC236}">
                <a16:creationId xmlns:a16="http://schemas.microsoft.com/office/drawing/2014/main" id="{406D0EA8-A235-FB77-C8B4-0DAB40BD866E}"/>
              </a:ext>
            </a:extLst>
          </p:cNvPr>
          <p:cNvSpPr txBox="1"/>
          <p:nvPr/>
        </p:nvSpPr>
        <p:spPr>
          <a:xfrm>
            <a:off x="2836048" y="4378093"/>
            <a:ext cx="14217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0.06 GB</a:t>
            </a:r>
          </a:p>
        </p:txBody>
      </p:sp>
      <p:sp>
        <p:nvSpPr>
          <p:cNvPr id="45" name="TextBox 44" descr="4">
            <a:extLst>
              <a:ext uri="{FF2B5EF4-FFF2-40B4-BE49-F238E27FC236}">
                <a16:creationId xmlns:a16="http://schemas.microsoft.com/office/drawing/2014/main" id="{9EDB44FA-75C8-6F92-D014-75095B000985}"/>
              </a:ext>
            </a:extLst>
          </p:cNvPr>
          <p:cNvSpPr txBox="1"/>
          <p:nvPr/>
        </p:nvSpPr>
        <p:spPr>
          <a:xfrm>
            <a:off x="3038667" y="4086063"/>
            <a:ext cx="10165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B09E0B-A0F6-8801-E383-D332A1658BAE}"/>
              </a:ext>
            </a:extLst>
          </p:cNvPr>
          <p:cNvSpPr txBox="1"/>
          <p:nvPr/>
        </p:nvSpPr>
        <p:spPr>
          <a:xfrm>
            <a:off x="2378915" y="3801781"/>
            <a:ext cx="8323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Source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5B704B-A1B3-4CB5-B2C7-1AAD04EFFD72}"/>
              </a:ext>
            </a:extLst>
          </p:cNvPr>
          <p:cNvSpPr txBox="1"/>
          <p:nvPr/>
        </p:nvSpPr>
        <p:spPr>
          <a:xfrm>
            <a:off x="3284495" y="3801781"/>
            <a:ext cx="8323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Target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6630236-1D6D-05C8-F4C8-924BE1E0A79D}"/>
              </a:ext>
            </a:extLst>
          </p:cNvPr>
          <p:cNvSpPr txBox="1"/>
          <p:nvPr/>
        </p:nvSpPr>
        <p:spPr>
          <a:xfrm>
            <a:off x="820933" y="5230285"/>
            <a:ext cx="18505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Azure hybrid benefit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B0C9627-2905-7D89-D032-04519FE4BAAE}"/>
              </a:ext>
            </a:extLst>
          </p:cNvPr>
          <p:cNvSpPr txBox="1"/>
          <p:nvPr/>
        </p:nvSpPr>
        <p:spPr>
          <a:xfrm>
            <a:off x="824636" y="5486207"/>
            <a:ext cx="339102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By reusing existing SQL licenses and committing to Reserved Instances yields a potential 44% savings compared to remaining on-premises.</a:t>
            </a:r>
          </a:p>
        </p:txBody>
      </p:sp>
      <p:sp>
        <p:nvSpPr>
          <p:cNvPr id="68" name="object 14">
            <a:extLst>
              <a:ext uri="{FF2B5EF4-FFF2-40B4-BE49-F238E27FC236}">
                <a16:creationId xmlns:a16="http://schemas.microsoft.com/office/drawing/2014/main" id="{6E57D14F-4086-BE13-0636-EF0A7DA2B1EB}"/>
              </a:ext>
            </a:extLst>
          </p:cNvPr>
          <p:cNvSpPr txBox="1"/>
          <p:nvPr/>
        </p:nvSpPr>
        <p:spPr>
          <a:xfrm>
            <a:off x="885910" y="6040983"/>
            <a:ext cx="3126919" cy="393811"/>
          </a:xfrm>
          <a:prstGeom prst="roundRect">
            <a:avLst>
              <a:gd name="adj" fmla="val 5644"/>
            </a:avLst>
          </a:prstGeom>
          <a:gradFill flip="none" rotWithShape="1">
            <a:gsLst>
              <a:gs pos="50000">
                <a:schemeClr val="tx2">
                  <a:lumMod val="75000"/>
                  <a:lumOff val="25000"/>
                </a:schemeClr>
              </a:gs>
              <a:gs pos="0">
                <a:schemeClr val="tx2">
                  <a:lumMod val="50000"/>
                  <a:lumOff val="50000"/>
                </a:schemeClr>
              </a:gs>
            </a:gsLst>
            <a:lin ang="7800000" scaled="0"/>
            <a:tileRect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R="0" lvl="0" indent="0" algn="ctr" defTabSz="932472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Text Semibold"/>
                <a:cs typeface="Segoe UI Semibold" panose="020B0502040204020203" pitchFamily="34" charset="0"/>
              </a:defRPr>
            </a:lvl1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 Semibold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B3AECD7-783A-8364-8052-695631255AB1}"/>
              </a:ext>
            </a:extLst>
          </p:cNvPr>
          <p:cNvSpPr txBox="1"/>
          <p:nvPr/>
        </p:nvSpPr>
        <p:spPr>
          <a:xfrm>
            <a:off x="906489" y="6099389"/>
            <a:ext cx="8201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Benefit</a:t>
            </a:r>
          </a:p>
        </p:txBody>
      </p:sp>
      <p:sp>
        <p:nvSpPr>
          <p:cNvPr id="70" name="TextBox 69" descr="$1.64K">
            <a:extLst>
              <a:ext uri="{FF2B5EF4-FFF2-40B4-BE49-F238E27FC236}">
                <a16:creationId xmlns:a16="http://schemas.microsoft.com/office/drawing/2014/main" id="{898CBA2B-1449-51D1-D741-947ACAF838F9}"/>
              </a:ext>
            </a:extLst>
          </p:cNvPr>
          <p:cNvSpPr txBox="1"/>
          <p:nvPr/>
        </p:nvSpPr>
        <p:spPr>
          <a:xfrm>
            <a:off x="2346472" y="6099389"/>
            <a:ext cx="15895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$1.64K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A951770-C80C-4E86-4C83-0381260D0D69}"/>
              </a:ext>
            </a:extLst>
          </p:cNvPr>
          <p:cNvGrpSpPr/>
          <p:nvPr/>
        </p:nvGrpSpPr>
        <p:grpSpPr>
          <a:xfrm>
            <a:off x="885910" y="4669529"/>
            <a:ext cx="3126919" cy="393811"/>
            <a:chOff x="885910" y="5930346"/>
            <a:chExt cx="3126919" cy="393811"/>
          </a:xfrm>
        </p:grpSpPr>
        <p:sp>
          <p:nvSpPr>
            <p:cNvPr id="64" name="object 14">
              <a:extLst>
                <a:ext uri="{FF2B5EF4-FFF2-40B4-BE49-F238E27FC236}">
                  <a16:creationId xmlns:a16="http://schemas.microsoft.com/office/drawing/2014/main" id="{F0926112-75F8-3F58-970D-51CF663319EB}"/>
                </a:ext>
              </a:extLst>
            </p:cNvPr>
            <p:cNvSpPr txBox="1"/>
            <p:nvPr/>
          </p:nvSpPr>
          <p:spPr>
            <a:xfrm>
              <a:off x="885910" y="5930346"/>
              <a:ext cx="3126919" cy="393811"/>
            </a:xfrm>
            <a:prstGeom prst="roundRect">
              <a:avLst>
                <a:gd name="adj" fmla="val 5644"/>
              </a:avLst>
            </a:prstGeom>
            <a:gradFill flip="none" rotWithShape="1">
              <a:gsLst>
                <a:gs pos="50000">
                  <a:schemeClr val="tx2">
                    <a:lumMod val="75000"/>
                    <a:lumOff val="25000"/>
                  </a:schemeClr>
                </a:gs>
                <a:gs pos="0">
                  <a:schemeClr val="tx2">
                    <a:lumMod val="50000"/>
                    <a:lumOff val="50000"/>
                  </a:schemeClr>
                </a:gs>
              </a:gsLst>
              <a:lin ang="7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R="0" lvl="0" indent="0" algn="ctr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0" b="0" i="0" u="none" strike="noStrike" kern="0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Sans Text Semibold"/>
                  <a:cs typeface="Segoe UI Semibold" panose="020B0502040204020203" pitchFamily="34" charset="0"/>
                </a:defRPr>
              </a:lvl1pPr>
            </a:lstStyle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BE05C01-6553-9589-E8BC-DE119C83FF42}"/>
                </a:ext>
              </a:extLst>
            </p:cNvPr>
            <p:cNvSpPr txBox="1"/>
            <p:nvPr/>
          </p:nvSpPr>
          <p:spPr>
            <a:xfrm>
              <a:off x="906489" y="5988752"/>
              <a:ext cx="82019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Savings</a:t>
              </a:r>
            </a:p>
          </p:txBody>
        </p:sp>
        <p:sp>
          <p:nvSpPr>
            <p:cNvPr id="67" name="TextBox 66" descr="$35.64">
              <a:extLst>
                <a:ext uri="{FF2B5EF4-FFF2-40B4-BE49-F238E27FC236}">
                  <a16:creationId xmlns:a16="http://schemas.microsoft.com/office/drawing/2014/main" id="{544E4021-25AA-51F5-FAD3-A55B1D54DD7C}"/>
                </a:ext>
              </a:extLst>
            </p:cNvPr>
            <p:cNvSpPr txBox="1"/>
            <p:nvPr/>
          </p:nvSpPr>
          <p:spPr>
            <a:xfrm>
              <a:off x="2346472" y="5988752"/>
              <a:ext cx="158958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$35.64</a:t>
              </a:r>
            </a:p>
          </p:txBody>
        </p:sp>
      </p:grpSp>
      <p:sp>
        <p:nvSpPr>
          <p:cNvPr id="4" name="object 14">
            <a:extLst>
              <a:ext uri="{FF2B5EF4-FFF2-40B4-BE49-F238E27FC236}">
                <a16:creationId xmlns:a16="http://schemas.microsoft.com/office/drawing/2014/main" id="{0972071B-33E0-D415-E99F-F800547F720B}"/>
              </a:ext>
            </a:extLst>
          </p:cNvPr>
          <p:cNvSpPr txBox="1"/>
          <p:nvPr/>
        </p:nvSpPr>
        <p:spPr>
          <a:xfrm>
            <a:off x="4800185" y="3300556"/>
            <a:ext cx="3083142" cy="514866"/>
          </a:xfrm>
          <a:prstGeom prst="roundRect">
            <a:avLst>
              <a:gd name="adj" fmla="val 5644"/>
            </a:avLst>
          </a:prstGeom>
          <a:gradFill flip="none" rotWithShape="1">
            <a:gsLst>
              <a:gs pos="50000">
                <a:schemeClr val="tx2">
                  <a:lumMod val="75000"/>
                  <a:lumOff val="25000"/>
                </a:schemeClr>
              </a:gs>
              <a:gs pos="0">
                <a:schemeClr val="tx2">
                  <a:lumMod val="50000"/>
                  <a:lumOff val="50000"/>
                </a:schemeClr>
              </a:gs>
            </a:gsLst>
            <a:lin ang="7800000" scaled="0"/>
            <a:tileRect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R="0" lvl="0" indent="0" algn="ctr" defTabSz="932472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 Semibold"/>
                <a:cs typeface="Segoe UI Semibold" panose="020B0502040204020203" pitchFamily="34" charset="0"/>
              </a:defRPr>
            </a:lvl1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 Semibold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5B00CA-D245-AEA5-F47C-92AACB2C5371}"/>
              </a:ext>
            </a:extLst>
          </p:cNvPr>
          <p:cNvSpPr txBox="1"/>
          <p:nvPr/>
        </p:nvSpPr>
        <p:spPr>
          <a:xfrm>
            <a:off x="4860975" y="3419490"/>
            <a:ext cx="10245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ESU Savings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D5074CA-1C4C-D93B-4DBA-688E54A76806}"/>
              </a:ext>
            </a:extLst>
          </p:cNvPr>
          <p:cNvGrpSpPr/>
          <p:nvPr/>
        </p:nvGrpSpPr>
        <p:grpSpPr>
          <a:xfrm>
            <a:off x="6593138" y="3339078"/>
            <a:ext cx="1179703" cy="234429"/>
            <a:chOff x="10534272" y="1418241"/>
            <a:chExt cx="1179703" cy="234429"/>
          </a:xfrm>
        </p:grpSpPr>
        <p:sp>
          <p:nvSpPr>
            <p:cNvPr id="49" name="TextBox 48" descr="$0">
              <a:extLst>
                <a:ext uri="{FF2B5EF4-FFF2-40B4-BE49-F238E27FC236}">
                  <a16:creationId xmlns:a16="http://schemas.microsoft.com/office/drawing/2014/main" id="{71E3AADB-B8F7-8B7A-75C6-D2AA9F0CDE20}"/>
                </a:ext>
              </a:extLst>
            </p:cNvPr>
            <p:cNvSpPr txBox="1"/>
            <p:nvPr/>
          </p:nvSpPr>
          <p:spPr>
            <a:xfrm>
              <a:off x="11034066" y="1421838"/>
              <a:ext cx="6799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$0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832E05B-71E0-CE94-D366-1FDF87DEA623}"/>
                </a:ext>
              </a:extLst>
            </p:cNvPr>
            <p:cNvSpPr txBox="1"/>
            <p:nvPr/>
          </p:nvSpPr>
          <p:spPr>
            <a:xfrm>
              <a:off x="10534272" y="1418241"/>
              <a:ext cx="73440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Current: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F68E42E-A123-6761-F6BF-3DE8F453C506}"/>
              </a:ext>
            </a:extLst>
          </p:cNvPr>
          <p:cNvGrpSpPr/>
          <p:nvPr/>
        </p:nvGrpSpPr>
        <p:grpSpPr>
          <a:xfrm>
            <a:off x="6619796" y="3553843"/>
            <a:ext cx="1167391" cy="232354"/>
            <a:chOff x="10546584" y="1421838"/>
            <a:chExt cx="1167391" cy="232354"/>
          </a:xfrm>
        </p:grpSpPr>
        <p:sp>
          <p:nvSpPr>
            <p:cNvPr id="47" name="TextBox 46" descr="$0">
              <a:extLst>
                <a:ext uri="{FF2B5EF4-FFF2-40B4-BE49-F238E27FC236}">
                  <a16:creationId xmlns:a16="http://schemas.microsoft.com/office/drawing/2014/main" id="{D8E59D4E-7C1A-7C6A-D8D9-DF7DF3D2F05F}"/>
                </a:ext>
              </a:extLst>
            </p:cNvPr>
            <p:cNvSpPr txBox="1"/>
            <p:nvPr/>
          </p:nvSpPr>
          <p:spPr>
            <a:xfrm>
              <a:off x="11034066" y="1421838"/>
              <a:ext cx="67990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$0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A2C688E-66DF-51C6-2D6D-0E727BE561B3}"/>
                </a:ext>
              </a:extLst>
            </p:cNvPr>
            <p:cNvSpPr txBox="1"/>
            <p:nvPr/>
          </p:nvSpPr>
          <p:spPr>
            <a:xfrm>
              <a:off x="10546584" y="1423360"/>
              <a:ext cx="6788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In 3 Yrs:</a:t>
              </a:r>
            </a:p>
          </p:txBody>
        </p:sp>
      </p:grpSp>
      <p:graphicFrame>
        <p:nvGraphicFramePr>
          <p:cNvPr id="138" name="Chart 137" descr="&lt;pie chart&gt;&lt;WindowsEditionSplit&gt;">
            <a:extLst>
              <a:ext uri="{FF2B5EF4-FFF2-40B4-BE49-F238E27FC236}">
                <a16:creationId xmlns:a16="http://schemas.microsoft.com/office/drawing/2014/main" id="{A273D10C-9DA3-38DA-6BBA-AFDB084A5A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/>
          <p:nvPr/>
        </p:nvGraphicFramePr>
        <p:xfrm>
          <a:off x="8470534" y="3408613"/>
          <a:ext cx="3401956" cy="10390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2" name="TextBox 51" descr="0 Windows Server can be decommissioned due to modernization of its constituent workloads">
            <a:extLst>
              <a:ext uri="{FF2B5EF4-FFF2-40B4-BE49-F238E27FC236}">
                <a16:creationId xmlns:a16="http://schemas.microsoft.com/office/drawing/2014/main" id="{AC44A0BA-76AC-A87D-03C2-6FA39A6B1F55}"/>
              </a:ext>
            </a:extLst>
          </p:cNvPr>
          <p:cNvSpPr txBox="1"/>
          <p:nvPr/>
        </p:nvSpPr>
        <p:spPr>
          <a:xfrm>
            <a:off x="4549996" y="5721084"/>
            <a:ext cx="3894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  <a:sym typeface="Inter"/>
              </a:rPr>
              <a:t>0 Windows Server can be decommissioned due to modernization of its constituent workloads</a:t>
            </a:r>
          </a:p>
        </p:txBody>
      </p:sp>
      <p:graphicFrame>
        <p:nvGraphicFramePr>
          <p:cNvPr id="89" name="Chart 88" descr="&lt;bar chart&gt;&lt;WindowsByReadiness&gt;">
            <a:extLst>
              <a:ext uri="{FF2B5EF4-FFF2-40B4-BE49-F238E27FC236}">
                <a16:creationId xmlns:a16="http://schemas.microsoft.com/office/drawing/2014/main" id="{233A64AB-E8A6-280A-6EFC-BF46774E95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7104765"/>
              </p:ext>
            </p:extLst>
          </p:nvPr>
        </p:nvGraphicFramePr>
        <p:xfrm>
          <a:off x="4633122" y="4884963"/>
          <a:ext cx="3531164" cy="431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90" name="Group 89">
            <a:extLst>
              <a:ext uri="{FF2B5EF4-FFF2-40B4-BE49-F238E27FC236}">
                <a16:creationId xmlns:a16="http://schemas.microsoft.com/office/drawing/2014/main" id="{C9314B74-CF8A-D9A2-4A18-6E14711A088E}"/>
              </a:ext>
            </a:extLst>
          </p:cNvPr>
          <p:cNvGrpSpPr/>
          <p:nvPr/>
        </p:nvGrpSpPr>
        <p:grpSpPr>
          <a:xfrm>
            <a:off x="4897249" y="5380449"/>
            <a:ext cx="516924" cy="215444"/>
            <a:chOff x="9268334" y="8058304"/>
            <a:chExt cx="516924" cy="215444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28CA1CB-EB78-11CA-BC8D-7076D7A921EB}"/>
                </a:ext>
              </a:extLst>
            </p:cNvPr>
            <p:cNvSpPr/>
            <p:nvPr/>
          </p:nvSpPr>
          <p:spPr bwMode="auto">
            <a:xfrm>
              <a:off x="9268334" y="8120871"/>
              <a:ext cx="93070" cy="87566"/>
            </a:xfrm>
            <a:prstGeom prst="rect">
              <a:avLst/>
            </a:prstGeom>
            <a:solidFill>
              <a:srgbClr val="11A20C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 pitchFamily="2" charset="0"/>
                <a:ea typeface="Segoe UI" panose="020B0502040204020203" pitchFamily="34" charset="0"/>
                <a:cs typeface="Segoe Sans Text" pitchFamily="2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50B42FA-9B78-D034-E625-6A0B69AB5226}"/>
                </a:ext>
              </a:extLst>
            </p:cNvPr>
            <p:cNvSpPr txBox="1"/>
            <p:nvPr/>
          </p:nvSpPr>
          <p:spPr>
            <a:xfrm>
              <a:off x="9316770" y="8058304"/>
              <a:ext cx="4684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Ready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9329AAB-95DE-2473-AF37-A2687E00FAE5}"/>
              </a:ext>
            </a:extLst>
          </p:cNvPr>
          <p:cNvGrpSpPr/>
          <p:nvPr/>
        </p:nvGrpSpPr>
        <p:grpSpPr>
          <a:xfrm>
            <a:off x="5619808" y="5380449"/>
            <a:ext cx="1304712" cy="215444"/>
            <a:chOff x="9258409" y="8314771"/>
            <a:chExt cx="1304712" cy="215444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F5EA81B-1C32-3B64-B7BA-BAB76783465C}"/>
                </a:ext>
              </a:extLst>
            </p:cNvPr>
            <p:cNvSpPr txBox="1"/>
            <p:nvPr/>
          </p:nvSpPr>
          <p:spPr>
            <a:xfrm>
              <a:off x="9301595" y="8314771"/>
              <a:ext cx="126152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Ready with conditions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F08CE487-D7DC-D7B6-557E-850692BCDD36}"/>
                </a:ext>
              </a:extLst>
            </p:cNvPr>
            <p:cNvSpPr/>
            <p:nvPr/>
          </p:nvSpPr>
          <p:spPr bwMode="auto">
            <a:xfrm>
              <a:off x="9258409" y="8377338"/>
              <a:ext cx="92412" cy="87566"/>
            </a:xfrm>
            <a:prstGeom prst="rect">
              <a:avLst/>
            </a:prstGeom>
            <a:solidFill>
              <a:srgbClr val="3996DD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 pitchFamily="2" charset="0"/>
                <a:ea typeface="Segoe UI" panose="020B0502040204020203" pitchFamily="34" charset="0"/>
                <a:cs typeface="Segoe Sans Text" pitchFamily="2" charset="0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3ADFE8F3-D5C0-9EFB-0987-70A12BCA3352}"/>
              </a:ext>
            </a:extLst>
          </p:cNvPr>
          <p:cNvGrpSpPr/>
          <p:nvPr/>
        </p:nvGrpSpPr>
        <p:grpSpPr>
          <a:xfrm>
            <a:off x="6976227" y="5380449"/>
            <a:ext cx="853189" cy="215444"/>
            <a:chOff x="11707365" y="8417975"/>
            <a:chExt cx="853189" cy="215444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F4F0196-66B9-D5A3-D437-94619B793F91}"/>
                </a:ext>
              </a:extLst>
            </p:cNvPr>
            <p:cNvSpPr/>
            <p:nvPr/>
          </p:nvSpPr>
          <p:spPr bwMode="auto">
            <a:xfrm>
              <a:off x="11707365" y="8480542"/>
              <a:ext cx="93070" cy="87566"/>
            </a:xfrm>
            <a:prstGeom prst="rect">
              <a:avLst/>
            </a:prstGeom>
            <a:solidFill>
              <a:srgbClr val="E00C1B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 pitchFamily="2" charset="0"/>
                <a:ea typeface="Segoe UI" panose="020B0502040204020203" pitchFamily="34" charset="0"/>
                <a:cs typeface="Segoe Sans Text" pitchFamily="2" charset="0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4FEC005-8F16-F7E6-B5AD-8AC91057CF60}"/>
                </a:ext>
              </a:extLst>
            </p:cNvPr>
            <p:cNvSpPr txBox="1"/>
            <p:nvPr/>
          </p:nvSpPr>
          <p:spPr>
            <a:xfrm>
              <a:off x="11740679" y="8417975"/>
              <a:ext cx="81987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Not Ready</a:t>
              </a:r>
            </a:p>
          </p:txBody>
        </p:sp>
      </p:grpSp>
      <p:sp>
        <p:nvSpPr>
          <p:cNvPr id="100" name="Rounded Rectangle 212">
            <a:extLst>
              <a:ext uri="{FF2B5EF4-FFF2-40B4-BE49-F238E27FC236}">
                <a16:creationId xmlns:a16="http://schemas.microsoft.com/office/drawing/2014/main" id="{63A4661E-DEF7-B3C5-15D1-E0C10C908258}"/>
              </a:ext>
            </a:extLst>
          </p:cNvPr>
          <p:cNvSpPr/>
          <p:nvPr/>
        </p:nvSpPr>
        <p:spPr>
          <a:xfrm>
            <a:off x="8489614" y="4678174"/>
            <a:ext cx="3401784" cy="2059552"/>
          </a:xfrm>
          <a:prstGeom prst="roundRect">
            <a:avLst>
              <a:gd name="adj" fmla="val 6898"/>
            </a:avLst>
          </a:prstGeom>
          <a:gradFill flip="none" rotWithShape="1"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Segoe UI" pitchFamily="34" charset="0"/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DA25946C-36E2-0F2E-C777-6D14E5C0EC01}"/>
              </a:ext>
            </a:extLst>
          </p:cNvPr>
          <p:cNvGrpSpPr/>
          <p:nvPr/>
        </p:nvGrpSpPr>
        <p:grpSpPr>
          <a:xfrm>
            <a:off x="8593830" y="4775715"/>
            <a:ext cx="3169415" cy="920799"/>
            <a:chOff x="8580183" y="4732971"/>
            <a:chExt cx="3169415" cy="878411"/>
          </a:xfrm>
        </p:grpSpPr>
        <p:sp>
          <p:nvSpPr>
            <p:cNvPr id="107" name="Rounded Rectangle 218">
              <a:extLst>
                <a:ext uri="{FF2B5EF4-FFF2-40B4-BE49-F238E27FC236}">
                  <a16:creationId xmlns:a16="http://schemas.microsoft.com/office/drawing/2014/main" id="{DCDF1E5B-F2CE-271E-BE02-324F3617E1FB}"/>
                </a:ext>
              </a:extLst>
            </p:cNvPr>
            <p:cNvSpPr/>
            <p:nvPr/>
          </p:nvSpPr>
          <p:spPr>
            <a:xfrm>
              <a:off x="8580183" y="4732971"/>
              <a:ext cx="3169415" cy="878411"/>
            </a:xfrm>
            <a:prstGeom prst="roundRect">
              <a:avLst>
                <a:gd name="adj" fmla="val 16469"/>
              </a:avLst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Segoe UI" pitchFamily="34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20A62518-1D02-C1D0-B4E3-24A9ABE91D88}"/>
                </a:ext>
              </a:extLst>
            </p:cNvPr>
            <p:cNvSpPr txBox="1"/>
            <p:nvPr/>
          </p:nvSpPr>
          <p:spPr>
            <a:xfrm>
              <a:off x="8679824" y="4769645"/>
              <a:ext cx="295576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Reduce Costs and Risk </a:t>
              </a:r>
              <a:endPara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C5234CA-89D9-AD6B-0A1F-F6A66D80192E}"/>
                </a:ext>
              </a:extLst>
            </p:cNvPr>
            <p:cNvSpPr txBox="1"/>
            <p:nvPr/>
          </p:nvSpPr>
          <p:spPr>
            <a:xfrm>
              <a:off x="8696516" y="4953983"/>
              <a:ext cx="304578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Leverage Azure Hybrid Benefit, ended security update for out of support workload, built-in security, and high availability to lower TCO while improving resilience and compliance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9FDFAA1-A0D3-41A4-B13E-5AB37DA65B83}"/>
              </a:ext>
            </a:extLst>
          </p:cNvPr>
          <p:cNvGrpSpPr/>
          <p:nvPr/>
        </p:nvGrpSpPr>
        <p:grpSpPr>
          <a:xfrm>
            <a:off x="8608129" y="5789325"/>
            <a:ext cx="3218723" cy="809760"/>
            <a:chOff x="8594482" y="5721758"/>
            <a:chExt cx="3218723" cy="809760"/>
          </a:xfrm>
        </p:grpSpPr>
        <p:sp>
          <p:nvSpPr>
            <p:cNvPr id="103" name="Rounded Rectangle 215">
              <a:extLst>
                <a:ext uri="{FF2B5EF4-FFF2-40B4-BE49-F238E27FC236}">
                  <a16:creationId xmlns:a16="http://schemas.microsoft.com/office/drawing/2014/main" id="{9FA021E9-C6FB-998F-FDCA-CA3E4788D3D3}"/>
                </a:ext>
              </a:extLst>
            </p:cNvPr>
            <p:cNvSpPr/>
            <p:nvPr/>
          </p:nvSpPr>
          <p:spPr>
            <a:xfrm>
              <a:off x="8594482" y="5721758"/>
              <a:ext cx="3155116" cy="809760"/>
            </a:xfrm>
            <a:prstGeom prst="roundRect">
              <a:avLst>
                <a:gd name="adj" fmla="val 18094"/>
              </a:avLst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Segoe UI" pitchFamily="34" charset="0"/>
                </a:rPr>
                <a:t> 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4597282-BA5C-E999-4BA3-4C0FF3B4F445}"/>
                </a:ext>
              </a:extLst>
            </p:cNvPr>
            <p:cNvSpPr txBox="1"/>
            <p:nvPr/>
          </p:nvSpPr>
          <p:spPr>
            <a:xfrm>
              <a:off x="8639624" y="5757684"/>
              <a:ext cx="317358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Modernize with Confidence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. 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130F506-7F7D-973E-7511-5CE24600DF1B}"/>
                </a:ext>
              </a:extLst>
            </p:cNvPr>
            <p:cNvSpPr txBox="1"/>
            <p:nvPr/>
          </p:nvSpPr>
          <p:spPr>
            <a:xfrm>
              <a:off x="8639624" y="5954825"/>
              <a:ext cx="3109974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Run Windows workloads natively on Azure with seamless compatibility, on-demand scalability, and a clear path to cloud innovation </a:t>
              </a:r>
            </a:p>
          </p:txBody>
        </p:sp>
      </p:grpSp>
      <p:sp>
        <p:nvSpPr>
          <p:cNvPr id="25" name="TextBox 24" descr="0  SQL databases, 0 PostgreSQL databases, 0 MySQL/MariaDB databases, 0 Java webapps and 0 ASP.NET Webapps are recommended for migration as part of Lift and Shift to Azure VM">
            <a:extLst>
              <a:ext uri="{FF2B5EF4-FFF2-40B4-BE49-F238E27FC236}">
                <a16:creationId xmlns:a16="http://schemas.microsoft.com/office/drawing/2014/main" id="{73BB1B15-71E7-8793-6E3C-B2BA11B3C762}"/>
              </a:ext>
            </a:extLst>
          </p:cNvPr>
          <p:cNvSpPr txBox="1"/>
          <p:nvPr/>
        </p:nvSpPr>
        <p:spPr>
          <a:xfrm>
            <a:off x="4549996" y="6130798"/>
            <a:ext cx="35594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  <a:sym typeface="Inter"/>
              </a:rPr>
              <a:t>0  SQL databases, 0 PostgreSQL databases, 0 MySQL/MariaDB databases, 0 Java webapps and 0 ASP.NET Webapps are recommended for migration as part of Lift and Shift to Azure VM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3" name="TextBox 2" descr="&lt;boolview&gt;&lt;No_Windows_Servers&gt;">
            <a:extLst>
              <a:ext uri="{FF2B5EF4-FFF2-40B4-BE49-F238E27FC236}">
                <a16:creationId xmlns:a16="http://schemas.microsoft.com/office/drawing/2014/main" id="{2C225580-854C-6F4F-5667-4A5C8A846EA6}"/>
              </a:ext>
            </a:extLst>
          </p:cNvPr>
          <p:cNvSpPr txBox="1"/>
          <p:nvPr/>
        </p:nvSpPr>
        <p:spPr>
          <a:xfrm>
            <a:off x="4945685" y="126815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714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descr="&lt;text&gt;&lt;SQL_PGSQL_Data_Insights:16&gt; SQL Instances are recommended for migration as part of  Lift and Shift Server to Azure VM&#10;">
            <a:extLst>
              <a:ext uri="{FF2B5EF4-FFF2-40B4-BE49-F238E27FC236}">
                <a16:creationId xmlns:a16="http://schemas.microsoft.com/office/drawing/2014/main" id="{2F3BCCF3-EB0A-1974-3062-889023C3D73B}"/>
              </a:ext>
            </a:extLst>
          </p:cNvPr>
          <p:cNvSpPr txBox="1"/>
          <p:nvPr/>
        </p:nvSpPr>
        <p:spPr>
          <a:xfrm>
            <a:off x="4375353" y="6040983"/>
            <a:ext cx="3971326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1200"/>
              </a:spcBef>
              <a:spcAft>
                <a:spcPts val="800"/>
              </a:spcAft>
              <a:defRPr/>
            </a:pPr>
            <a:r>
              <a:rPr kumimoji="0" lang="en-US" sz="1000" b="0" i="1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 </a:t>
            </a:r>
            <a:r>
              <a:rPr lang="en-US" sz="1000" i="1" dirty="0">
                <a:solidFill>
                  <a:prstClr val="black"/>
                </a:solidFill>
                <a:latin typeface="Segoe Sans Text" pitchFamily="2" charset="0"/>
                <a:cs typeface="Segoe Sans Text" pitchFamily="2" charset="0"/>
                <a:sym typeface="Inter"/>
              </a:rPr>
              <a:t>SQL Instances are recommended for migration as part of  Lift and Shift Server to Azure VM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8C5434B-53C8-FB58-0A70-7EEA578B2538}"/>
              </a:ext>
            </a:extLst>
          </p:cNvPr>
          <p:cNvSpPr txBox="1">
            <a:spLocks/>
          </p:cNvSpPr>
          <p:nvPr/>
        </p:nvSpPr>
        <p:spPr>
          <a:xfrm>
            <a:off x="601981" y="481914"/>
            <a:ext cx="2890465" cy="5539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j-ea"/>
                <a:cs typeface="Segoe Sans Text" pitchFamily="2" charset="0"/>
                <a:sym typeface="Inter"/>
              </a:rPr>
              <a:t>SQL Database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j-ea"/>
              <a:cs typeface="Segoe Sans Text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18DC99-798C-7E0B-C5F6-82FCD151F8C4}"/>
              </a:ext>
            </a:extLst>
          </p:cNvPr>
          <p:cNvSpPr txBox="1"/>
          <p:nvPr/>
        </p:nvSpPr>
        <p:spPr>
          <a:xfrm>
            <a:off x="8398487" y="1380824"/>
            <a:ext cx="24474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Instance split by Version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FE2C74-4553-FB72-B988-F8DF403EDBED}"/>
              </a:ext>
            </a:extLst>
          </p:cNvPr>
          <p:cNvSpPr txBox="1"/>
          <p:nvPr/>
        </p:nvSpPr>
        <p:spPr>
          <a:xfrm>
            <a:off x="4695353" y="4670606"/>
            <a:ext cx="24474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Readiness by Target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50A3D-F667-78FB-BACE-F16AD3A9E582}"/>
              </a:ext>
            </a:extLst>
          </p:cNvPr>
          <p:cNvSpPr txBox="1"/>
          <p:nvPr/>
        </p:nvSpPr>
        <p:spPr>
          <a:xfrm>
            <a:off x="619288" y="2188410"/>
            <a:ext cx="19962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Servers with SQL Instances</a:t>
            </a:r>
          </a:p>
        </p:txBody>
      </p:sp>
      <p:sp>
        <p:nvSpPr>
          <p:cNvPr id="6" name="TextBox 5" descr="1">
            <a:extLst>
              <a:ext uri="{FF2B5EF4-FFF2-40B4-BE49-F238E27FC236}">
                <a16:creationId xmlns:a16="http://schemas.microsoft.com/office/drawing/2014/main" id="{9C630E32-B558-AB92-6CAA-9319029B9F8B}"/>
              </a:ext>
            </a:extLst>
          </p:cNvPr>
          <p:cNvSpPr txBox="1"/>
          <p:nvPr/>
        </p:nvSpPr>
        <p:spPr>
          <a:xfrm>
            <a:off x="619289" y="2391696"/>
            <a:ext cx="5781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B8271F-B404-A9F4-8339-BC5D25C2952E}"/>
              </a:ext>
            </a:extLst>
          </p:cNvPr>
          <p:cNvSpPr txBox="1"/>
          <p:nvPr/>
        </p:nvSpPr>
        <p:spPr>
          <a:xfrm>
            <a:off x="607199" y="1503993"/>
            <a:ext cx="15190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SQL Instances</a:t>
            </a:r>
          </a:p>
        </p:txBody>
      </p:sp>
      <p:sp>
        <p:nvSpPr>
          <p:cNvPr id="8" name="TextBox 7" descr="1">
            <a:extLst>
              <a:ext uri="{FF2B5EF4-FFF2-40B4-BE49-F238E27FC236}">
                <a16:creationId xmlns:a16="http://schemas.microsoft.com/office/drawing/2014/main" id="{8DDD62E2-3ED9-4930-42D6-195503F59E1E}"/>
              </a:ext>
            </a:extLst>
          </p:cNvPr>
          <p:cNvSpPr txBox="1"/>
          <p:nvPr/>
        </p:nvSpPr>
        <p:spPr>
          <a:xfrm>
            <a:off x="621545" y="1741104"/>
            <a:ext cx="5759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886F86-70FA-ABD9-0C8B-29D06C44FFF8}"/>
              </a:ext>
            </a:extLst>
          </p:cNvPr>
          <p:cNvSpPr txBox="1"/>
          <p:nvPr/>
        </p:nvSpPr>
        <p:spPr>
          <a:xfrm>
            <a:off x="2653981" y="2197402"/>
            <a:ext cx="1579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Databases Count</a:t>
            </a:r>
          </a:p>
        </p:txBody>
      </p:sp>
      <p:sp>
        <p:nvSpPr>
          <p:cNvPr id="10" name="TextBox 9" descr="0">
            <a:extLst>
              <a:ext uri="{FF2B5EF4-FFF2-40B4-BE49-F238E27FC236}">
                <a16:creationId xmlns:a16="http://schemas.microsoft.com/office/drawing/2014/main" id="{7078F58F-D3BE-D775-A17A-DD0E42A86D93}"/>
              </a:ext>
            </a:extLst>
          </p:cNvPr>
          <p:cNvSpPr txBox="1"/>
          <p:nvPr/>
        </p:nvSpPr>
        <p:spPr>
          <a:xfrm>
            <a:off x="2647053" y="2392314"/>
            <a:ext cx="6052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DB3259-2A63-D469-F15A-8106BF14BA68}"/>
              </a:ext>
            </a:extLst>
          </p:cNvPr>
          <p:cNvSpPr txBox="1"/>
          <p:nvPr/>
        </p:nvSpPr>
        <p:spPr>
          <a:xfrm>
            <a:off x="619289" y="2841890"/>
            <a:ext cx="8235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Storage</a:t>
            </a:r>
          </a:p>
        </p:txBody>
      </p:sp>
      <p:sp>
        <p:nvSpPr>
          <p:cNvPr id="12" name="TextBox 11" descr="&lt;text&gt;&lt;SQL_PGSQL_Data_Insights:13&gt;">
            <a:extLst>
              <a:ext uri="{FF2B5EF4-FFF2-40B4-BE49-F238E27FC236}">
                <a16:creationId xmlns:a16="http://schemas.microsoft.com/office/drawing/2014/main" id="{B56541A1-C10F-CBA5-5BD3-9F6DF1189374}"/>
              </a:ext>
            </a:extLst>
          </p:cNvPr>
          <p:cNvSpPr txBox="1"/>
          <p:nvPr/>
        </p:nvSpPr>
        <p:spPr>
          <a:xfrm>
            <a:off x="619290" y="3030663"/>
            <a:ext cx="7267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 TB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733675-77F2-7756-1D72-5563B42912E5}"/>
              </a:ext>
            </a:extLst>
          </p:cNvPr>
          <p:cNvSpPr txBox="1"/>
          <p:nvPr/>
        </p:nvSpPr>
        <p:spPr>
          <a:xfrm>
            <a:off x="2653982" y="2841890"/>
            <a:ext cx="1358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CPU Utilization</a:t>
            </a:r>
          </a:p>
        </p:txBody>
      </p:sp>
      <p:sp>
        <p:nvSpPr>
          <p:cNvPr id="19" name="TextBox 18" descr="&lt;text&gt;&lt;SQL_PGSQL_Data_Insights:14&gt;">
            <a:extLst>
              <a:ext uri="{FF2B5EF4-FFF2-40B4-BE49-F238E27FC236}">
                <a16:creationId xmlns:a16="http://schemas.microsoft.com/office/drawing/2014/main" id="{BF23A8AF-97CC-8568-B3A8-FA63CF14A6CD}"/>
              </a:ext>
            </a:extLst>
          </p:cNvPr>
          <p:cNvSpPr txBox="1"/>
          <p:nvPr/>
        </p:nvSpPr>
        <p:spPr>
          <a:xfrm>
            <a:off x="2653981" y="3030662"/>
            <a:ext cx="11468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0%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6AC5D4D-709B-4457-12FB-76B99F89254A}"/>
              </a:ext>
            </a:extLst>
          </p:cNvPr>
          <p:cNvSpPr txBox="1"/>
          <p:nvPr/>
        </p:nvSpPr>
        <p:spPr>
          <a:xfrm>
            <a:off x="583154" y="940127"/>
            <a:ext cx="111799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Run SQL on Azure for always-on reliability, intelligent performance, lower costs, and seamless innovation—all powered by a secure, fully managed cloud platform.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D7208F-0FEB-278F-85FC-905F8E4BC763}"/>
              </a:ext>
            </a:extLst>
          </p:cNvPr>
          <p:cNvSpPr/>
          <p:nvPr/>
        </p:nvSpPr>
        <p:spPr>
          <a:xfrm>
            <a:off x="4711896" y="4597177"/>
            <a:ext cx="7200000" cy="108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C55824-E36D-C24E-D299-120DE5FEDF96}"/>
              </a:ext>
            </a:extLst>
          </p:cNvPr>
          <p:cNvSpPr/>
          <p:nvPr/>
        </p:nvSpPr>
        <p:spPr>
          <a:xfrm>
            <a:off x="8380491" y="1332609"/>
            <a:ext cx="3492000" cy="108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554F9AF-38C5-F161-BF77-EA335C210227}"/>
              </a:ext>
            </a:extLst>
          </p:cNvPr>
          <p:cNvGrpSpPr/>
          <p:nvPr/>
        </p:nvGrpSpPr>
        <p:grpSpPr>
          <a:xfrm>
            <a:off x="753981" y="3481561"/>
            <a:ext cx="3461676" cy="3117524"/>
            <a:chOff x="753981" y="3534681"/>
            <a:chExt cx="3461676" cy="3117524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15E86287-C483-2664-02DE-08152595F820}"/>
                </a:ext>
              </a:extLst>
            </p:cNvPr>
            <p:cNvSpPr/>
            <p:nvPr/>
          </p:nvSpPr>
          <p:spPr>
            <a:xfrm>
              <a:off x="753981" y="3534681"/>
              <a:ext cx="3401784" cy="3117524"/>
            </a:xfrm>
            <a:prstGeom prst="roundRect">
              <a:avLst>
                <a:gd name="adj" fmla="val 4074"/>
              </a:avLst>
            </a:prstGeom>
            <a:gradFill flip="none" rotWithShape="1">
              <a:gsLst>
                <a:gs pos="99000">
                  <a:srgbClr val="F0F0F0"/>
                </a:gs>
                <a:gs pos="0">
                  <a:srgbClr val="F0F0F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Segoe UI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6144637-AF2E-6CB2-2A31-3C7C0AAF5052}"/>
                </a:ext>
              </a:extLst>
            </p:cNvPr>
            <p:cNvSpPr txBox="1"/>
            <p:nvPr/>
          </p:nvSpPr>
          <p:spPr>
            <a:xfrm>
              <a:off x="809048" y="4408182"/>
              <a:ext cx="824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Storage</a:t>
              </a:r>
            </a:p>
          </p:txBody>
        </p:sp>
        <p:sp>
          <p:nvSpPr>
            <p:cNvPr id="47" name="TextBox 46" descr="&lt;text&gt;&lt;SQL_Right_Sizing_and_Savings:SourceStorage&gt;">
              <a:extLst>
                <a:ext uri="{FF2B5EF4-FFF2-40B4-BE49-F238E27FC236}">
                  <a16:creationId xmlns:a16="http://schemas.microsoft.com/office/drawing/2014/main" id="{8F8E5708-36FA-6589-B183-10ED0D12FD03}"/>
                </a:ext>
              </a:extLst>
            </p:cNvPr>
            <p:cNvSpPr txBox="1"/>
            <p:nvPr/>
          </p:nvSpPr>
          <p:spPr>
            <a:xfrm>
              <a:off x="2366247" y="4408182"/>
              <a:ext cx="7615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0 TB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02DE655-C3D1-58D6-A582-4F7E58EFFE8D}"/>
                </a:ext>
              </a:extLst>
            </p:cNvPr>
            <p:cNvSpPr txBox="1"/>
            <p:nvPr/>
          </p:nvSpPr>
          <p:spPr>
            <a:xfrm>
              <a:off x="809048" y="4131183"/>
              <a:ext cx="83230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Cores</a:t>
              </a:r>
            </a:p>
          </p:txBody>
        </p:sp>
        <p:sp>
          <p:nvSpPr>
            <p:cNvPr id="49" name="TextBox 48" descr="&lt;text&gt;&lt;SQL_Right_Sizing_and_Savings:SourceCores&gt;">
              <a:extLst>
                <a:ext uri="{FF2B5EF4-FFF2-40B4-BE49-F238E27FC236}">
                  <a16:creationId xmlns:a16="http://schemas.microsoft.com/office/drawing/2014/main" id="{11DA9D4D-1C28-F84B-311E-07A63768F406}"/>
                </a:ext>
              </a:extLst>
            </p:cNvPr>
            <p:cNvSpPr txBox="1"/>
            <p:nvPr/>
          </p:nvSpPr>
          <p:spPr>
            <a:xfrm>
              <a:off x="2541072" y="4131183"/>
              <a:ext cx="4085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127E772-0706-054C-B06C-46E3582EADB7}"/>
                </a:ext>
              </a:extLst>
            </p:cNvPr>
            <p:cNvSpPr txBox="1"/>
            <p:nvPr/>
          </p:nvSpPr>
          <p:spPr>
            <a:xfrm>
              <a:off x="809047" y="3614261"/>
              <a:ext cx="18505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Right Sizing Savings</a:t>
              </a:r>
            </a:p>
          </p:txBody>
        </p:sp>
        <p:sp>
          <p:nvSpPr>
            <p:cNvPr id="52" name="TextBox 51" descr="&lt;text&gt;&lt;SQL_Right_Sizing_and_Savings:TargetStorage&gt;">
              <a:extLst>
                <a:ext uri="{FF2B5EF4-FFF2-40B4-BE49-F238E27FC236}">
                  <a16:creationId xmlns:a16="http://schemas.microsoft.com/office/drawing/2014/main" id="{790C95D8-BE63-99F3-DBB1-772AC156A5DE}"/>
                </a:ext>
              </a:extLst>
            </p:cNvPr>
            <p:cNvSpPr txBox="1"/>
            <p:nvPr/>
          </p:nvSpPr>
          <p:spPr>
            <a:xfrm>
              <a:off x="3261697" y="4408183"/>
              <a:ext cx="76158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0 TB</a:t>
              </a:r>
            </a:p>
          </p:txBody>
        </p:sp>
        <p:sp>
          <p:nvSpPr>
            <p:cNvPr id="54" name="TextBox 53" descr="&lt;text&gt;&lt;SQL_Right_Sizing_and_Savings:TargetCores&gt;">
              <a:extLst>
                <a:ext uri="{FF2B5EF4-FFF2-40B4-BE49-F238E27FC236}">
                  <a16:creationId xmlns:a16="http://schemas.microsoft.com/office/drawing/2014/main" id="{1C7E02D0-A212-0326-620D-2065129C7D64}"/>
                </a:ext>
              </a:extLst>
            </p:cNvPr>
            <p:cNvSpPr txBox="1"/>
            <p:nvPr/>
          </p:nvSpPr>
          <p:spPr>
            <a:xfrm>
              <a:off x="3435231" y="4131183"/>
              <a:ext cx="39226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4D8BECC-FDC6-6586-5DEC-723C33CAB5AE}"/>
                </a:ext>
              </a:extLst>
            </p:cNvPr>
            <p:cNvSpPr txBox="1"/>
            <p:nvPr/>
          </p:nvSpPr>
          <p:spPr>
            <a:xfrm>
              <a:off x="2378915" y="3854901"/>
              <a:ext cx="83230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1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Source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E68382D-FB79-A2DE-1973-41104AFD5035}"/>
                </a:ext>
              </a:extLst>
            </p:cNvPr>
            <p:cNvSpPr txBox="1"/>
            <p:nvPr/>
          </p:nvSpPr>
          <p:spPr>
            <a:xfrm>
              <a:off x="3284495" y="3854901"/>
              <a:ext cx="83230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1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Target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9B5CB07-9AE9-07F8-C262-356A6D13985F}"/>
                </a:ext>
              </a:extLst>
            </p:cNvPr>
            <p:cNvSpPr txBox="1"/>
            <p:nvPr/>
          </p:nvSpPr>
          <p:spPr>
            <a:xfrm>
              <a:off x="820933" y="5283405"/>
              <a:ext cx="18505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Azure Hybrid Benefit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8D79B7F-6CC2-DF72-8790-E9C56B317CC1}"/>
                </a:ext>
              </a:extLst>
            </p:cNvPr>
            <p:cNvSpPr txBox="1"/>
            <p:nvPr/>
          </p:nvSpPr>
          <p:spPr>
            <a:xfrm>
              <a:off x="824636" y="5539327"/>
              <a:ext cx="3391021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By reusing existing SQL licenses and committing to Reserved Instances yields a potential 44% savings compared to remaining on-premises.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D4A86AF-A959-CED3-A68D-E04F0508DA3D}"/>
                </a:ext>
              </a:extLst>
            </p:cNvPr>
            <p:cNvGrpSpPr/>
            <p:nvPr/>
          </p:nvGrpSpPr>
          <p:grpSpPr>
            <a:xfrm>
              <a:off x="885910" y="6094103"/>
              <a:ext cx="3126919" cy="393811"/>
              <a:chOff x="885910" y="5930346"/>
              <a:chExt cx="3126919" cy="393811"/>
            </a:xfrm>
          </p:grpSpPr>
          <p:sp>
            <p:nvSpPr>
              <p:cNvPr id="141" name="object 14">
                <a:extLst>
                  <a:ext uri="{FF2B5EF4-FFF2-40B4-BE49-F238E27FC236}">
                    <a16:creationId xmlns:a16="http://schemas.microsoft.com/office/drawing/2014/main" id="{656FFECF-7060-2887-9B3F-6CF9629E8C66}"/>
                  </a:ext>
                </a:extLst>
              </p:cNvPr>
              <p:cNvSpPr txBox="1"/>
              <p:nvPr/>
            </p:nvSpPr>
            <p:spPr>
              <a:xfrm>
                <a:off x="885910" y="5930346"/>
                <a:ext cx="3126919" cy="393811"/>
              </a:xfrm>
              <a:prstGeom prst="roundRect">
                <a:avLst>
                  <a:gd name="adj" fmla="val 5644"/>
                </a:avLst>
              </a:prstGeom>
              <a:gradFill flip="none" rotWithShape="1">
                <a:gsLst>
                  <a:gs pos="50000">
                    <a:schemeClr val="tx2">
                      <a:lumMod val="75000"/>
                      <a:lumOff val="25000"/>
                    </a:schemeClr>
                  </a:gs>
                  <a:gs pos="0">
                    <a:schemeClr val="tx2">
                      <a:lumMod val="50000"/>
                      <a:lumOff val="50000"/>
                    </a:schemeClr>
                  </a:gs>
                </a:gsLst>
                <a:lin ang="7800000" scaled="0"/>
                <a:tileRect/>
              </a:gra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R="0" lvl="0" indent="0" algn="ctr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 kumimoji="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Segoe Sans Text Semibold"/>
                    <a:cs typeface="Segoe UI Semibold" panose="020B0502040204020203" pitchFamily="34" charset="0"/>
                  </a:defRPr>
                </a:lvl1pPr>
              </a:lstStyle>
              <a:p>
                <a:pPr marL="0" marR="0" lvl="0" indent="0" algn="ctr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Sans Text Semibold"/>
                  <a:ea typeface="+mn-ea"/>
                  <a:cs typeface="Segoe UI Semibold" panose="020B0502040204020203" pitchFamily="34" charset="0"/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6C0885AD-1170-ABDA-C45C-D3BFF164B354}"/>
                  </a:ext>
                </a:extLst>
              </p:cNvPr>
              <p:cNvSpPr txBox="1"/>
              <p:nvPr/>
            </p:nvSpPr>
            <p:spPr>
              <a:xfrm>
                <a:off x="906489" y="5988752"/>
                <a:ext cx="82019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rPr>
                  <a:t>Benefit</a:t>
                </a:r>
              </a:p>
            </p:txBody>
          </p:sp>
          <p:sp>
            <p:nvSpPr>
              <p:cNvPr id="143" name="TextBox 142" descr="$56.06K">
                <a:extLst>
                  <a:ext uri="{FF2B5EF4-FFF2-40B4-BE49-F238E27FC236}">
                    <a16:creationId xmlns:a16="http://schemas.microsoft.com/office/drawing/2014/main" id="{AE41FA3F-9B1F-D697-71A3-B8F5C40323CB}"/>
                  </a:ext>
                </a:extLst>
              </p:cNvPr>
              <p:cNvSpPr txBox="1"/>
              <p:nvPr/>
            </p:nvSpPr>
            <p:spPr>
              <a:xfrm>
                <a:off x="2346472" y="5988752"/>
                <a:ext cx="158958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rPr>
                  <a:t>$56.06K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E48CBCA-F6D5-57E4-7D9D-8EBDCCDBD95C}"/>
                </a:ext>
              </a:extLst>
            </p:cNvPr>
            <p:cNvGrpSpPr/>
            <p:nvPr/>
          </p:nvGrpSpPr>
          <p:grpSpPr>
            <a:xfrm>
              <a:off x="885910" y="4722649"/>
              <a:ext cx="3126919" cy="393811"/>
              <a:chOff x="885910" y="5930346"/>
              <a:chExt cx="3126919" cy="393811"/>
            </a:xfrm>
          </p:grpSpPr>
          <p:sp>
            <p:nvSpPr>
              <p:cNvPr id="28" name="object 14">
                <a:extLst>
                  <a:ext uri="{FF2B5EF4-FFF2-40B4-BE49-F238E27FC236}">
                    <a16:creationId xmlns:a16="http://schemas.microsoft.com/office/drawing/2014/main" id="{44939D1C-ED69-73C0-44C0-62DC1236FB5C}"/>
                  </a:ext>
                </a:extLst>
              </p:cNvPr>
              <p:cNvSpPr txBox="1"/>
              <p:nvPr/>
            </p:nvSpPr>
            <p:spPr>
              <a:xfrm>
                <a:off x="885910" y="5930346"/>
                <a:ext cx="3126919" cy="393811"/>
              </a:xfrm>
              <a:prstGeom prst="roundRect">
                <a:avLst>
                  <a:gd name="adj" fmla="val 5644"/>
                </a:avLst>
              </a:prstGeom>
              <a:gradFill flip="none" rotWithShape="1">
                <a:gsLst>
                  <a:gs pos="50000">
                    <a:schemeClr val="tx2">
                      <a:lumMod val="75000"/>
                      <a:lumOff val="25000"/>
                    </a:schemeClr>
                  </a:gs>
                  <a:gs pos="0">
                    <a:schemeClr val="tx2">
                      <a:lumMod val="50000"/>
                      <a:lumOff val="50000"/>
                    </a:schemeClr>
                  </a:gs>
                </a:gsLst>
                <a:lin ang="7800000" scaled="0"/>
                <a:tileRect/>
              </a:gra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R="0" lvl="0" indent="0" algn="ctr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 kumimoji="0" b="0" i="0" u="none" strike="noStrike" kern="0" cap="none" spc="0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Segoe Sans Text Semibold"/>
                    <a:cs typeface="Segoe UI Semibold" panose="020B0502040204020203" pitchFamily="34" charset="0"/>
                  </a:defRPr>
                </a:lvl1pPr>
              </a:lstStyle>
              <a:p>
                <a:pPr marL="0" marR="0" lvl="0" indent="0" algn="ctr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Sans Text Semibold"/>
                  <a:ea typeface="+mn-ea"/>
                  <a:cs typeface="Segoe UI Semibold" panose="020B0502040204020203" pitchFamily="34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1225BE0-9981-69C6-4A5B-E9C600939C6E}"/>
                  </a:ext>
                </a:extLst>
              </p:cNvPr>
              <p:cNvSpPr txBox="1"/>
              <p:nvPr/>
            </p:nvSpPr>
            <p:spPr>
              <a:xfrm>
                <a:off x="906489" y="5988752"/>
                <a:ext cx="82019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rPr>
                  <a:t>Savings</a:t>
                </a:r>
              </a:p>
            </p:txBody>
          </p:sp>
          <p:sp>
            <p:nvSpPr>
              <p:cNvPr id="30" name="TextBox 29" descr="&lt;text&gt;&lt;SQL_Right_Sizing_and_Savings:TotalSavings&gt;">
                <a:extLst>
                  <a:ext uri="{FF2B5EF4-FFF2-40B4-BE49-F238E27FC236}">
                    <a16:creationId xmlns:a16="http://schemas.microsoft.com/office/drawing/2014/main" id="{6931A635-6A9C-14CE-E46E-ABAD78922D6E}"/>
                  </a:ext>
                </a:extLst>
              </p:cNvPr>
              <p:cNvSpPr txBox="1"/>
              <p:nvPr/>
            </p:nvSpPr>
            <p:spPr>
              <a:xfrm>
                <a:off x="2346472" y="5988752"/>
                <a:ext cx="158958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r" defTabSz="914400" rtl="0" eaLnBrk="1" fontAlgn="base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rPr>
                  <a:t>$ 0</a:t>
                </a:r>
              </a:p>
            </p:txBody>
          </p:sp>
        </p:grp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9431B630-B8A2-E8AF-BA36-09F567203A98}"/>
              </a:ext>
            </a:extLst>
          </p:cNvPr>
          <p:cNvGrpSpPr/>
          <p:nvPr/>
        </p:nvGrpSpPr>
        <p:grpSpPr>
          <a:xfrm>
            <a:off x="8489614" y="4757856"/>
            <a:ext cx="3401784" cy="1841229"/>
            <a:chOff x="8510112" y="4722648"/>
            <a:chExt cx="3401784" cy="1841229"/>
          </a:xfrm>
        </p:grpSpPr>
        <p:sp>
          <p:nvSpPr>
            <p:cNvPr id="213" name="Rounded Rectangle 212">
              <a:extLst>
                <a:ext uri="{FF2B5EF4-FFF2-40B4-BE49-F238E27FC236}">
                  <a16:creationId xmlns:a16="http://schemas.microsoft.com/office/drawing/2014/main" id="{B361AD7F-79DA-50A2-601D-FB29E8B44B82}"/>
                </a:ext>
              </a:extLst>
            </p:cNvPr>
            <p:cNvSpPr/>
            <p:nvPr/>
          </p:nvSpPr>
          <p:spPr>
            <a:xfrm>
              <a:off x="8510112" y="4722648"/>
              <a:ext cx="3401784" cy="1841229"/>
            </a:xfrm>
            <a:prstGeom prst="roundRect">
              <a:avLst>
                <a:gd name="adj" fmla="val 6898"/>
              </a:avLst>
            </a:prstGeom>
            <a:gradFill flip="none" rotWithShape="1">
              <a:gsLst>
                <a:gs pos="99000">
                  <a:srgbClr val="F0F0F0"/>
                </a:gs>
                <a:gs pos="0">
                  <a:srgbClr val="F0F0F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Segoe UI" pitchFamily="34" charset="0"/>
              </a:endParaRPr>
            </a:p>
          </p:txBody>
        </p: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AC3C5EDE-3FCA-05F4-F721-6310397B83C5}"/>
                </a:ext>
              </a:extLst>
            </p:cNvPr>
            <p:cNvGrpSpPr/>
            <p:nvPr/>
          </p:nvGrpSpPr>
          <p:grpSpPr>
            <a:xfrm>
              <a:off x="8614328" y="4872121"/>
              <a:ext cx="3169415" cy="771141"/>
              <a:chOff x="8580183" y="4732972"/>
              <a:chExt cx="3169415" cy="771141"/>
            </a:xfrm>
          </p:grpSpPr>
          <p:sp>
            <p:nvSpPr>
              <p:cNvPr id="219" name="Rounded Rectangle 218">
                <a:extLst>
                  <a:ext uri="{FF2B5EF4-FFF2-40B4-BE49-F238E27FC236}">
                    <a16:creationId xmlns:a16="http://schemas.microsoft.com/office/drawing/2014/main" id="{E97D62F3-2D2F-F3AC-1D8A-06D26FB3976F}"/>
                  </a:ext>
                </a:extLst>
              </p:cNvPr>
              <p:cNvSpPr/>
              <p:nvPr/>
            </p:nvSpPr>
            <p:spPr>
              <a:xfrm>
                <a:off x="8580183" y="4732972"/>
                <a:ext cx="3169415" cy="771141"/>
              </a:xfrm>
              <a:prstGeom prst="roundRect">
                <a:avLst>
                  <a:gd name="adj" fmla="val 16469"/>
                </a:avLst>
              </a:prstGeom>
              <a:solidFill>
                <a:schemeClr val="bg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Segoe UI" pitchFamily="34" charset="0"/>
                </a:endParaRPr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C84A13C5-9015-1AF6-067C-D24D3D9CB09F}"/>
                  </a:ext>
                </a:extLst>
              </p:cNvPr>
              <p:cNvSpPr txBox="1"/>
              <p:nvPr/>
            </p:nvSpPr>
            <p:spPr>
              <a:xfrm>
                <a:off x="8679824" y="4769645"/>
                <a:ext cx="295576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3274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r>
                  <a:rPr kumimoji="0" lang="en-IN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E2841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rPr>
                  <a:t>Modernize to Azure SQL MI</a:t>
                </a:r>
                <a:endParaRPr kumimoji="0" lang="en-IN" sz="800" b="1" i="0" u="none" strike="noStrike" kern="1200" cap="none" spc="0" normalizeH="0" baseline="0" noProof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endParaRPr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ABA678BC-A0CD-A498-F012-E16D81C9CA3D}"/>
                  </a:ext>
                </a:extLst>
              </p:cNvPr>
              <p:cNvSpPr txBox="1"/>
              <p:nvPr/>
            </p:nvSpPr>
            <p:spPr>
              <a:xfrm>
                <a:off x="8696516" y="4953983"/>
                <a:ext cx="3053081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rPr>
                  <a:t>Best for modernizing existing apps. 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rPr>
                  <a:t>Near 100% compatibility with on-prem SQL but fully managed </a:t>
                </a:r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D4C29E4F-087A-42F9-41D2-BAF679202B1A}"/>
                </a:ext>
              </a:extLst>
            </p:cNvPr>
            <p:cNvGrpSpPr/>
            <p:nvPr/>
          </p:nvGrpSpPr>
          <p:grpSpPr>
            <a:xfrm>
              <a:off x="8628627" y="5754117"/>
              <a:ext cx="3218723" cy="701895"/>
              <a:chOff x="8594482" y="5721758"/>
              <a:chExt cx="3218723" cy="701895"/>
            </a:xfrm>
          </p:grpSpPr>
          <p:sp>
            <p:nvSpPr>
              <p:cNvPr id="216" name="Rounded Rectangle 215">
                <a:extLst>
                  <a:ext uri="{FF2B5EF4-FFF2-40B4-BE49-F238E27FC236}">
                    <a16:creationId xmlns:a16="http://schemas.microsoft.com/office/drawing/2014/main" id="{36DB597B-C178-D556-0E2B-6C82E02D9EB1}"/>
                  </a:ext>
                </a:extLst>
              </p:cNvPr>
              <p:cNvSpPr/>
              <p:nvPr/>
            </p:nvSpPr>
            <p:spPr>
              <a:xfrm>
                <a:off x="8594482" y="5721758"/>
                <a:ext cx="3155116" cy="701895"/>
              </a:xfrm>
              <a:prstGeom prst="roundRect">
                <a:avLst>
                  <a:gd name="adj" fmla="val 18094"/>
                </a:avLst>
              </a:prstGeom>
              <a:solidFill>
                <a:schemeClr val="bg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Segoe UI" pitchFamily="34" charset="0"/>
                </a:endParaRP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711320BA-675D-38B3-2C93-2DF91B52822B}"/>
                  </a:ext>
                </a:extLst>
              </p:cNvPr>
              <p:cNvSpPr txBox="1"/>
              <p:nvPr/>
            </p:nvSpPr>
            <p:spPr>
              <a:xfrm>
                <a:off x="8639624" y="5757684"/>
                <a:ext cx="317358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0E2841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rPr>
                  <a:t>Rehost SQL Instance Azure VM</a:t>
                </a: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E2841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rPr>
                  <a:t>. </a:t>
                </a:r>
                <a:endPara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endParaRPr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548B08EE-E46C-4E28-D223-AB0E66766A56}"/>
                  </a:ext>
                </a:extLst>
              </p:cNvPr>
              <p:cNvSpPr txBox="1"/>
              <p:nvPr/>
            </p:nvSpPr>
            <p:spPr>
              <a:xfrm>
                <a:off x="8639624" y="5954825"/>
                <a:ext cx="31099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rPr>
                  <a:t>Best for "Lift &amp; Shift". 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rPr>
                  <a:t>Keeps OS access and exact version compatibility. </a:t>
                </a:r>
              </a:p>
            </p:txBody>
          </p:sp>
        </p:grp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F17C2BE0-39C9-BFCC-C296-3A53DBC0464A}"/>
              </a:ext>
            </a:extLst>
          </p:cNvPr>
          <p:cNvSpPr txBox="1"/>
          <p:nvPr/>
        </p:nvSpPr>
        <p:spPr>
          <a:xfrm>
            <a:off x="4633122" y="1380824"/>
            <a:ext cx="30800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Instance split by Support Status</a:t>
            </a:r>
          </a:p>
        </p:txBody>
      </p:sp>
      <p:graphicFrame>
        <p:nvGraphicFramePr>
          <p:cNvPr id="223" name="Chart 222" descr="&lt;bar chart&gt;&lt;SQL_Workloads_Support_Summary&gt;">
            <a:extLst>
              <a:ext uri="{FF2B5EF4-FFF2-40B4-BE49-F238E27FC236}">
                <a16:creationId xmlns:a16="http://schemas.microsoft.com/office/drawing/2014/main" id="{5FF96587-5A60-2BD0-383F-78F63B00ED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9314951"/>
              </p:ext>
            </p:extLst>
          </p:nvPr>
        </p:nvGraphicFramePr>
        <p:xfrm>
          <a:off x="4633122" y="1728010"/>
          <a:ext cx="3302220" cy="1761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886E1F81-A6CB-A94F-A947-D68D3915DE45}"/>
              </a:ext>
            </a:extLst>
          </p:cNvPr>
          <p:cNvGrpSpPr/>
          <p:nvPr/>
        </p:nvGrpSpPr>
        <p:grpSpPr>
          <a:xfrm>
            <a:off x="4800185" y="3300556"/>
            <a:ext cx="3083142" cy="514866"/>
            <a:chOff x="4800185" y="3300556"/>
            <a:chExt cx="3083142" cy="514866"/>
          </a:xfrm>
        </p:grpSpPr>
        <p:sp>
          <p:nvSpPr>
            <p:cNvPr id="227" name="object 14">
              <a:extLst>
                <a:ext uri="{FF2B5EF4-FFF2-40B4-BE49-F238E27FC236}">
                  <a16:creationId xmlns:a16="http://schemas.microsoft.com/office/drawing/2014/main" id="{A5E3FA1E-ADD8-0F8E-0AF1-8C752FF827E7}"/>
                </a:ext>
              </a:extLst>
            </p:cNvPr>
            <p:cNvSpPr txBox="1"/>
            <p:nvPr/>
          </p:nvSpPr>
          <p:spPr>
            <a:xfrm>
              <a:off x="4800185" y="3300556"/>
              <a:ext cx="3083142" cy="514866"/>
            </a:xfrm>
            <a:prstGeom prst="roundRect">
              <a:avLst>
                <a:gd name="adj" fmla="val 5644"/>
              </a:avLst>
            </a:prstGeom>
            <a:gradFill flip="none" rotWithShape="1">
              <a:gsLst>
                <a:gs pos="50000">
                  <a:schemeClr val="tx2">
                    <a:lumMod val="75000"/>
                    <a:lumOff val="25000"/>
                  </a:schemeClr>
                </a:gs>
                <a:gs pos="0">
                  <a:schemeClr val="tx2">
                    <a:lumMod val="50000"/>
                    <a:lumOff val="50000"/>
                  </a:schemeClr>
                </a:gs>
              </a:gsLst>
              <a:lin ang="7800000" scaled="0"/>
              <a:tileRect/>
            </a:gra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R="0" lvl="0" indent="0" algn="ctr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 Semibold"/>
                  <a:cs typeface="Segoe UI Semibold" panose="020B0502040204020203" pitchFamily="34" charset="0"/>
                </a:defRPr>
              </a:lvl1pPr>
            </a:lstStyle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5321EB13-59BA-548B-92B1-AFD4A73D0618}"/>
                </a:ext>
              </a:extLst>
            </p:cNvPr>
            <p:cNvSpPr txBox="1"/>
            <p:nvPr/>
          </p:nvSpPr>
          <p:spPr>
            <a:xfrm>
              <a:off x="4860975" y="3419490"/>
              <a:ext cx="102455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ESU Savings</a:t>
              </a:r>
            </a:p>
          </p:txBody>
        </p: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D78AF2B1-AFB1-732E-7A3F-E8323911FA71}"/>
                </a:ext>
              </a:extLst>
            </p:cNvPr>
            <p:cNvGrpSpPr/>
            <p:nvPr/>
          </p:nvGrpSpPr>
          <p:grpSpPr>
            <a:xfrm>
              <a:off x="6593138" y="3339078"/>
              <a:ext cx="1179703" cy="234429"/>
              <a:chOff x="10534272" y="1418241"/>
              <a:chExt cx="1179703" cy="234429"/>
            </a:xfrm>
          </p:grpSpPr>
          <p:sp>
            <p:nvSpPr>
              <p:cNvPr id="233" name="TextBox 232" descr="$0">
                <a:extLst>
                  <a:ext uri="{FF2B5EF4-FFF2-40B4-BE49-F238E27FC236}">
                    <a16:creationId xmlns:a16="http://schemas.microsoft.com/office/drawing/2014/main" id="{2CC79021-9658-06BE-A7D8-7DE662A855B6}"/>
                  </a:ext>
                </a:extLst>
              </p:cNvPr>
              <p:cNvSpPr txBox="1"/>
              <p:nvPr/>
            </p:nvSpPr>
            <p:spPr>
              <a:xfrm>
                <a:off x="11034066" y="1421838"/>
                <a:ext cx="679909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rPr>
                  <a:t>$0</a:t>
                </a: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B5AD0276-2E7A-F2AE-6E31-925FC86DBFED}"/>
                  </a:ext>
                </a:extLst>
              </p:cNvPr>
              <p:cNvSpPr txBox="1"/>
              <p:nvPr/>
            </p:nvSpPr>
            <p:spPr>
              <a:xfrm>
                <a:off x="10534272" y="1418241"/>
                <a:ext cx="73440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rPr>
                  <a:t>Current:</a:t>
                </a:r>
              </a:p>
            </p:txBody>
          </p:sp>
        </p:grp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A333CCB9-8BDA-E10B-A588-F91292C8EF9B}"/>
                </a:ext>
              </a:extLst>
            </p:cNvPr>
            <p:cNvGrpSpPr/>
            <p:nvPr/>
          </p:nvGrpSpPr>
          <p:grpSpPr>
            <a:xfrm>
              <a:off x="6619796" y="3553843"/>
              <a:ext cx="1167391" cy="232354"/>
              <a:chOff x="10546584" y="1421838"/>
              <a:chExt cx="1167391" cy="232354"/>
            </a:xfrm>
          </p:grpSpPr>
          <p:sp>
            <p:nvSpPr>
              <p:cNvPr id="231" name="TextBox 230" descr="$0">
                <a:extLst>
                  <a:ext uri="{FF2B5EF4-FFF2-40B4-BE49-F238E27FC236}">
                    <a16:creationId xmlns:a16="http://schemas.microsoft.com/office/drawing/2014/main" id="{6C817B08-B36B-455F-5E54-22EB7B0B00BE}"/>
                  </a:ext>
                </a:extLst>
              </p:cNvPr>
              <p:cNvSpPr txBox="1"/>
              <p:nvPr/>
            </p:nvSpPr>
            <p:spPr>
              <a:xfrm>
                <a:off x="11034066" y="1421838"/>
                <a:ext cx="679909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rPr>
                  <a:t>$0</a:t>
                </a:r>
              </a:p>
            </p:txBody>
          </p: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8D467B31-C951-1BD8-BD6E-B0DD7BE3BE44}"/>
                  </a:ext>
                </a:extLst>
              </p:cNvPr>
              <p:cNvSpPr txBox="1"/>
              <p:nvPr/>
            </p:nvSpPr>
            <p:spPr>
              <a:xfrm>
                <a:off x="10546584" y="1423360"/>
                <a:ext cx="67880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Sans Text" pitchFamily="2" charset="0"/>
                    <a:ea typeface="+mn-ea"/>
                    <a:cs typeface="Segoe Sans Text" pitchFamily="2" charset="0"/>
                  </a:rPr>
                  <a:t>In 3 Yrs:</a:t>
                </a:r>
              </a:p>
            </p:txBody>
          </p:sp>
        </p:grpSp>
      </p:grpSp>
      <p:sp>
        <p:nvSpPr>
          <p:cNvPr id="235" name="Rectangle 234">
            <a:extLst>
              <a:ext uri="{FF2B5EF4-FFF2-40B4-BE49-F238E27FC236}">
                <a16:creationId xmlns:a16="http://schemas.microsoft.com/office/drawing/2014/main" id="{60F55685-BC90-AF42-2890-1307EC637738}"/>
              </a:ext>
            </a:extLst>
          </p:cNvPr>
          <p:cNvSpPr/>
          <p:nvPr/>
        </p:nvSpPr>
        <p:spPr>
          <a:xfrm>
            <a:off x="4711896" y="1332609"/>
            <a:ext cx="3312000" cy="108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472350-E267-9936-C4BF-E071AFA6305E}"/>
              </a:ext>
            </a:extLst>
          </p:cNvPr>
          <p:cNvSpPr txBox="1"/>
          <p:nvPr/>
        </p:nvSpPr>
        <p:spPr>
          <a:xfrm>
            <a:off x="8398487" y="2951362"/>
            <a:ext cx="24474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Instance split by Edition</a:t>
            </a:r>
          </a:p>
        </p:txBody>
      </p:sp>
      <p:graphicFrame>
        <p:nvGraphicFramePr>
          <p:cNvPr id="24" name="Chart 23" descr="&lt;pie chart&gt;&lt;SQL_Server_split_PieChart:Edition&gt;">
            <a:extLst>
              <a:ext uri="{FF2B5EF4-FFF2-40B4-BE49-F238E27FC236}">
                <a16:creationId xmlns:a16="http://schemas.microsoft.com/office/drawing/2014/main" id="{19980E4B-C7E7-D4C7-EFE8-A0E6295617B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/>
          <p:nvPr/>
        </p:nvGraphicFramePr>
        <p:xfrm>
          <a:off x="8220869" y="3002405"/>
          <a:ext cx="3651622" cy="1606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5" name="Chart 24" descr="&lt;pie chart&gt;&lt;SQL_Server_split_PieChart:Version&gt;">
            <a:extLst>
              <a:ext uri="{FF2B5EF4-FFF2-40B4-BE49-F238E27FC236}">
                <a16:creationId xmlns:a16="http://schemas.microsoft.com/office/drawing/2014/main" id="{729AB173-2866-1834-3833-2FCCB288D0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/>
          <p:nvPr/>
        </p:nvGraphicFramePr>
        <p:xfrm>
          <a:off x="8181464" y="1410299"/>
          <a:ext cx="3651622" cy="1606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3" name="Chart 32" descr="&lt;bar chart&gt;&lt;Database_readiness_chart_parameterized:SQL&gt;">
            <a:extLst>
              <a:ext uri="{FF2B5EF4-FFF2-40B4-BE49-F238E27FC236}">
                <a16:creationId xmlns:a16="http://schemas.microsoft.com/office/drawing/2014/main" id="{415EE3EA-4320-63E3-FBF3-EE04847347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4421465"/>
              </p:ext>
            </p:extLst>
          </p:nvPr>
        </p:nvGraphicFramePr>
        <p:xfrm>
          <a:off x="4632621" y="5033346"/>
          <a:ext cx="3988657" cy="1147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4" name="TextBox 33" descr="&lt;text&gt;&lt;SQL_PGSQL_Data_Insights:15&gt; Servers can be decommissioned  due to modernization of its constituent workloads&#10;">
            <a:extLst>
              <a:ext uri="{FF2B5EF4-FFF2-40B4-BE49-F238E27FC236}">
                <a16:creationId xmlns:a16="http://schemas.microsoft.com/office/drawing/2014/main" id="{EF9DFA93-EFA4-A297-F753-AE763556DF5E}"/>
              </a:ext>
            </a:extLst>
          </p:cNvPr>
          <p:cNvSpPr txBox="1"/>
          <p:nvPr/>
        </p:nvSpPr>
        <p:spPr>
          <a:xfrm>
            <a:off x="4379947" y="6376388"/>
            <a:ext cx="4018540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1200"/>
              </a:spcBef>
              <a:spcAft>
                <a:spcPts val="800"/>
              </a:spcAft>
              <a:defRPr/>
            </a:pPr>
            <a:r>
              <a:rPr kumimoji="0" lang="en-US" sz="1000" b="0" i="1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0 </a:t>
            </a:r>
            <a:r>
              <a:rPr lang="en-US" sz="1000" i="1" dirty="0">
                <a:solidFill>
                  <a:prstClr val="black"/>
                </a:solidFill>
                <a:latin typeface="Segoe Sans Text" pitchFamily="2" charset="0"/>
                <a:cs typeface="Segoe Sans Text" pitchFamily="2" charset="0"/>
                <a:sym typeface="Inter"/>
              </a:rPr>
              <a:t>Servers can be decommissioned  due to modernization of its constituent workloads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3" name="TextBox 12" descr="&lt;boolview&gt;&lt;No_SQL_Databases&gt;">
            <a:extLst>
              <a:ext uri="{FF2B5EF4-FFF2-40B4-BE49-F238E27FC236}">
                <a16:creationId xmlns:a16="http://schemas.microsoft.com/office/drawing/2014/main" id="{70A8BC84-9146-014A-F693-95CD47E895A4}"/>
              </a:ext>
            </a:extLst>
          </p:cNvPr>
          <p:cNvSpPr txBox="1"/>
          <p:nvPr/>
        </p:nvSpPr>
        <p:spPr>
          <a:xfrm>
            <a:off x="6593138" y="323121"/>
            <a:ext cx="165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3FED1F-9F72-64CC-690A-A00DA32A6804}"/>
              </a:ext>
            </a:extLst>
          </p:cNvPr>
          <p:cNvSpPr txBox="1"/>
          <p:nvPr/>
        </p:nvSpPr>
        <p:spPr>
          <a:xfrm>
            <a:off x="4221211" y="6391724"/>
            <a:ext cx="233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  <a:sym typeface="Inter"/>
              </a:rPr>
              <a:t>             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36BED-1D2F-CF34-37AB-DBDA2A21F677}"/>
              </a:ext>
            </a:extLst>
          </p:cNvPr>
          <p:cNvSpPr txBox="1"/>
          <p:nvPr/>
        </p:nvSpPr>
        <p:spPr>
          <a:xfrm>
            <a:off x="4221211" y="6055097"/>
            <a:ext cx="233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  <a:sym typeface="Inter"/>
              </a:rPr>
              <a:t>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27836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A810C-B1F8-F5B2-484B-D332FF622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14ACA6E8-EE6D-7FF1-E486-D211453CA406}"/>
              </a:ext>
            </a:extLst>
          </p:cNvPr>
          <p:cNvSpPr/>
          <p:nvPr/>
        </p:nvSpPr>
        <p:spPr>
          <a:xfrm>
            <a:off x="5776510" y="1676370"/>
            <a:ext cx="2912400" cy="5072773"/>
          </a:xfrm>
          <a:prstGeom prst="roundRect">
            <a:avLst>
              <a:gd name="adj" fmla="val 4649"/>
            </a:avLst>
          </a:prstGeom>
          <a:gradFill flip="none" rotWithShape="1"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Segoe UI" pitchFamily="34" charset="0"/>
            </a:endParaRPr>
          </a:p>
        </p:txBody>
      </p:sp>
      <p:sp>
        <p:nvSpPr>
          <p:cNvPr id="8" name="object 14">
            <a:extLst>
              <a:ext uri="{FF2B5EF4-FFF2-40B4-BE49-F238E27FC236}">
                <a16:creationId xmlns:a16="http://schemas.microsoft.com/office/drawing/2014/main" id="{C7404C8B-C6B3-7AA4-0ECB-5C955ADA5248}"/>
              </a:ext>
            </a:extLst>
          </p:cNvPr>
          <p:cNvSpPr txBox="1">
            <a:spLocks/>
          </p:cNvSpPr>
          <p:nvPr/>
        </p:nvSpPr>
        <p:spPr>
          <a:xfrm>
            <a:off x="5850535" y="3231013"/>
            <a:ext cx="2748765" cy="374026"/>
          </a:xfrm>
          <a:prstGeom prst="roundRect">
            <a:avLst/>
          </a:prstGeom>
          <a:gradFill flip="none" rotWithShape="1">
            <a:gsLst>
              <a:gs pos="50000">
                <a:schemeClr val="tx2">
                  <a:lumMod val="75000"/>
                  <a:lumOff val="25000"/>
                </a:schemeClr>
              </a:gs>
              <a:gs pos="1000">
                <a:schemeClr val="tx2">
                  <a:lumMod val="50000"/>
                  <a:lumOff val="50000"/>
                </a:schemeClr>
              </a:gs>
            </a:gsLst>
            <a:lin ang="7800000" scaled="0"/>
            <a:tileRect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932472" fontAlgn="base">
              <a:spcBef>
                <a:spcPct val="0"/>
              </a:spcBef>
              <a:spcAft>
                <a:spcPct val="0"/>
              </a:spcAft>
              <a:defRPr sz="1600" kern="0">
                <a:latin typeface="+mj-lt"/>
                <a:cs typeface="Segoe Sans Display ExtraBold" pitchFamily="2" charset="0"/>
              </a:defRPr>
            </a:lvl1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 Semibold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9" name="object 14">
            <a:extLst>
              <a:ext uri="{FF2B5EF4-FFF2-40B4-BE49-F238E27FC236}">
                <a16:creationId xmlns:a16="http://schemas.microsoft.com/office/drawing/2014/main" id="{C36CC3CE-4C81-6B1E-7E6D-91585C601D6B}"/>
              </a:ext>
            </a:extLst>
          </p:cNvPr>
          <p:cNvSpPr txBox="1">
            <a:spLocks/>
          </p:cNvSpPr>
          <p:nvPr/>
        </p:nvSpPr>
        <p:spPr>
          <a:xfrm>
            <a:off x="5850535" y="4615359"/>
            <a:ext cx="2748765" cy="374026"/>
          </a:xfrm>
          <a:prstGeom prst="roundRect">
            <a:avLst/>
          </a:prstGeom>
          <a:gradFill flip="none" rotWithShape="1">
            <a:gsLst>
              <a:gs pos="50000">
                <a:schemeClr val="tx2">
                  <a:lumMod val="75000"/>
                  <a:lumOff val="25000"/>
                </a:schemeClr>
              </a:gs>
              <a:gs pos="1000">
                <a:schemeClr val="tx2">
                  <a:lumMod val="50000"/>
                  <a:lumOff val="50000"/>
                </a:schemeClr>
              </a:gs>
            </a:gsLst>
            <a:lin ang="7800000" scaled="0"/>
            <a:tileRect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932472" fontAlgn="base">
              <a:spcBef>
                <a:spcPct val="0"/>
              </a:spcBef>
              <a:spcAft>
                <a:spcPct val="0"/>
              </a:spcAft>
              <a:defRPr sz="1600" kern="0">
                <a:latin typeface="+mj-lt"/>
                <a:cs typeface="Segoe Sans Display ExtraBold" pitchFamily="2" charset="0"/>
              </a:defRPr>
            </a:lvl1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 Semibold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78C908F-7509-BB95-4226-2320A713DD24}"/>
              </a:ext>
            </a:extLst>
          </p:cNvPr>
          <p:cNvSpPr/>
          <p:nvPr/>
        </p:nvSpPr>
        <p:spPr>
          <a:xfrm>
            <a:off x="2660777" y="1637928"/>
            <a:ext cx="2912400" cy="5072773"/>
          </a:xfrm>
          <a:prstGeom prst="roundRect">
            <a:avLst>
              <a:gd name="adj" fmla="val 4649"/>
            </a:avLst>
          </a:prstGeom>
          <a:gradFill flip="none" rotWithShape="1"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Segoe UI" pitchFamily="34" charset="0"/>
            </a:endParaRPr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EA313C5D-2984-3B71-64E4-7093B6E428D2}"/>
              </a:ext>
            </a:extLst>
          </p:cNvPr>
          <p:cNvSpPr/>
          <p:nvPr/>
        </p:nvSpPr>
        <p:spPr>
          <a:xfrm>
            <a:off x="8979660" y="1676370"/>
            <a:ext cx="2912303" cy="5072773"/>
          </a:xfrm>
          <a:prstGeom prst="roundRect">
            <a:avLst>
              <a:gd name="adj" fmla="val 4649"/>
            </a:avLst>
          </a:prstGeom>
          <a:gradFill flip="none" rotWithShape="1"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Segoe UI" pitchFamily="34" charset="0"/>
            </a:endParaRPr>
          </a:p>
        </p:txBody>
      </p:sp>
      <p:sp>
        <p:nvSpPr>
          <p:cNvPr id="11" name="object 14">
            <a:extLst>
              <a:ext uri="{FF2B5EF4-FFF2-40B4-BE49-F238E27FC236}">
                <a16:creationId xmlns:a16="http://schemas.microsoft.com/office/drawing/2014/main" id="{E6764377-9790-1B5D-4D9B-6228DCE177FE}"/>
              </a:ext>
            </a:extLst>
          </p:cNvPr>
          <p:cNvSpPr txBox="1">
            <a:spLocks/>
          </p:cNvSpPr>
          <p:nvPr/>
        </p:nvSpPr>
        <p:spPr>
          <a:xfrm>
            <a:off x="9037411" y="3231013"/>
            <a:ext cx="2743643" cy="374026"/>
          </a:xfrm>
          <a:prstGeom prst="roundRect">
            <a:avLst/>
          </a:prstGeom>
          <a:gradFill flip="none" rotWithShape="1">
            <a:gsLst>
              <a:gs pos="50000">
                <a:schemeClr val="tx2">
                  <a:lumMod val="75000"/>
                  <a:lumOff val="25000"/>
                </a:schemeClr>
              </a:gs>
              <a:gs pos="1000">
                <a:schemeClr val="tx2">
                  <a:lumMod val="50000"/>
                  <a:lumOff val="50000"/>
                </a:schemeClr>
              </a:gs>
            </a:gsLst>
            <a:lin ang="7800000" scaled="0"/>
            <a:tileRect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932472" fontAlgn="base">
              <a:spcBef>
                <a:spcPct val="0"/>
              </a:spcBef>
              <a:spcAft>
                <a:spcPct val="0"/>
              </a:spcAft>
              <a:defRPr sz="1600" kern="0">
                <a:latin typeface="+mj-lt"/>
                <a:cs typeface="Segoe Sans Display ExtraBold" pitchFamily="2" charset="0"/>
              </a:defRPr>
            </a:lvl1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 Semibold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E5B81E8E-8877-B6EF-3791-85A4D7F93C44}"/>
              </a:ext>
            </a:extLst>
          </p:cNvPr>
          <p:cNvSpPr txBox="1">
            <a:spLocks/>
          </p:cNvSpPr>
          <p:nvPr/>
        </p:nvSpPr>
        <p:spPr>
          <a:xfrm>
            <a:off x="9037411" y="4615359"/>
            <a:ext cx="2743643" cy="374026"/>
          </a:xfrm>
          <a:prstGeom prst="roundRect">
            <a:avLst/>
          </a:prstGeom>
          <a:gradFill flip="none" rotWithShape="1">
            <a:gsLst>
              <a:gs pos="50000">
                <a:schemeClr val="tx2">
                  <a:lumMod val="75000"/>
                  <a:lumOff val="25000"/>
                </a:schemeClr>
              </a:gs>
              <a:gs pos="1000">
                <a:schemeClr val="tx2">
                  <a:lumMod val="50000"/>
                  <a:lumOff val="50000"/>
                </a:schemeClr>
              </a:gs>
            </a:gsLst>
            <a:lin ang="7800000" scaled="0"/>
            <a:tileRect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932472" fontAlgn="base">
              <a:spcBef>
                <a:spcPct val="0"/>
              </a:spcBef>
              <a:spcAft>
                <a:spcPct val="0"/>
              </a:spcAft>
              <a:defRPr sz="1600" kern="0">
                <a:latin typeface="+mj-lt"/>
                <a:cs typeface="Segoe Sans Display ExtraBold" pitchFamily="2" charset="0"/>
              </a:defRPr>
            </a:lvl1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 Semibold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3" name="object 14">
            <a:extLst>
              <a:ext uri="{FF2B5EF4-FFF2-40B4-BE49-F238E27FC236}">
                <a16:creationId xmlns:a16="http://schemas.microsoft.com/office/drawing/2014/main" id="{B3EB1579-A43E-7919-C1C4-D7B8D464BB4F}"/>
              </a:ext>
            </a:extLst>
          </p:cNvPr>
          <p:cNvSpPr txBox="1">
            <a:spLocks/>
          </p:cNvSpPr>
          <p:nvPr/>
        </p:nvSpPr>
        <p:spPr>
          <a:xfrm>
            <a:off x="2739200" y="3231013"/>
            <a:ext cx="2746560" cy="374026"/>
          </a:xfrm>
          <a:prstGeom prst="roundRect">
            <a:avLst/>
          </a:prstGeom>
          <a:gradFill flip="none" rotWithShape="1">
            <a:gsLst>
              <a:gs pos="50000">
                <a:schemeClr val="tx2">
                  <a:lumMod val="75000"/>
                  <a:lumOff val="25000"/>
                </a:schemeClr>
              </a:gs>
              <a:gs pos="1000">
                <a:schemeClr val="tx2">
                  <a:lumMod val="50000"/>
                  <a:lumOff val="50000"/>
                </a:schemeClr>
              </a:gs>
            </a:gsLst>
            <a:lin ang="7800000" scaled="0"/>
            <a:tileRect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932472" fontAlgn="base">
              <a:spcBef>
                <a:spcPct val="0"/>
              </a:spcBef>
              <a:spcAft>
                <a:spcPct val="0"/>
              </a:spcAft>
              <a:defRPr sz="1600" kern="0">
                <a:latin typeface="+mj-lt"/>
                <a:cs typeface="Segoe Sans Display ExtraBold" pitchFamily="2" charset="0"/>
              </a:defRPr>
            </a:lvl1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 Semibold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4" name="object 14">
            <a:extLst>
              <a:ext uri="{FF2B5EF4-FFF2-40B4-BE49-F238E27FC236}">
                <a16:creationId xmlns:a16="http://schemas.microsoft.com/office/drawing/2014/main" id="{1099EF6E-B67B-361D-052F-22E3E6205ADD}"/>
              </a:ext>
            </a:extLst>
          </p:cNvPr>
          <p:cNvSpPr txBox="1">
            <a:spLocks/>
          </p:cNvSpPr>
          <p:nvPr/>
        </p:nvSpPr>
        <p:spPr>
          <a:xfrm>
            <a:off x="2739200" y="4615359"/>
            <a:ext cx="2746560" cy="374026"/>
          </a:xfrm>
          <a:prstGeom prst="roundRect">
            <a:avLst/>
          </a:prstGeom>
          <a:gradFill flip="none" rotWithShape="1">
            <a:gsLst>
              <a:gs pos="50000">
                <a:schemeClr val="tx2">
                  <a:lumMod val="75000"/>
                  <a:lumOff val="25000"/>
                </a:schemeClr>
              </a:gs>
              <a:gs pos="1000">
                <a:schemeClr val="tx2">
                  <a:lumMod val="50000"/>
                  <a:lumOff val="50000"/>
                </a:schemeClr>
              </a:gs>
            </a:gsLst>
            <a:lin ang="7800000" scaled="0"/>
            <a:tileRect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932472" fontAlgn="base">
              <a:spcBef>
                <a:spcPct val="0"/>
              </a:spcBef>
              <a:spcAft>
                <a:spcPct val="0"/>
              </a:spcAft>
              <a:defRPr sz="1600" kern="0">
                <a:latin typeface="+mj-lt"/>
                <a:cs typeface="Segoe Sans Display ExtraBold" pitchFamily="2" charset="0"/>
              </a:defRPr>
            </a:lvl1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 Semibold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996C3F-A618-B09E-CF09-2BB8128C427F}"/>
              </a:ext>
            </a:extLst>
          </p:cNvPr>
          <p:cNvSpPr txBox="1"/>
          <p:nvPr/>
        </p:nvSpPr>
        <p:spPr>
          <a:xfrm>
            <a:off x="583153" y="1818767"/>
            <a:ext cx="13234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Compute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AF3F46-802B-72D2-FD2D-E1FF6E727D0B}"/>
              </a:ext>
            </a:extLst>
          </p:cNvPr>
          <p:cNvSpPr txBox="1"/>
          <p:nvPr/>
        </p:nvSpPr>
        <p:spPr>
          <a:xfrm>
            <a:off x="583153" y="2179563"/>
            <a:ext cx="13234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Storage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6D9C39-A9FE-60EB-98F8-D3C9C974356B}"/>
              </a:ext>
            </a:extLst>
          </p:cNvPr>
          <p:cNvSpPr txBox="1"/>
          <p:nvPr/>
        </p:nvSpPr>
        <p:spPr>
          <a:xfrm>
            <a:off x="2660777" y="1337817"/>
            <a:ext cx="27316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 Semibold"/>
                <a:ea typeface="+mn-ea"/>
                <a:cs typeface="Segoe UI" panose="020B0502040204020203" pitchFamily="34" charset="0"/>
              </a:rPr>
              <a:t>On-premises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AF3AA14-5399-28E7-F682-6392776AC756}"/>
              </a:ext>
            </a:extLst>
          </p:cNvPr>
          <p:cNvSpPr txBox="1"/>
          <p:nvPr/>
        </p:nvSpPr>
        <p:spPr>
          <a:xfrm>
            <a:off x="583153" y="2563333"/>
            <a:ext cx="13234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Backups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3F4152E-AE36-7B4C-343F-DA6CBB2888C9}"/>
              </a:ext>
            </a:extLst>
          </p:cNvPr>
          <p:cNvSpPr txBox="1"/>
          <p:nvPr/>
        </p:nvSpPr>
        <p:spPr>
          <a:xfrm>
            <a:off x="583153" y="2957822"/>
            <a:ext cx="18554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Networking/Replication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90" name="Title">
            <a:extLst>
              <a:ext uri="{FF2B5EF4-FFF2-40B4-BE49-F238E27FC236}">
                <a16:creationId xmlns:a16="http://schemas.microsoft.com/office/drawing/2014/main" id="{8938A34A-B460-60F0-4986-E686D56738DC}"/>
              </a:ext>
            </a:extLst>
          </p:cNvPr>
          <p:cNvSpPr txBox="1">
            <a:spLocks/>
          </p:cNvSpPr>
          <p:nvPr/>
        </p:nvSpPr>
        <p:spPr>
          <a:xfrm>
            <a:off x="601980" y="481914"/>
            <a:ext cx="6324113" cy="5539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j-ea"/>
                <a:cs typeface="Segoe Sans Text" pitchFamily="2" charset="0"/>
                <a:sym typeface="Inter"/>
              </a:rPr>
              <a:t>Customer economics for SQL Server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j-ea"/>
              <a:cs typeface="Segoe Sans Text" pitchFamily="2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2C842E-BCF9-0C3B-2AEF-91D76E6EDE29}"/>
              </a:ext>
            </a:extLst>
          </p:cNvPr>
          <p:cNvSpPr txBox="1"/>
          <p:nvPr/>
        </p:nvSpPr>
        <p:spPr>
          <a:xfrm>
            <a:off x="583154" y="946612"/>
            <a:ext cx="111799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Medium-to-Large workload • East US • D8ds_v5 • 8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vCores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 / 32 GiB • 1 TB storage • Zone-redundant HA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E3C0C45-31F9-944D-24BA-8B03BFF65EDF}"/>
              </a:ext>
            </a:extLst>
          </p:cNvPr>
          <p:cNvSpPr txBox="1"/>
          <p:nvPr/>
        </p:nvSpPr>
        <p:spPr>
          <a:xfrm>
            <a:off x="583154" y="3726249"/>
            <a:ext cx="18554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Ops tasks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981C435-E733-2C7E-FB2A-16F9B082D739}"/>
              </a:ext>
            </a:extLst>
          </p:cNvPr>
          <p:cNvSpPr txBox="1"/>
          <p:nvPr/>
        </p:nvSpPr>
        <p:spPr>
          <a:xfrm>
            <a:off x="583154" y="4174315"/>
            <a:ext cx="18554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Ops hours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E144E1F-647D-9588-96DE-9C7CB3268ECC}"/>
              </a:ext>
            </a:extLst>
          </p:cNvPr>
          <p:cNvSpPr txBox="1"/>
          <p:nvPr/>
        </p:nvSpPr>
        <p:spPr>
          <a:xfrm>
            <a:off x="583154" y="3279527"/>
            <a:ext cx="18554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cs typeface="Segoe Sans Tex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Infra Subtotal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342F570-48EA-317F-4BC5-F142BAAB8A7F}"/>
              </a:ext>
            </a:extLst>
          </p:cNvPr>
          <p:cNvSpPr txBox="1"/>
          <p:nvPr/>
        </p:nvSpPr>
        <p:spPr>
          <a:xfrm>
            <a:off x="583154" y="4663873"/>
            <a:ext cx="18554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cs typeface="Segoe Sans Tex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Ops Subtotal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921B3F3-D121-E842-D172-DC9B4E240514}"/>
              </a:ext>
            </a:extLst>
          </p:cNvPr>
          <p:cNvSpPr txBox="1"/>
          <p:nvPr/>
        </p:nvSpPr>
        <p:spPr>
          <a:xfrm>
            <a:off x="3057124" y="3295622"/>
            <a:ext cx="23611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≈ $1,880/month​</a:t>
            </a:r>
          </a:p>
        </p:txBody>
      </p:sp>
      <p:pic>
        <p:nvPicPr>
          <p:cNvPr id="97" name="Picture 96" descr="A white paper money with a circle in the middle">
            <a:extLst>
              <a:ext uri="{FF2B5EF4-FFF2-40B4-BE49-F238E27FC236}">
                <a16:creationId xmlns:a16="http://schemas.microsoft.com/office/drawing/2014/main" id="{9C639DCA-352F-497E-6DC1-9F398EBD7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809" y="3343093"/>
            <a:ext cx="192106" cy="180000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D9D448D1-72FE-4097-7EAB-0B8D896F83F0}"/>
              </a:ext>
            </a:extLst>
          </p:cNvPr>
          <p:cNvSpPr txBox="1"/>
          <p:nvPr/>
        </p:nvSpPr>
        <p:spPr>
          <a:xfrm>
            <a:off x="3057124" y="4679968"/>
            <a:ext cx="24072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≈ $2,100/month (avg)</a:t>
            </a:r>
          </a:p>
        </p:txBody>
      </p:sp>
      <p:pic>
        <p:nvPicPr>
          <p:cNvPr id="105" name="Picture 104" descr="A white paper money with a circle in the middle">
            <a:extLst>
              <a:ext uri="{FF2B5EF4-FFF2-40B4-BE49-F238E27FC236}">
                <a16:creationId xmlns:a16="http://schemas.microsoft.com/office/drawing/2014/main" id="{A532F461-72B7-7A22-D1B5-4335D74D8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809" y="4727439"/>
            <a:ext cx="192106" cy="180000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31B0FEE7-9854-C630-2209-BBF936289C59}"/>
              </a:ext>
            </a:extLst>
          </p:cNvPr>
          <p:cNvSpPr txBox="1"/>
          <p:nvPr/>
        </p:nvSpPr>
        <p:spPr>
          <a:xfrm>
            <a:off x="2739200" y="1818768"/>
            <a:ext cx="274656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2 × 8 core, 32GBRAM VMs ≈ 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$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840/month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ECABFBF-1B87-959F-323A-30C69C2449CB}"/>
              </a:ext>
            </a:extLst>
          </p:cNvPr>
          <p:cNvSpPr txBox="1"/>
          <p:nvPr/>
        </p:nvSpPr>
        <p:spPr>
          <a:xfrm>
            <a:off x="2739200" y="2179563"/>
            <a:ext cx="274656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2 × 1 TB storage ≈ 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$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375/month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22E99C6-2463-98D7-A17C-2548BF4CCC5F}"/>
              </a:ext>
            </a:extLst>
          </p:cNvPr>
          <p:cNvSpPr txBox="1"/>
          <p:nvPr/>
        </p:nvSpPr>
        <p:spPr>
          <a:xfrm>
            <a:off x="2739200" y="2563334"/>
            <a:ext cx="274656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LRS, low churn, </a:t>
            </a:r>
            <a:r>
              <a:rPr kumimoji="0" lang="en-IN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AzBackup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 ; ≈ 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$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580/month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B2AE4C6-8C37-2B74-345A-9AA24555B6BB}"/>
              </a:ext>
            </a:extLst>
          </p:cNvPr>
          <p:cNvSpPr txBox="1"/>
          <p:nvPr/>
        </p:nvSpPr>
        <p:spPr>
          <a:xfrm>
            <a:off x="2739200" y="2957823"/>
            <a:ext cx="274656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1 cabinet ≈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$</a:t>
            </a: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1041.9/month 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9AF94D1-3DAC-90E5-4906-61B8936AA346}"/>
              </a:ext>
            </a:extLst>
          </p:cNvPr>
          <p:cNvSpPr txBox="1"/>
          <p:nvPr/>
        </p:nvSpPr>
        <p:spPr>
          <a:xfrm>
            <a:off x="2739200" y="3726249"/>
            <a:ext cx="27465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292827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Patching OS/DB, backups, HA failover design/testing, monitoring, incident response​​​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6D70B8D-865D-D738-733B-E57E9C26CA76}"/>
              </a:ext>
            </a:extLst>
          </p:cNvPr>
          <p:cNvSpPr txBox="1"/>
          <p:nvPr/>
        </p:nvSpPr>
        <p:spPr>
          <a:xfrm>
            <a:off x="2739200" y="4174315"/>
            <a:ext cx="274656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292827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~40-65hrs/month skilled DBA time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55A5BD5-A995-18C5-1784-3CD92F7DBC6F}"/>
              </a:ext>
            </a:extLst>
          </p:cNvPr>
          <p:cNvSpPr txBox="1"/>
          <p:nvPr/>
        </p:nvSpPr>
        <p:spPr>
          <a:xfrm>
            <a:off x="5689095" y="1337817"/>
            <a:ext cx="29065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 Semibold"/>
                <a:ea typeface="+mn-ea"/>
                <a:cs typeface="Segoe UI" panose="020B0502040204020203" pitchFamily="34" charset="0"/>
              </a:rPr>
              <a:t>Self-Managed SQL server on Azure VM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F2D6D70-4B66-FBD9-3422-DFC44DCC8DAA}"/>
              </a:ext>
            </a:extLst>
          </p:cNvPr>
          <p:cNvSpPr txBox="1"/>
          <p:nvPr/>
        </p:nvSpPr>
        <p:spPr>
          <a:xfrm>
            <a:off x="6172859" y="3295622"/>
            <a:ext cx="2363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≈ $1,430/month​</a:t>
            </a:r>
          </a:p>
        </p:txBody>
      </p:sp>
      <p:pic>
        <p:nvPicPr>
          <p:cNvPr id="149" name="Picture 148" descr="A white paper money with a circle in the middle">
            <a:extLst>
              <a:ext uri="{FF2B5EF4-FFF2-40B4-BE49-F238E27FC236}">
                <a16:creationId xmlns:a16="http://schemas.microsoft.com/office/drawing/2014/main" id="{870E7D76-1C74-158B-FAF9-3793DD724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543" y="3343093"/>
            <a:ext cx="192260" cy="180000"/>
          </a:xfrm>
          <a:prstGeom prst="rect">
            <a:avLst/>
          </a:prstGeom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AD6659FF-322F-DBD2-B6C3-D19E83CFD27A}"/>
              </a:ext>
            </a:extLst>
          </p:cNvPr>
          <p:cNvSpPr txBox="1"/>
          <p:nvPr/>
        </p:nvSpPr>
        <p:spPr>
          <a:xfrm>
            <a:off x="6172859" y="4679968"/>
            <a:ext cx="24091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≈ $1,600/month (avg)</a:t>
            </a:r>
          </a:p>
        </p:txBody>
      </p:sp>
      <p:pic>
        <p:nvPicPr>
          <p:cNvPr id="146" name="Picture 145" descr="A white paper money with a circle in the middle">
            <a:extLst>
              <a:ext uri="{FF2B5EF4-FFF2-40B4-BE49-F238E27FC236}">
                <a16:creationId xmlns:a16="http://schemas.microsoft.com/office/drawing/2014/main" id="{3926703B-21A8-BFDB-7C8D-E32F63F22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543" y="4727439"/>
            <a:ext cx="192260" cy="180000"/>
          </a:xfrm>
          <a:prstGeom prst="rect">
            <a:avLst/>
          </a:prstGeom>
        </p:spPr>
      </p:pic>
      <p:sp>
        <p:nvSpPr>
          <p:cNvPr id="134" name="TextBox 133">
            <a:extLst>
              <a:ext uri="{FF2B5EF4-FFF2-40B4-BE49-F238E27FC236}">
                <a16:creationId xmlns:a16="http://schemas.microsoft.com/office/drawing/2014/main" id="{DE613115-48E8-F493-7C99-824F751C3E5A}"/>
              </a:ext>
            </a:extLst>
          </p:cNvPr>
          <p:cNvSpPr txBox="1"/>
          <p:nvPr/>
        </p:nvSpPr>
        <p:spPr>
          <a:xfrm>
            <a:off x="5854934" y="1818767"/>
            <a:ext cx="2748765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292827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2 × D8ds_v5 ≈ $330 each → $660/month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B944691-C2FD-4AE4-8022-5897066D67DC}"/>
              </a:ext>
            </a:extLst>
          </p:cNvPr>
          <p:cNvSpPr txBox="1"/>
          <p:nvPr/>
        </p:nvSpPr>
        <p:spPr>
          <a:xfrm>
            <a:off x="5854934" y="2256507"/>
            <a:ext cx="283397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292827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2 × 1 TB Premium SSD ≈ $160/month​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761DFE4-D1F0-9C06-D659-185959343A8D}"/>
              </a:ext>
            </a:extLst>
          </p:cNvPr>
          <p:cNvSpPr txBox="1"/>
          <p:nvPr/>
        </p:nvSpPr>
        <p:spPr>
          <a:xfrm>
            <a:off x="5854934" y="2563333"/>
            <a:ext cx="2748765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292827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Manual setup; ≈ $560/month​​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937A8B5-C7A5-4A02-CE6A-A46A3BC41738}"/>
              </a:ext>
            </a:extLst>
          </p:cNvPr>
          <p:cNvSpPr txBox="1"/>
          <p:nvPr/>
        </p:nvSpPr>
        <p:spPr>
          <a:xfrm>
            <a:off x="5854934" y="2957822"/>
            <a:ext cx="2748765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292827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Extra ≈ $50/month​​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CD8E6E1-09B7-8056-FE29-5620C46425B2}"/>
              </a:ext>
            </a:extLst>
          </p:cNvPr>
          <p:cNvSpPr txBox="1"/>
          <p:nvPr/>
        </p:nvSpPr>
        <p:spPr>
          <a:xfrm>
            <a:off x="5854934" y="3726249"/>
            <a:ext cx="2748765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292827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Patching OS/DB, backups, HA failover design/testing, monitoring, incident response​​​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58EF8B3-387B-69F8-D218-22D18E790D9F}"/>
              </a:ext>
            </a:extLst>
          </p:cNvPr>
          <p:cNvSpPr txBox="1"/>
          <p:nvPr/>
        </p:nvSpPr>
        <p:spPr>
          <a:xfrm>
            <a:off x="5854934" y="4251259"/>
            <a:ext cx="2748765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292827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~30–50 hrs/month skilled DBA time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E7E6A8C-A1EF-06A7-8584-298E4300F514}"/>
              </a:ext>
            </a:extLst>
          </p:cNvPr>
          <p:cNvSpPr txBox="1"/>
          <p:nvPr/>
        </p:nvSpPr>
        <p:spPr>
          <a:xfrm>
            <a:off x="8979660" y="1337817"/>
            <a:ext cx="27316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 Semibold"/>
                <a:ea typeface="+mn-ea"/>
                <a:cs typeface="Segoe UI" panose="020B0502040204020203" pitchFamily="34" charset="0"/>
              </a:rPr>
              <a:t>Azure SQL Managed Instance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45265088-DF65-0AD4-F767-D23E88ABCC43}"/>
              </a:ext>
            </a:extLst>
          </p:cNvPr>
          <p:cNvSpPr txBox="1"/>
          <p:nvPr/>
        </p:nvSpPr>
        <p:spPr>
          <a:xfrm>
            <a:off x="9376008" y="3295622"/>
            <a:ext cx="23586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≈ $1,200 –1,300/month​</a:t>
            </a:r>
          </a:p>
        </p:txBody>
      </p:sp>
      <p:pic>
        <p:nvPicPr>
          <p:cNvPr id="172" name="Picture 171" descr="A white paper money with a circle in the middle">
            <a:extLst>
              <a:ext uri="{FF2B5EF4-FFF2-40B4-BE49-F238E27FC236}">
                <a16:creationId xmlns:a16="http://schemas.microsoft.com/office/drawing/2014/main" id="{9C7EE59B-FFCD-62DE-10BC-D56E550FD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692" y="3343093"/>
            <a:ext cx="191902" cy="180000"/>
          </a:xfrm>
          <a:prstGeom prst="rect">
            <a:avLst/>
          </a:prstGeom>
        </p:spPr>
      </p:pic>
      <p:sp>
        <p:nvSpPr>
          <p:cNvPr id="168" name="TextBox 167">
            <a:extLst>
              <a:ext uri="{FF2B5EF4-FFF2-40B4-BE49-F238E27FC236}">
                <a16:creationId xmlns:a16="http://schemas.microsoft.com/office/drawing/2014/main" id="{30811AA3-666A-E531-73F8-5F25D8CDCB8C}"/>
              </a:ext>
            </a:extLst>
          </p:cNvPr>
          <p:cNvSpPr txBox="1"/>
          <p:nvPr/>
        </p:nvSpPr>
        <p:spPr>
          <a:xfrm>
            <a:off x="9376008" y="4679968"/>
            <a:ext cx="24046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≈ $540/month (avg)</a:t>
            </a:r>
          </a:p>
        </p:txBody>
      </p:sp>
      <p:pic>
        <p:nvPicPr>
          <p:cNvPr id="169" name="Picture 168" descr="A white paper money with a circle in the middle">
            <a:extLst>
              <a:ext uri="{FF2B5EF4-FFF2-40B4-BE49-F238E27FC236}">
                <a16:creationId xmlns:a16="http://schemas.microsoft.com/office/drawing/2014/main" id="{892832DA-0152-4431-6188-0EF2AEFC1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692" y="4727439"/>
            <a:ext cx="191902" cy="180000"/>
          </a:xfrm>
          <a:prstGeom prst="rect">
            <a:avLst/>
          </a:prstGeom>
        </p:spPr>
      </p:pic>
      <p:sp>
        <p:nvSpPr>
          <p:cNvPr id="7" name="object 14">
            <a:extLst>
              <a:ext uri="{FF2B5EF4-FFF2-40B4-BE49-F238E27FC236}">
                <a16:creationId xmlns:a16="http://schemas.microsoft.com/office/drawing/2014/main" id="{0676B5DC-919F-A065-E3A0-EA717E946C41}"/>
              </a:ext>
            </a:extLst>
          </p:cNvPr>
          <p:cNvSpPr txBox="1">
            <a:spLocks/>
          </p:cNvSpPr>
          <p:nvPr/>
        </p:nvSpPr>
        <p:spPr>
          <a:xfrm>
            <a:off x="5829863" y="6145093"/>
            <a:ext cx="2748765" cy="374026"/>
          </a:xfrm>
          <a:prstGeom prst="roundRect">
            <a:avLst/>
          </a:prstGeom>
          <a:gradFill flip="none" rotWithShape="1">
            <a:gsLst>
              <a:gs pos="50000">
                <a:schemeClr val="tx2">
                  <a:lumMod val="75000"/>
                  <a:lumOff val="25000"/>
                </a:schemeClr>
              </a:gs>
              <a:gs pos="1000">
                <a:schemeClr val="tx2">
                  <a:lumMod val="50000"/>
                  <a:lumOff val="50000"/>
                </a:schemeClr>
              </a:gs>
            </a:gsLst>
            <a:lin ang="7800000" scaled="0"/>
            <a:tileRect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932472" fontAlgn="base">
              <a:spcBef>
                <a:spcPct val="0"/>
              </a:spcBef>
              <a:spcAft>
                <a:spcPct val="0"/>
              </a:spcAft>
              <a:defRPr sz="1600" kern="0">
                <a:latin typeface="+mj-lt"/>
                <a:cs typeface="Segoe Sans Display ExtraBold" pitchFamily="2" charset="0"/>
              </a:defRPr>
            </a:lvl1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 Semibold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10" name="object 14">
            <a:extLst>
              <a:ext uri="{FF2B5EF4-FFF2-40B4-BE49-F238E27FC236}">
                <a16:creationId xmlns:a16="http://schemas.microsoft.com/office/drawing/2014/main" id="{430DE576-5BBF-8DCA-0519-8903F5CCC254}"/>
              </a:ext>
            </a:extLst>
          </p:cNvPr>
          <p:cNvSpPr txBox="1">
            <a:spLocks/>
          </p:cNvSpPr>
          <p:nvPr/>
        </p:nvSpPr>
        <p:spPr>
          <a:xfrm>
            <a:off x="9016739" y="6145093"/>
            <a:ext cx="2743643" cy="374026"/>
          </a:xfrm>
          <a:prstGeom prst="roundRect">
            <a:avLst/>
          </a:prstGeom>
          <a:gradFill flip="none" rotWithShape="1">
            <a:gsLst>
              <a:gs pos="50000">
                <a:schemeClr val="tx2">
                  <a:lumMod val="75000"/>
                  <a:lumOff val="25000"/>
                </a:schemeClr>
              </a:gs>
              <a:gs pos="1000">
                <a:schemeClr val="tx2">
                  <a:lumMod val="50000"/>
                  <a:lumOff val="50000"/>
                </a:schemeClr>
              </a:gs>
            </a:gsLst>
            <a:lin ang="7800000" scaled="0"/>
            <a:tileRect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932472" fontAlgn="base">
              <a:spcBef>
                <a:spcPct val="0"/>
              </a:spcBef>
              <a:spcAft>
                <a:spcPct val="0"/>
              </a:spcAft>
              <a:defRPr sz="1600" kern="0">
                <a:latin typeface="+mj-lt"/>
                <a:cs typeface="Segoe Sans Display ExtraBold" pitchFamily="2" charset="0"/>
              </a:defRPr>
            </a:lvl1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 Semibold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922CD39-9F80-6025-F376-CF5FE25CC329}"/>
              </a:ext>
            </a:extLst>
          </p:cNvPr>
          <p:cNvSpPr txBox="1"/>
          <p:nvPr/>
        </p:nvSpPr>
        <p:spPr>
          <a:xfrm>
            <a:off x="562482" y="6193606"/>
            <a:ext cx="18554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cs typeface="Segoe Sans Tex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Annualized Savings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46F1D78-8A03-F277-434A-E9D68B4C5120}"/>
              </a:ext>
            </a:extLst>
          </p:cNvPr>
          <p:cNvGrpSpPr/>
          <p:nvPr/>
        </p:nvGrpSpPr>
        <p:grpSpPr>
          <a:xfrm>
            <a:off x="5989870" y="6201735"/>
            <a:ext cx="1863886" cy="261610"/>
            <a:chOff x="2894809" y="6212607"/>
            <a:chExt cx="1745028" cy="261610"/>
          </a:xfrm>
        </p:grpSpPr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0188A833-CB13-9A69-7BCE-D1391A571898}"/>
                </a:ext>
              </a:extLst>
            </p:cNvPr>
            <p:cNvSpPr txBox="1"/>
            <p:nvPr/>
          </p:nvSpPr>
          <p:spPr>
            <a:xfrm>
              <a:off x="3057125" y="6212607"/>
              <a:ext cx="158271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$11,460 (~24% saved)</a:t>
              </a:r>
            </a:p>
          </p:txBody>
        </p:sp>
        <p:pic>
          <p:nvPicPr>
            <p:cNvPr id="143" name="Picture 142" descr="A white paper money with a circle in the middle">
              <a:extLst>
                <a:ext uri="{FF2B5EF4-FFF2-40B4-BE49-F238E27FC236}">
                  <a16:creationId xmlns:a16="http://schemas.microsoft.com/office/drawing/2014/main" id="{C76B788B-7012-A05F-412B-2689FCCCA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4809" y="6260078"/>
              <a:ext cx="180000" cy="180000"/>
            </a:xfrm>
            <a:prstGeom prst="rect">
              <a:avLst/>
            </a:prstGeom>
          </p:spPr>
        </p:pic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7AFF60FB-2ACF-1AFF-88C7-1EA156FE8B70}"/>
              </a:ext>
            </a:extLst>
          </p:cNvPr>
          <p:cNvSpPr txBox="1"/>
          <p:nvPr/>
        </p:nvSpPr>
        <p:spPr>
          <a:xfrm>
            <a:off x="9366067" y="6201735"/>
            <a:ext cx="19294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$29,330 (~60% saved)</a:t>
            </a:r>
          </a:p>
        </p:txBody>
      </p:sp>
      <p:pic>
        <p:nvPicPr>
          <p:cNvPr id="166" name="Picture 165" descr="A white paper money with a circle in the middle">
            <a:extLst>
              <a:ext uri="{FF2B5EF4-FFF2-40B4-BE49-F238E27FC236}">
                <a16:creationId xmlns:a16="http://schemas.microsoft.com/office/drawing/2014/main" id="{52514F6D-39C7-5EE2-C2AD-CC1387DDBC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3019" y="6249206"/>
            <a:ext cx="191902" cy="180000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F5A44FF8-A38D-DA22-DFA6-BFF11F082074}"/>
              </a:ext>
            </a:extLst>
          </p:cNvPr>
          <p:cNvSpPr txBox="1"/>
          <p:nvPr/>
        </p:nvSpPr>
        <p:spPr>
          <a:xfrm>
            <a:off x="9058083" y="1818767"/>
            <a:ext cx="2743643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292827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1 × 1GP Prod 8vCore ≈ $890/month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BCC7149-0E9E-100C-35D7-B88CBE279286}"/>
              </a:ext>
            </a:extLst>
          </p:cNvPr>
          <p:cNvSpPr txBox="1"/>
          <p:nvPr/>
        </p:nvSpPr>
        <p:spPr>
          <a:xfrm>
            <a:off x="9058083" y="2256507"/>
            <a:ext cx="2743643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srgbClr val="292827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1 × 1 TB Premium SSD ≈ $115/month​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FA8B58F-BB4C-E7F7-FB34-7540D665804B}"/>
              </a:ext>
            </a:extLst>
          </p:cNvPr>
          <p:cNvSpPr txBox="1"/>
          <p:nvPr/>
        </p:nvSpPr>
        <p:spPr>
          <a:xfrm>
            <a:off x="9058083" y="2950128"/>
            <a:ext cx="2743643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Built-in; replication traffic included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292827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​​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EC18CEE-4B79-EDA4-1776-A9D3408C7BE4}"/>
              </a:ext>
            </a:extLst>
          </p:cNvPr>
          <p:cNvSpPr txBox="1"/>
          <p:nvPr/>
        </p:nvSpPr>
        <p:spPr>
          <a:xfrm>
            <a:off x="9058083" y="3726249"/>
            <a:ext cx="2743643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t>Minimal: schema changes, tuning, scaling; patching/HA/backups automated</a:t>
            </a: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292827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​​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4F5CA43-7445-11FE-2344-397C35A4BEC6}"/>
              </a:ext>
            </a:extLst>
          </p:cNvPr>
          <p:cNvSpPr txBox="1"/>
          <p:nvPr/>
        </p:nvSpPr>
        <p:spPr>
          <a:xfrm>
            <a:off x="9058083" y="4174315"/>
            <a:ext cx="2743643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t>~12–15 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t>hrs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t>/month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3452405-2BAF-9CAB-99D1-3B1EF53BA7C3}"/>
              </a:ext>
            </a:extLst>
          </p:cNvPr>
          <p:cNvGrpSpPr/>
          <p:nvPr/>
        </p:nvGrpSpPr>
        <p:grpSpPr>
          <a:xfrm>
            <a:off x="562482" y="5492978"/>
            <a:ext cx="11218572" cy="276999"/>
            <a:chOff x="562482" y="5557370"/>
            <a:chExt cx="11218572" cy="276999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5D70B39C-B248-C96F-4657-D3A178483A8F}"/>
                </a:ext>
              </a:extLst>
            </p:cNvPr>
            <p:cNvSpPr txBox="1"/>
            <p:nvPr/>
          </p:nvSpPr>
          <p:spPr>
            <a:xfrm>
              <a:off x="562482" y="5557370"/>
              <a:ext cx="185546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Total Monthly OPEX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0FE7286A-0DAD-64A5-F45B-89E618E842A9}"/>
                </a:ext>
              </a:extLst>
            </p:cNvPr>
            <p:cNvSpPr txBox="1"/>
            <p:nvPr/>
          </p:nvSpPr>
          <p:spPr>
            <a:xfrm>
              <a:off x="2718528" y="5568585"/>
              <a:ext cx="2746560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292827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≈ $2,735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AA50AF04-0FC3-A7CF-FD37-7B3B52B74FBA}"/>
                </a:ext>
              </a:extLst>
            </p:cNvPr>
            <p:cNvSpPr txBox="1"/>
            <p:nvPr/>
          </p:nvSpPr>
          <p:spPr>
            <a:xfrm>
              <a:off x="5834262" y="5568585"/>
              <a:ext cx="2748765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292827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≈ $3,030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AFC73E97-310C-A4FA-8F2E-D7D0D5FBDDEA}"/>
                </a:ext>
              </a:extLst>
            </p:cNvPr>
            <p:cNvSpPr txBox="1"/>
            <p:nvPr/>
          </p:nvSpPr>
          <p:spPr>
            <a:xfrm>
              <a:off x="9037411" y="5568585"/>
              <a:ext cx="2743643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292827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≈ $1,540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126B693-BE91-A4CD-B002-639D3B0E5DB8}"/>
              </a:ext>
            </a:extLst>
          </p:cNvPr>
          <p:cNvGrpSpPr/>
          <p:nvPr/>
        </p:nvGrpSpPr>
        <p:grpSpPr>
          <a:xfrm>
            <a:off x="562482" y="5819036"/>
            <a:ext cx="11218572" cy="276999"/>
            <a:chOff x="562482" y="5882537"/>
            <a:chExt cx="11218572" cy="276999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26D4D41-A6AF-11AD-106C-7CDF93BB4B8D}"/>
                </a:ext>
              </a:extLst>
            </p:cNvPr>
            <p:cNvSpPr txBox="1"/>
            <p:nvPr/>
          </p:nvSpPr>
          <p:spPr>
            <a:xfrm>
              <a:off x="562482" y="5882537"/>
              <a:ext cx="185546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Annualized OPEX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2484B815-FAFA-042A-CE81-A4B6E0FFB8AD}"/>
                </a:ext>
              </a:extLst>
            </p:cNvPr>
            <p:cNvSpPr txBox="1"/>
            <p:nvPr/>
          </p:nvSpPr>
          <p:spPr>
            <a:xfrm>
              <a:off x="2718528" y="5895140"/>
              <a:ext cx="2746560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292827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≈ $47,820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D54CBE4D-24FA-4764-3EA9-F7AD29E263D3}"/>
                </a:ext>
              </a:extLst>
            </p:cNvPr>
            <p:cNvSpPr txBox="1"/>
            <p:nvPr/>
          </p:nvSpPr>
          <p:spPr>
            <a:xfrm>
              <a:off x="5834262" y="5895140"/>
              <a:ext cx="2748765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292827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≈ $36,360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E6747B06-F237-B895-A783-60FA141B8F4F}"/>
                </a:ext>
              </a:extLst>
            </p:cNvPr>
            <p:cNvSpPr txBox="1"/>
            <p:nvPr/>
          </p:nvSpPr>
          <p:spPr>
            <a:xfrm>
              <a:off x="9037411" y="5895140"/>
              <a:ext cx="2743643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292827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≈ $18,480</a:t>
              </a:r>
            </a:p>
          </p:txBody>
        </p:sp>
      </p:grpSp>
      <p:sp>
        <p:nvSpPr>
          <p:cNvPr id="174" name="TextBox 173">
            <a:extLst>
              <a:ext uri="{FF2B5EF4-FFF2-40B4-BE49-F238E27FC236}">
                <a16:creationId xmlns:a16="http://schemas.microsoft.com/office/drawing/2014/main" id="{974AA613-FEFE-75B7-4A01-4FC4040830E2}"/>
              </a:ext>
            </a:extLst>
          </p:cNvPr>
          <p:cNvSpPr txBox="1"/>
          <p:nvPr/>
        </p:nvSpPr>
        <p:spPr>
          <a:xfrm>
            <a:off x="8786504" y="480882"/>
            <a:ext cx="3216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327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80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IN" sz="900" b="0" i="1" u="none" strike="noStrike" kern="1200" cap="none" spc="0" normalizeH="0" baseline="0" noProof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Estimating skilled DBA time at ≈ $40 per hour. Ops hours increase disproportionately with deployment size</a:t>
            </a:r>
            <a:endParaRPr kumimoji="0" lang="en-US" sz="900" b="0" i="1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8F5B221-BFF4-93C4-2E5F-FEB461C9CDDE}"/>
              </a:ext>
            </a:extLst>
          </p:cNvPr>
          <p:cNvGrpSpPr/>
          <p:nvPr/>
        </p:nvGrpSpPr>
        <p:grpSpPr>
          <a:xfrm>
            <a:off x="562482" y="5166920"/>
            <a:ext cx="11218572" cy="276999"/>
            <a:chOff x="562482" y="5206676"/>
            <a:chExt cx="11218572" cy="27699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E191662-733F-88BE-6679-34D15D0B3128}"/>
                </a:ext>
              </a:extLst>
            </p:cNvPr>
            <p:cNvSpPr txBox="1"/>
            <p:nvPr/>
          </p:nvSpPr>
          <p:spPr>
            <a:xfrm>
              <a:off x="562482" y="5206676"/>
              <a:ext cx="185546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Total CAPEX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8D83AF6-C3DD-1B4C-E097-2C1B1C58C184}"/>
                </a:ext>
              </a:extLst>
            </p:cNvPr>
            <p:cNvSpPr txBox="1"/>
            <p:nvPr/>
          </p:nvSpPr>
          <p:spPr>
            <a:xfrm>
              <a:off x="2718528" y="5219279"/>
              <a:ext cx="2746560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292827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≈ $15,000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F4B1AB6-09D0-AE1B-6840-66362D022680}"/>
                </a:ext>
              </a:extLst>
            </p:cNvPr>
            <p:cNvSpPr txBox="1"/>
            <p:nvPr/>
          </p:nvSpPr>
          <p:spPr>
            <a:xfrm>
              <a:off x="5834262" y="5219279"/>
              <a:ext cx="2748765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292827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≈ $0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C9B8897-AE92-AE1D-421A-96B8DAC80013}"/>
                </a:ext>
              </a:extLst>
            </p:cNvPr>
            <p:cNvSpPr txBox="1"/>
            <p:nvPr/>
          </p:nvSpPr>
          <p:spPr>
            <a:xfrm>
              <a:off x="9037411" y="5219279"/>
              <a:ext cx="2743643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292827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≈ $0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70D78B5-BE49-AA82-16ED-DBE491F9063F}"/>
              </a:ext>
            </a:extLst>
          </p:cNvPr>
          <p:cNvSpPr txBox="1"/>
          <p:nvPr/>
        </p:nvSpPr>
        <p:spPr>
          <a:xfrm>
            <a:off x="251791" y="36443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4D8D86-7285-C060-7949-B4E7FE58C551}"/>
              </a:ext>
            </a:extLst>
          </p:cNvPr>
          <p:cNvSpPr txBox="1"/>
          <p:nvPr/>
        </p:nvSpPr>
        <p:spPr>
          <a:xfrm>
            <a:off x="9058083" y="2561629"/>
            <a:ext cx="2743643" cy="3055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92827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Automated, included (extra billed only if &gt; free allowance)​</a:t>
            </a:r>
          </a:p>
        </p:txBody>
      </p:sp>
      <p:sp>
        <p:nvSpPr>
          <p:cNvPr id="2" name="TextBox 1" descr="&lt;boolview&gt;&lt;No_SQL_Databases&gt;">
            <a:extLst>
              <a:ext uri="{FF2B5EF4-FFF2-40B4-BE49-F238E27FC236}">
                <a16:creationId xmlns:a16="http://schemas.microsoft.com/office/drawing/2014/main" id="{F92C6629-75D4-7FD6-4E58-8E2A1DB83B46}"/>
              </a:ext>
            </a:extLst>
          </p:cNvPr>
          <p:cNvSpPr txBox="1"/>
          <p:nvPr/>
        </p:nvSpPr>
        <p:spPr>
          <a:xfrm>
            <a:off x="6593138" y="323121"/>
            <a:ext cx="165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2012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A19D1-B22B-2E36-CC0E-66BB7EBFC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">
            <a:extLst>
              <a:ext uri="{FF2B5EF4-FFF2-40B4-BE49-F238E27FC236}">
                <a16:creationId xmlns:a16="http://schemas.microsoft.com/office/drawing/2014/main" id="{5ECE6FD4-DFB9-5A47-00D3-3868D25E0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7200"/>
            <a:ext cx="11018520" cy="553998"/>
          </a:xfrm>
        </p:spPr>
        <p:txBody>
          <a:bodyPr>
            <a:normAutofit/>
          </a:bodyPr>
          <a:lstStyle/>
          <a:p>
            <a:r>
              <a:rPr lang="en-US" sz="2800">
                <a:latin typeface="Segoe Sans Text" pitchFamily="2" charset="0"/>
                <a:cs typeface="Segoe Sans Text" pitchFamily="2" charset="0"/>
              </a:rPr>
              <a:t>Security Risks in Discovered Servers</a:t>
            </a:r>
            <a:endParaRPr lang="en-IN" sz="2800">
              <a:latin typeface="Segoe Sans Text" pitchFamily="2" charset="0"/>
              <a:cs typeface="Segoe Sans Text" pitchFamily="2" charset="0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B94F17A3-00A9-9415-48BC-8774A3E10BC6}"/>
              </a:ext>
            </a:extLst>
          </p:cNvPr>
          <p:cNvSpPr txBox="1"/>
          <p:nvPr/>
        </p:nvSpPr>
        <p:spPr>
          <a:xfrm>
            <a:off x="597480" y="922704"/>
            <a:ext cx="23887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Discovered servers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231" name="TextBox 230" descr="2">
            <a:extLst>
              <a:ext uri="{FF2B5EF4-FFF2-40B4-BE49-F238E27FC236}">
                <a16:creationId xmlns:a16="http://schemas.microsoft.com/office/drawing/2014/main" id="{BCC1DDF5-7C76-269C-74FC-80AB3C028CB1}"/>
              </a:ext>
            </a:extLst>
          </p:cNvPr>
          <p:cNvSpPr txBox="1"/>
          <p:nvPr/>
        </p:nvSpPr>
        <p:spPr>
          <a:xfrm>
            <a:off x="586489" y="1196790"/>
            <a:ext cx="7977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AD4EB1B-A30E-9CBC-8EC3-33EA1989AA95}"/>
              </a:ext>
            </a:extLst>
          </p:cNvPr>
          <p:cNvSpPr>
            <a:spLocks/>
          </p:cNvSpPr>
          <p:nvPr/>
        </p:nvSpPr>
        <p:spPr>
          <a:xfrm flipH="1" flipV="1">
            <a:off x="597479" y="1596900"/>
            <a:ext cx="11268077" cy="5108703"/>
          </a:xfrm>
          <a:prstGeom prst="roundRect">
            <a:avLst>
              <a:gd name="adj" fmla="val 1736"/>
            </a:avLst>
          </a:prstGeom>
          <a:gradFill>
            <a:gsLst>
              <a:gs pos="99000">
                <a:srgbClr val="F0F0F0"/>
              </a:gs>
              <a:gs pos="0">
                <a:srgbClr val="F0F0F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34488D4-6F29-6804-4633-18F6EB296F46}"/>
              </a:ext>
            </a:extLst>
          </p:cNvPr>
          <p:cNvSpPr>
            <a:spLocks/>
          </p:cNvSpPr>
          <p:nvPr/>
        </p:nvSpPr>
        <p:spPr>
          <a:xfrm flipH="1" flipV="1">
            <a:off x="7900419" y="1991652"/>
            <a:ext cx="3851296" cy="4569404"/>
          </a:xfrm>
          <a:prstGeom prst="roundRect">
            <a:avLst>
              <a:gd name="adj" fmla="val 29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E83E601-CC38-FE6C-62FD-EAE0E19B2C75}"/>
              </a:ext>
            </a:extLst>
          </p:cNvPr>
          <p:cNvSpPr>
            <a:spLocks/>
          </p:cNvSpPr>
          <p:nvPr/>
        </p:nvSpPr>
        <p:spPr>
          <a:xfrm flipH="1" flipV="1">
            <a:off x="732389" y="4219596"/>
            <a:ext cx="7018011" cy="2341460"/>
          </a:xfrm>
          <a:prstGeom prst="roundRect">
            <a:avLst>
              <a:gd name="adj" fmla="val 29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1D384FF-0918-B1B8-FCDC-15A70387D6C8}"/>
              </a:ext>
            </a:extLst>
          </p:cNvPr>
          <p:cNvSpPr>
            <a:spLocks/>
          </p:cNvSpPr>
          <p:nvPr/>
        </p:nvSpPr>
        <p:spPr>
          <a:xfrm flipH="1" flipV="1">
            <a:off x="732391" y="2017776"/>
            <a:ext cx="7018011" cy="2035477"/>
          </a:xfrm>
          <a:prstGeom prst="roundRect">
            <a:avLst>
              <a:gd name="adj" fmla="val 29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0D8B7C-1605-5580-88B5-62205E4D6CD5}"/>
              </a:ext>
            </a:extLst>
          </p:cNvPr>
          <p:cNvSpPr/>
          <p:nvPr/>
        </p:nvSpPr>
        <p:spPr bwMode="auto">
          <a:xfrm>
            <a:off x="911090" y="3831743"/>
            <a:ext cx="6374613" cy="15009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Enable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Microsoft Defender for Cloud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to address missing security controls, mitigate critical vulnerabilities, and reduce risk.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8EDED1-7D1B-8396-6795-3A65291A1625}"/>
              </a:ext>
            </a:extLst>
          </p:cNvPr>
          <p:cNvSpPr txBox="1"/>
          <p:nvPr/>
        </p:nvSpPr>
        <p:spPr>
          <a:xfrm>
            <a:off x="799406" y="1644248"/>
            <a:ext cx="26621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Unprotected servers 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0AD115E-6058-CF8F-970C-15F990587841}"/>
              </a:ext>
            </a:extLst>
          </p:cNvPr>
          <p:cNvSpPr txBox="1">
            <a:spLocks/>
          </p:cNvSpPr>
          <p:nvPr/>
        </p:nvSpPr>
        <p:spPr>
          <a:xfrm>
            <a:off x="911296" y="4325304"/>
            <a:ext cx="3091122" cy="18466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-50" baseline="0" dirty="0">
                <a:ln w="3175">
                  <a:noFill/>
                </a:ln>
                <a:solidFill>
                  <a:srgbClr val="000000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50" normalizeH="0" baseline="0" noProof="0">
                <a:ln w="3175"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Servers with missing patch management software</a:t>
            </a:r>
          </a:p>
        </p:txBody>
      </p:sp>
      <p:sp>
        <p:nvSpPr>
          <p:cNvPr id="19" name="TextBox 18" descr="2/2">
            <a:extLst>
              <a:ext uri="{FF2B5EF4-FFF2-40B4-BE49-F238E27FC236}">
                <a16:creationId xmlns:a16="http://schemas.microsoft.com/office/drawing/2014/main" id="{A5258586-CC3B-56AB-D078-AE95047872B8}"/>
              </a:ext>
            </a:extLst>
          </p:cNvPr>
          <p:cNvSpPr txBox="1"/>
          <p:nvPr/>
        </p:nvSpPr>
        <p:spPr>
          <a:xfrm>
            <a:off x="835399" y="4486557"/>
            <a:ext cx="1198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2/2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EA13AB8-91A5-E926-3568-D062C8639283}"/>
              </a:ext>
            </a:extLst>
          </p:cNvPr>
          <p:cNvGrpSpPr/>
          <p:nvPr/>
        </p:nvGrpSpPr>
        <p:grpSpPr>
          <a:xfrm>
            <a:off x="4413058" y="4325304"/>
            <a:ext cx="3082985" cy="469030"/>
            <a:chOff x="4379585" y="4325304"/>
            <a:chExt cx="3082985" cy="469030"/>
          </a:xfrm>
        </p:grpSpPr>
        <p:sp>
          <p:nvSpPr>
            <p:cNvPr id="26" name="Title 1">
              <a:extLst>
                <a:ext uri="{FF2B5EF4-FFF2-40B4-BE49-F238E27FC236}">
                  <a16:creationId xmlns:a16="http://schemas.microsoft.com/office/drawing/2014/main" id="{2D47AB61-A177-1C4B-4BB2-AE8E15745F8D}"/>
                </a:ext>
              </a:extLst>
            </p:cNvPr>
            <p:cNvSpPr txBox="1">
              <a:spLocks/>
            </p:cNvSpPr>
            <p:nvPr/>
          </p:nvSpPr>
          <p:spPr>
            <a:xfrm>
              <a:off x="4453385" y="4325304"/>
              <a:ext cx="3009185" cy="184666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algn="l" defTabSz="932742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US" sz="2800" b="0" kern="1200" cap="none" spc="-50" baseline="0" dirty="0">
                  <a:ln w="3175"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+mn-ea"/>
                  <a:cs typeface="Segoe UI" pitchFamily="34" charset="0"/>
                </a:defRPr>
              </a:lvl1pPr>
            </a:lstStyle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50" normalizeH="0" baseline="0" noProof="0">
                  <a:ln w="3175"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Servers with pending security and critical updates</a:t>
              </a:r>
            </a:p>
          </p:txBody>
        </p:sp>
        <p:sp>
          <p:nvSpPr>
            <p:cNvPr id="28" name="TextBox 27" descr="2/2">
              <a:extLst>
                <a:ext uri="{FF2B5EF4-FFF2-40B4-BE49-F238E27FC236}">
                  <a16:creationId xmlns:a16="http://schemas.microsoft.com/office/drawing/2014/main" id="{93691B99-8E1D-96BF-1CA8-6D5A22BD9B29}"/>
                </a:ext>
              </a:extLst>
            </p:cNvPr>
            <p:cNvSpPr txBox="1"/>
            <p:nvPr/>
          </p:nvSpPr>
          <p:spPr>
            <a:xfrm>
              <a:off x="4379585" y="4486557"/>
              <a:ext cx="119896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2/2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2252A64D-3B5D-73BB-06B6-6367FD67343D}"/>
              </a:ext>
            </a:extLst>
          </p:cNvPr>
          <p:cNvSpPr txBox="1">
            <a:spLocks/>
          </p:cNvSpPr>
          <p:nvPr/>
        </p:nvSpPr>
        <p:spPr>
          <a:xfrm>
            <a:off x="911296" y="2124062"/>
            <a:ext cx="2401157" cy="18466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-50" baseline="0" dirty="0">
                <a:ln w="3175">
                  <a:noFill/>
                </a:ln>
                <a:solidFill>
                  <a:srgbClr val="000000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50" normalizeH="0" baseline="0" noProof="0">
                <a:ln w="3175"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Servers with missing security software</a:t>
            </a:r>
          </a:p>
        </p:txBody>
      </p:sp>
      <p:sp>
        <p:nvSpPr>
          <p:cNvPr id="30" name="TextBox 29" descr="2/2">
            <a:extLst>
              <a:ext uri="{FF2B5EF4-FFF2-40B4-BE49-F238E27FC236}">
                <a16:creationId xmlns:a16="http://schemas.microsoft.com/office/drawing/2014/main" id="{71950E48-FEA2-D73F-9C75-C2B0D54654A7}"/>
              </a:ext>
            </a:extLst>
          </p:cNvPr>
          <p:cNvSpPr txBox="1"/>
          <p:nvPr/>
        </p:nvSpPr>
        <p:spPr>
          <a:xfrm>
            <a:off x="835399" y="2272321"/>
            <a:ext cx="1198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2/2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EC338B6-2F64-BA48-1B54-0836EAB4A3F5}"/>
              </a:ext>
            </a:extLst>
          </p:cNvPr>
          <p:cNvGrpSpPr/>
          <p:nvPr/>
        </p:nvGrpSpPr>
        <p:grpSpPr>
          <a:xfrm>
            <a:off x="4413058" y="2124062"/>
            <a:ext cx="3099614" cy="456036"/>
            <a:chOff x="4379585" y="2124062"/>
            <a:chExt cx="3099614" cy="456036"/>
          </a:xfrm>
        </p:grpSpPr>
        <p:sp>
          <p:nvSpPr>
            <p:cNvPr id="32" name="Title 1">
              <a:extLst>
                <a:ext uri="{FF2B5EF4-FFF2-40B4-BE49-F238E27FC236}">
                  <a16:creationId xmlns:a16="http://schemas.microsoft.com/office/drawing/2014/main" id="{950CCC79-BB57-1235-B877-B2A38A2C29F6}"/>
                </a:ext>
              </a:extLst>
            </p:cNvPr>
            <p:cNvSpPr txBox="1">
              <a:spLocks/>
            </p:cNvSpPr>
            <p:nvPr/>
          </p:nvSpPr>
          <p:spPr>
            <a:xfrm>
              <a:off x="4461416" y="2124062"/>
              <a:ext cx="3017783" cy="184666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algn="l" defTabSz="932742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US" sz="2800" b="0" kern="1200" cap="none" spc="-50" baseline="0" dirty="0">
                  <a:ln w="3175"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+mn-ea"/>
                  <a:cs typeface="Segoe UI" pitchFamily="34" charset="0"/>
                </a:defRPr>
              </a:lvl1pPr>
            </a:lstStyle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50" normalizeH="0" baseline="0" noProof="0">
                  <a:ln w="3175"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Servers with security vulnerabilities</a:t>
              </a:r>
            </a:p>
          </p:txBody>
        </p:sp>
        <p:sp>
          <p:nvSpPr>
            <p:cNvPr id="33" name="TextBox 32" descr="1/2">
              <a:extLst>
                <a:ext uri="{FF2B5EF4-FFF2-40B4-BE49-F238E27FC236}">
                  <a16:creationId xmlns:a16="http://schemas.microsoft.com/office/drawing/2014/main" id="{0CAB209D-A690-46D1-E9AA-DEE9F18857F3}"/>
                </a:ext>
              </a:extLst>
            </p:cNvPr>
            <p:cNvSpPr txBox="1"/>
            <p:nvPr/>
          </p:nvSpPr>
          <p:spPr>
            <a:xfrm>
              <a:off x="4379585" y="2272321"/>
              <a:ext cx="119896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1/2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8DE9D71-F8D1-410A-3E48-EF94AE1190AD}"/>
              </a:ext>
            </a:extLst>
          </p:cNvPr>
          <p:cNvGrpSpPr/>
          <p:nvPr/>
        </p:nvGrpSpPr>
        <p:grpSpPr>
          <a:xfrm>
            <a:off x="8087355" y="2147780"/>
            <a:ext cx="3108424" cy="457148"/>
            <a:chOff x="8475115" y="2102960"/>
            <a:chExt cx="3108424" cy="457148"/>
          </a:xfrm>
        </p:grpSpPr>
        <p:sp>
          <p:nvSpPr>
            <p:cNvPr id="35" name="Title 1">
              <a:extLst>
                <a:ext uri="{FF2B5EF4-FFF2-40B4-BE49-F238E27FC236}">
                  <a16:creationId xmlns:a16="http://schemas.microsoft.com/office/drawing/2014/main" id="{9ECA8D4B-7CA0-ED3F-ED8A-499100F3333F}"/>
                </a:ext>
              </a:extLst>
            </p:cNvPr>
            <p:cNvSpPr txBox="1">
              <a:spLocks/>
            </p:cNvSpPr>
            <p:nvPr/>
          </p:nvSpPr>
          <p:spPr>
            <a:xfrm>
              <a:off x="8565756" y="2102960"/>
              <a:ext cx="3017783" cy="184666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algn="l" defTabSz="932742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US" sz="2800" b="0" kern="1200" cap="none" spc="-50" baseline="0" dirty="0">
                  <a:ln w="3175"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+mn-ea"/>
                  <a:cs typeface="Segoe UI" pitchFamily="34" charset="0"/>
                </a:defRPr>
              </a:lvl1pPr>
            </a:lstStyle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50" normalizeH="0" baseline="0" noProof="0">
                  <a:ln w="3175"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Servers with End of Support OS</a:t>
              </a:r>
            </a:p>
          </p:txBody>
        </p:sp>
        <p:sp>
          <p:nvSpPr>
            <p:cNvPr id="36" name="TextBox 35" descr="0/2">
              <a:extLst>
                <a:ext uri="{FF2B5EF4-FFF2-40B4-BE49-F238E27FC236}">
                  <a16:creationId xmlns:a16="http://schemas.microsoft.com/office/drawing/2014/main" id="{99CDB83D-E192-2A77-B089-5C0DCA9C01C9}"/>
                </a:ext>
              </a:extLst>
            </p:cNvPr>
            <p:cNvSpPr txBox="1"/>
            <p:nvPr/>
          </p:nvSpPr>
          <p:spPr>
            <a:xfrm>
              <a:off x="8475115" y="2252331"/>
              <a:ext cx="119896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0/2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E8F69E4-0631-F1F0-25D7-556CB3EB3409}"/>
              </a:ext>
            </a:extLst>
          </p:cNvPr>
          <p:cNvGrpSpPr/>
          <p:nvPr/>
        </p:nvGrpSpPr>
        <p:grpSpPr>
          <a:xfrm>
            <a:off x="8087355" y="4316112"/>
            <a:ext cx="2483260" cy="498259"/>
            <a:chOff x="8526061" y="4316112"/>
            <a:chExt cx="2483260" cy="498259"/>
          </a:xfrm>
        </p:grpSpPr>
        <p:sp>
          <p:nvSpPr>
            <p:cNvPr id="38" name="Title 1">
              <a:extLst>
                <a:ext uri="{FF2B5EF4-FFF2-40B4-BE49-F238E27FC236}">
                  <a16:creationId xmlns:a16="http://schemas.microsoft.com/office/drawing/2014/main" id="{95C52A5F-657A-D0A7-710E-0F9AC2B48EBD}"/>
                </a:ext>
              </a:extLst>
            </p:cNvPr>
            <p:cNvSpPr txBox="1">
              <a:spLocks/>
            </p:cNvSpPr>
            <p:nvPr/>
          </p:nvSpPr>
          <p:spPr>
            <a:xfrm>
              <a:off x="8589337" y="4316112"/>
              <a:ext cx="2419984" cy="184666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algn="l" defTabSz="932742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US" sz="2800" b="0" kern="1200" cap="none" spc="-50" baseline="0" dirty="0">
                  <a:ln w="3175"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+mn-ea"/>
                  <a:cs typeface="Segoe UI" pitchFamily="34" charset="0"/>
                </a:defRPr>
              </a:lvl1pPr>
            </a:lstStyle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50" normalizeH="0" baseline="0" noProof="0">
                  <a:ln w="3175"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Servers with End of Support software</a:t>
              </a:r>
            </a:p>
          </p:txBody>
        </p:sp>
        <p:sp>
          <p:nvSpPr>
            <p:cNvPr id="39" name="TextBox 38" descr="0/2">
              <a:extLst>
                <a:ext uri="{FF2B5EF4-FFF2-40B4-BE49-F238E27FC236}">
                  <a16:creationId xmlns:a16="http://schemas.microsoft.com/office/drawing/2014/main" id="{EF8ABE6A-3056-919B-241A-E5DB18C2F3C4}"/>
                </a:ext>
              </a:extLst>
            </p:cNvPr>
            <p:cNvSpPr txBox="1"/>
            <p:nvPr/>
          </p:nvSpPr>
          <p:spPr>
            <a:xfrm>
              <a:off x="8526061" y="4506594"/>
              <a:ext cx="119896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Sans Text" pitchFamily="2" charset="0"/>
                  <a:ea typeface="+mn-ea"/>
                  <a:cs typeface="Segoe Sans Text" pitchFamily="2" charset="0"/>
                </a:rPr>
                <a:t>0/2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endParaRP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B5BBD4B6-C68F-538E-EE63-BC29A751BFBC}"/>
              </a:ext>
            </a:extLst>
          </p:cNvPr>
          <p:cNvSpPr/>
          <p:nvPr/>
        </p:nvSpPr>
        <p:spPr bwMode="auto">
          <a:xfrm>
            <a:off x="732393" y="6158539"/>
            <a:ext cx="6882800" cy="333574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Leverage 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Azure Update Manager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 to standardize patch management, ensure timely security and critical updates, and maintain consistent compliance across servers.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9D40607-9697-9527-A754-09F6954B44D9}"/>
              </a:ext>
            </a:extLst>
          </p:cNvPr>
          <p:cNvSpPr/>
          <p:nvPr/>
        </p:nvSpPr>
        <p:spPr bwMode="auto">
          <a:xfrm>
            <a:off x="8009165" y="6158538"/>
            <a:ext cx="3585356" cy="33357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Upgrade or modernize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end-of-support operating systems and software to improve security and maintain compliance.</a:t>
            </a:r>
            <a:b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</a:b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Text" pitchFamily="2" charset="0"/>
              <a:ea typeface="+mn-ea"/>
              <a:cs typeface="Segoe Sans Text" pitchFamily="2" charset="0"/>
            </a:endParaRPr>
          </a:p>
        </p:txBody>
      </p:sp>
      <p:graphicFrame>
        <p:nvGraphicFramePr>
          <p:cNvPr id="42" name="Table 41" descr="&lt;table&gt;&lt;SecuritySoftwareAbsentTable&gt;">
            <a:extLst>
              <a:ext uri="{FF2B5EF4-FFF2-40B4-BE49-F238E27FC236}">
                <a16:creationId xmlns:a16="http://schemas.microsoft.com/office/drawing/2014/main" id="{E1E81BDC-55E8-4A22-3D7A-126F70C34645}"/>
              </a:ext>
            </a:extLst>
          </p:cNvPr>
          <p:cNvGraphicFramePr>
            <a:graphicFrameLocks noGrp="1"/>
          </p:cNvGraphicFramePr>
          <p:nvPr/>
        </p:nvGraphicFramePr>
        <p:xfrm>
          <a:off x="2172521" y="2693380"/>
          <a:ext cx="1968308" cy="883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0555">
                  <a:extLst>
                    <a:ext uri="{9D8B030D-6E8A-4147-A177-3AD203B41FA5}">
                      <a16:colId xmlns:a16="http://schemas.microsoft.com/office/drawing/2014/main" val="2874979437"/>
                    </a:ext>
                  </a:extLst>
                </a:gridCol>
                <a:gridCol w="567753">
                  <a:extLst>
                    <a:ext uri="{9D8B030D-6E8A-4147-A177-3AD203B41FA5}">
                      <a16:colId xmlns:a16="http://schemas.microsoft.com/office/drawing/2014/main" val="3724713585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7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cs typeface="Segoe Sans Text" pitchFamily="2" charset="0"/>
                        </a:rPr>
                        <a:t>Top Server OS</a:t>
                      </a:r>
                      <a:endParaRPr kumimoji="0" lang="en-IN" sz="7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0" lang="en-IN" sz="7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cs typeface="Segoe Sans Text" pitchFamily="2" charset="0"/>
                        </a:rPr>
                        <a:t>Server (#)</a:t>
                      </a:r>
                      <a:endParaRPr kumimoji="0" lang="en-US" sz="7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1789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Windows Server 2022 Server Standard</a:t>
                      </a: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2</a:t>
                      </a: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650550"/>
                  </a:ext>
                </a:extLst>
              </a:tr>
            </a:tbl>
          </a:graphicData>
        </a:graphic>
      </p:graphicFrame>
      <p:graphicFrame>
        <p:nvGraphicFramePr>
          <p:cNvPr id="43" name="Chart 42" descr="&lt;pie chart&gt;&lt;SecuritySoftwareAbsentChart&gt;">
            <a:extLst>
              <a:ext uri="{FF2B5EF4-FFF2-40B4-BE49-F238E27FC236}">
                <a16:creationId xmlns:a16="http://schemas.microsoft.com/office/drawing/2014/main" id="{96FFBA75-74D0-266F-1788-1E4478ED9A90}"/>
              </a:ext>
            </a:extLst>
          </p:cNvPr>
          <p:cNvGraphicFramePr/>
          <p:nvPr/>
        </p:nvGraphicFramePr>
        <p:xfrm>
          <a:off x="799406" y="2596262"/>
          <a:ext cx="1104942" cy="10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4" name="Table 43" descr="&lt;table&gt;&lt;SecurityVulnerabilitiesTable&gt;">
            <a:extLst>
              <a:ext uri="{FF2B5EF4-FFF2-40B4-BE49-F238E27FC236}">
                <a16:creationId xmlns:a16="http://schemas.microsoft.com/office/drawing/2014/main" id="{F59C75A4-25DE-5C78-4ACB-54C28FD0DF31}"/>
              </a:ext>
            </a:extLst>
          </p:cNvPr>
          <p:cNvGraphicFramePr>
            <a:graphicFrameLocks noGrp="1"/>
          </p:cNvGraphicFramePr>
          <p:nvPr/>
        </p:nvGraphicFramePr>
        <p:xfrm>
          <a:off x="5676745" y="2693380"/>
          <a:ext cx="1938447" cy="910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4882">
                  <a:extLst>
                    <a:ext uri="{9D8B030D-6E8A-4147-A177-3AD203B41FA5}">
                      <a16:colId xmlns:a16="http://schemas.microsoft.com/office/drawing/2014/main" val="2874979437"/>
                    </a:ext>
                  </a:extLst>
                </a:gridCol>
                <a:gridCol w="553565">
                  <a:extLst>
                    <a:ext uri="{9D8B030D-6E8A-4147-A177-3AD203B41FA5}">
                      <a16:colId xmlns:a16="http://schemas.microsoft.com/office/drawing/2014/main" val="3724713585"/>
                    </a:ext>
                  </a:extLst>
                </a:gridCol>
              </a:tblGrid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7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Top Vulnerability</a:t>
                      </a:r>
                    </a:p>
                  </a:txBody>
                  <a:tcPr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0" lang="en-IN" sz="7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cs typeface="Segoe Sans Text" pitchFamily="2" charset="0"/>
                        </a:rPr>
                        <a:t>Server (#)</a:t>
                      </a:r>
                      <a:endParaRPr kumimoji="0" lang="en-US" sz="7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178909"/>
                  </a:ext>
                </a:extLst>
              </a:tr>
              <a:tr h="224790"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CVE-2020-0646</a:t>
                      </a: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1</a:t>
                      </a: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650550"/>
                  </a:ext>
                </a:extLst>
              </a:tr>
              <a:tr h="224790"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CVE-2023-36049</a:t>
                      </a: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1</a:t>
                      </a: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8208517"/>
                  </a:ext>
                </a:extLst>
              </a:tr>
              <a:tr h="224790"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CVE-2024-0057</a:t>
                      </a: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1</a:t>
                      </a: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465366"/>
                  </a:ext>
                </a:extLst>
              </a:tr>
            </a:tbl>
          </a:graphicData>
        </a:graphic>
      </p:graphicFrame>
      <p:graphicFrame>
        <p:nvGraphicFramePr>
          <p:cNvPr id="45" name="Table 44" descr="&lt;table&gt;&lt;PatchManagementAbsentTable&gt;">
            <a:extLst>
              <a:ext uri="{FF2B5EF4-FFF2-40B4-BE49-F238E27FC236}">
                <a16:creationId xmlns:a16="http://schemas.microsoft.com/office/drawing/2014/main" id="{1FFAED47-8F36-8699-A52C-FA1696861EEE}"/>
              </a:ext>
            </a:extLst>
          </p:cNvPr>
          <p:cNvGraphicFramePr>
            <a:graphicFrameLocks noGrp="1"/>
          </p:cNvGraphicFramePr>
          <p:nvPr/>
        </p:nvGraphicFramePr>
        <p:xfrm>
          <a:off x="2172521" y="4914066"/>
          <a:ext cx="1968308" cy="883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0555">
                  <a:extLst>
                    <a:ext uri="{9D8B030D-6E8A-4147-A177-3AD203B41FA5}">
                      <a16:colId xmlns:a16="http://schemas.microsoft.com/office/drawing/2014/main" val="2874979437"/>
                    </a:ext>
                  </a:extLst>
                </a:gridCol>
                <a:gridCol w="567753">
                  <a:extLst>
                    <a:ext uri="{9D8B030D-6E8A-4147-A177-3AD203B41FA5}">
                      <a16:colId xmlns:a16="http://schemas.microsoft.com/office/drawing/2014/main" val="3724713585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7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cs typeface="Segoe Sans Text" pitchFamily="2" charset="0"/>
                        </a:rPr>
                        <a:t>Top Server OS</a:t>
                      </a:r>
                      <a:endParaRPr kumimoji="0" lang="en-IN" sz="7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0" lang="en-IN" sz="7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cs typeface="Segoe Sans Text" pitchFamily="2" charset="0"/>
                        </a:rPr>
                        <a:t>Server (#)</a:t>
                      </a:r>
                      <a:endParaRPr kumimoji="0" lang="en-US" sz="7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1789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Windows Server 2022 Server Standard</a:t>
                      </a: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2</a:t>
                      </a: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650550"/>
                  </a:ext>
                </a:extLst>
              </a:tr>
            </a:tbl>
          </a:graphicData>
        </a:graphic>
      </p:graphicFrame>
      <p:graphicFrame>
        <p:nvGraphicFramePr>
          <p:cNvPr id="46" name="Table 45" descr="&lt;table&gt;&lt;PendingCriticalSecurityUpdatesTable&gt;">
            <a:extLst>
              <a:ext uri="{FF2B5EF4-FFF2-40B4-BE49-F238E27FC236}">
                <a16:creationId xmlns:a16="http://schemas.microsoft.com/office/drawing/2014/main" id="{895767E4-D427-3C38-C3D8-2EA44857A93F}"/>
              </a:ext>
            </a:extLst>
          </p:cNvPr>
          <p:cNvGraphicFramePr>
            <a:graphicFrameLocks noGrp="1"/>
          </p:cNvGraphicFramePr>
          <p:nvPr/>
        </p:nvGraphicFramePr>
        <p:xfrm>
          <a:off x="5676745" y="4914066"/>
          <a:ext cx="1938447" cy="883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6462">
                  <a:extLst>
                    <a:ext uri="{9D8B030D-6E8A-4147-A177-3AD203B41FA5}">
                      <a16:colId xmlns:a16="http://schemas.microsoft.com/office/drawing/2014/main" val="2874979437"/>
                    </a:ext>
                  </a:extLst>
                </a:gridCol>
                <a:gridCol w="591985">
                  <a:extLst>
                    <a:ext uri="{9D8B030D-6E8A-4147-A177-3AD203B41FA5}">
                      <a16:colId xmlns:a16="http://schemas.microsoft.com/office/drawing/2014/main" val="3724713585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7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cs typeface="Segoe Sans Text" pitchFamily="2" charset="0"/>
                        </a:rPr>
                        <a:t>Top Update name</a:t>
                      </a:r>
                      <a:endParaRPr kumimoji="0" lang="en-IN" sz="7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0" lang="en-IN" sz="7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cs typeface="Segoe Sans Text" pitchFamily="2" charset="0"/>
                        </a:rPr>
                        <a:t>Server (#)</a:t>
                      </a:r>
                      <a:endParaRPr kumimoji="0" lang="en-US" sz="7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178909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KB5121650</a:t>
                      </a: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2</a:t>
                      </a: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650550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KB5120242</a:t>
                      </a: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9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2</a:t>
                      </a:r>
                    </a:p>
                  </a:txBody>
                  <a:tcPr>
                    <a:lnT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8208517"/>
                  </a:ext>
                </a:extLst>
              </a:tr>
            </a:tbl>
          </a:graphicData>
        </a:graphic>
      </p:graphicFrame>
      <p:graphicFrame>
        <p:nvGraphicFramePr>
          <p:cNvPr id="47" name="Table 46" descr="&lt;table&gt;&lt;EndOfSupportOSTable&gt;">
            <a:extLst>
              <a:ext uri="{FF2B5EF4-FFF2-40B4-BE49-F238E27FC236}">
                <a16:creationId xmlns:a16="http://schemas.microsoft.com/office/drawing/2014/main" id="{9EED9D65-828A-6ABF-D1F3-6E4F8909312E}"/>
              </a:ext>
            </a:extLst>
          </p:cNvPr>
          <p:cNvGraphicFramePr>
            <a:graphicFrameLocks noGrp="1"/>
          </p:cNvGraphicFramePr>
          <p:nvPr/>
        </p:nvGraphicFramePr>
        <p:xfrm>
          <a:off x="9436336" y="2693380"/>
          <a:ext cx="2131780" cy="899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464">
                  <a:extLst>
                    <a:ext uri="{9D8B030D-6E8A-4147-A177-3AD203B41FA5}">
                      <a16:colId xmlns:a16="http://schemas.microsoft.com/office/drawing/2014/main" val="2874979437"/>
                    </a:ext>
                  </a:extLst>
                </a:gridCol>
                <a:gridCol w="595316">
                  <a:extLst>
                    <a:ext uri="{9D8B030D-6E8A-4147-A177-3AD203B41FA5}">
                      <a16:colId xmlns:a16="http://schemas.microsoft.com/office/drawing/2014/main" val="3724713585"/>
                    </a:ext>
                  </a:extLst>
                </a:gridCol>
              </a:tblGrid>
              <a:tr h="899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7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Top Server OS</a:t>
                      </a:r>
                    </a:p>
                  </a:txBody>
                  <a:tcPr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0" lang="en-IN" sz="7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cs typeface="Segoe Sans Text" pitchFamily="2" charset="0"/>
                        </a:rPr>
                        <a:t>Server (#)</a:t>
                      </a:r>
                      <a:endParaRPr kumimoji="0" lang="en-US" sz="7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178909"/>
                  </a:ext>
                </a:extLst>
              </a:tr>
            </a:tbl>
          </a:graphicData>
        </a:graphic>
      </p:graphicFrame>
      <p:graphicFrame>
        <p:nvGraphicFramePr>
          <p:cNvPr id="48" name="Table 47" descr="&lt;table&gt;&lt;EndOfSupportSoftwareTable&gt;">
            <a:extLst>
              <a:ext uri="{FF2B5EF4-FFF2-40B4-BE49-F238E27FC236}">
                <a16:creationId xmlns:a16="http://schemas.microsoft.com/office/drawing/2014/main" id="{F131B1EB-4401-D582-8BEC-715527B60CF1}"/>
              </a:ext>
            </a:extLst>
          </p:cNvPr>
          <p:cNvGraphicFramePr>
            <a:graphicFrameLocks noGrp="1"/>
          </p:cNvGraphicFramePr>
          <p:nvPr/>
        </p:nvGraphicFramePr>
        <p:xfrm>
          <a:off x="9286319" y="4914066"/>
          <a:ext cx="2281797" cy="1104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2387">
                  <a:extLst>
                    <a:ext uri="{9D8B030D-6E8A-4147-A177-3AD203B41FA5}">
                      <a16:colId xmlns:a16="http://schemas.microsoft.com/office/drawing/2014/main" val="2874979437"/>
                    </a:ext>
                  </a:extLst>
                </a:gridCol>
                <a:gridCol w="514830">
                  <a:extLst>
                    <a:ext uri="{9D8B030D-6E8A-4147-A177-3AD203B41FA5}">
                      <a16:colId xmlns:a16="http://schemas.microsoft.com/office/drawing/2014/main" val="3724713585"/>
                    </a:ext>
                  </a:extLst>
                </a:gridCol>
                <a:gridCol w="564580">
                  <a:extLst>
                    <a:ext uri="{9D8B030D-6E8A-4147-A177-3AD203B41FA5}">
                      <a16:colId xmlns:a16="http://schemas.microsoft.com/office/drawing/2014/main" val="4191624271"/>
                    </a:ext>
                  </a:extLst>
                </a:gridCol>
              </a:tblGrid>
              <a:tr h="11044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7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cs typeface="Segoe Sans Text" pitchFamily="2" charset="0"/>
                        </a:rPr>
                        <a:t>Top EoS Software</a:t>
                      </a:r>
                      <a:endParaRPr kumimoji="0" lang="en-IN" sz="7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0" lang="en-IN" sz="7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cs typeface="Segoe Sans Text" pitchFamily="2" charset="0"/>
                        </a:rPr>
                        <a:t>Version</a:t>
                      </a:r>
                      <a:endParaRPr kumimoji="0" lang="en-US" sz="7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Sans Text" pitchFamily="2" charset="0"/>
                        <a:ea typeface="+mn-ea"/>
                        <a:cs typeface="Segoe Sans Text" pitchFamily="2" charset="0"/>
                      </a:endParaRPr>
                    </a:p>
                  </a:txBody>
                  <a:tcPr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7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Sans Text" pitchFamily="2" charset="0"/>
                          <a:ea typeface="+mn-ea"/>
                          <a:cs typeface="Segoe Sans Text" pitchFamily="2" charset="0"/>
                        </a:rPr>
                        <a:t>Servers (#)</a:t>
                      </a:r>
                    </a:p>
                  </a:txBody>
                  <a:tcPr>
                    <a:lnB w="3175" cap="flat" cmpd="sng" algn="ctr">
                      <a:solidFill>
                        <a:srgbClr val="215F9A">
                          <a:alpha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178909"/>
                  </a:ext>
                </a:extLst>
              </a:tr>
            </a:tbl>
          </a:graphicData>
        </a:graphic>
      </p:graphicFrame>
      <p:graphicFrame>
        <p:nvGraphicFramePr>
          <p:cNvPr id="50" name="Chart 49" descr="&lt;pie chart&gt;&lt;SecurityVulnerabilitiesChart&gt;">
            <a:extLst>
              <a:ext uri="{FF2B5EF4-FFF2-40B4-BE49-F238E27FC236}">
                <a16:creationId xmlns:a16="http://schemas.microsoft.com/office/drawing/2014/main" id="{5F6723FE-7E89-3D81-2BAE-C466AEC8156A}"/>
              </a:ext>
            </a:extLst>
          </p:cNvPr>
          <p:cNvGraphicFramePr/>
          <p:nvPr/>
        </p:nvGraphicFramePr>
        <p:xfrm>
          <a:off x="4387433" y="2596262"/>
          <a:ext cx="1104942" cy="10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1" name="Chart 50" descr="&lt;pie chart&gt;&lt;EndOfSupportOSChart&gt;">
            <a:extLst>
              <a:ext uri="{FF2B5EF4-FFF2-40B4-BE49-F238E27FC236}">
                <a16:creationId xmlns:a16="http://schemas.microsoft.com/office/drawing/2014/main" id="{44993FFD-F288-1CCB-B07A-3D1C07036CFB}"/>
              </a:ext>
            </a:extLst>
          </p:cNvPr>
          <p:cNvGraphicFramePr/>
          <p:nvPr/>
        </p:nvGraphicFramePr>
        <p:xfrm>
          <a:off x="8084790" y="2596262"/>
          <a:ext cx="1104942" cy="10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2" name="Chart 51" descr="&lt;pie chart&gt;&lt;PatchManagementAbsentChart&gt;">
            <a:extLst>
              <a:ext uri="{FF2B5EF4-FFF2-40B4-BE49-F238E27FC236}">
                <a16:creationId xmlns:a16="http://schemas.microsoft.com/office/drawing/2014/main" id="{54B6F908-2083-2618-C837-DEF0AB78552D}"/>
              </a:ext>
            </a:extLst>
          </p:cNvPr>
          <p:cNvGraphicFramePr/>
          <p:nvPr/>
        </p:nvGraphicFramePr>
        <p:xfrm>
          <a:off x="799406" y="4882262"/>
          <a:ext cx="1104942" cy="10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3" name="Chart 52" descr="&lt;pie chart&gt;&lt;PendingCriticalSecurityUpdatesChart&gt;">
            <a:extLst>
              <a:ext uri="{FF2B5EF4-FFF2-40B4-BE49-F238E27FC236}">
                <a16:creationId xmlns:a16="http://schemas.microsoft.com/office/drawing/2014/main" id="{E28C3E98-A5F5-82DB-F9C4-F59B17D84241}"/>
              </a:ext>
            </a:extLst>
          </p:cNvPr>
          <p:cNvGraphicFramePr/>
          <p:nvPr/>
        </p:nvGraphicFramePr>
        <p:xfrm>
          <a:off x="4387433" y="4882262"/>
          <a:ext cx="1104942" cy="10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54" name="Chart 53" descr="&lt;pie chart&gt;&lt;EndOfSupportSoftwareChart&gt;">
            <a:extLst>
              <a:ext uri="{FF2B5EF4-FFF2-40B4-BE49-F238E27FC236}">
                <a16:creationId xmlns:a16="http://schemas.microsoft.com/office/drawing/2014/main" id="{9168FBAB-CC4F-A675-AFB2-E12D83FB1434}"/>
              </a:ext>
            </a:extLst>
          </p:cNvPr>
          <p:cNvGraphicFramePr/>
          <p:nvPr/>
        </p:nvGraphicFramePr>
        <p:xfrm>
          <a:off x="8084790" y="4882262"/>
          <a:ext cx="1104942" cy="109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" name="TextBox 2" descr="Visit Azure Migrate portal for details">
            <a:extLst>
              <a:ext uri="{FF2B5EF4-FFF2-40B4-BE49-F238E27FC236}">
                <a16:creationId xmlns:a16="http://schemas.microsoft.com/office/drawing/2014/main" id="{D2B42E68-2771-00B8-E348-34CB5F1C0A99}"/>
              </a:ext>
            </a:extLst>
          </p:cNvPr>
          <p:cNvSpPr txBox="1"/>
          <p:nvPr/>
        </p:nvSpPr>
        <p:spPr>
          <a:xfrm>
            <a:off x="9731194" y="661125"/>
            <a:ext cx="2180308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0" i="0">
                <a:latin typeface="Segoe Sans Text"/>
              </a:rPr>
              <a:t>Visit </a:t>
            </a:r>
            <a:r>
              <a:rPr sz="1000" b="0" i="0">
                <a:latin typeface="Segoe Sans Text"/>
                <a:hlinkClick r:id="rId9"/>
              </a:rPr>
              <a:t>Azure Migrate</a:t>
            </a:r>
            <a:r>
              <a:rPr sz="1000" b="0" i="0">
                <a:latin typeface="Segoe Sans Text"/>
              </a:rPr>
              <a:t> portal for details</a:t>
            </a:r>
          </a:p>
        </p:txBody>
      </p:sp>
    </p:spTree>
    <p:extLst>
      <p:ext uri="{BB962C8B-B14F-4D97-AF65-F5344CB8AC3E}">
        <p14:creationId xmlns:p14="http://schemas.microsoft.com/office/powerpoint/2010/main" val="3656042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11376</TotalTime>
  <Words>3625</Words>
  <Application>Microsoft Office PowerPoint</Application>
  <PresentationFormat>Widescreen</PresentationFormat>
  <Paragraphs>939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Aptos Display</vt:lpstr>
      <vt:lpstr>Arial</vt:lpstr>
      <vt:lpstr>Segeo sans text</vt:lpstr>
      <vt:lpstr>Segoe Sans Text</vt:lpstr>
      <vt:lpstr>Segoe Sans Text Semibold</vt:lpstr>
      <vt:lpstr>Segoe UI</vt:lpstr>
      <vt:lpstr>Wingdings</vt:lpstr>
      <vt:lpstr>Office Theme</vt:lpstr>
      <vt:lpstr>Azure Migration Report</vt:lpstr>
      <vt:lpstr>Agenda</vt:lpstr>
      <vt:lpstr>Assessed Inventory summary</vt:lpstr>
      <vt:lpstr>Assessed inventory summary</vt:lpstr>
      <vt:lpstr>Assessed Inventory Summary</vt:lpstr>
      <vt:lpstr>Security Summary</vt:lpstr>
      <vt:lpstr>Financial considerations</vt:lpstr>
      <vt:lpstr>Migration Approach and Readiness</vt:lpstr>
      <vt:lpstr>Business case – Financial summary</vt:lpstr>
      <vt:lpstr>Management cost savings</vt:lpstr>
      <vt:lpstr>Azure target recommendations</vt:lpstr>
      <vt:lpstr>IaaS migration readiness report</vt:lpstr>
      <vt:lpstr>IaaS migration readiness report</vt:lpstr>
      <vt:lpstr>Migration wave plan</vt:lpstr>
      <vt:lpstr>TCO Comparison</vt:lpstr>
      <vt:lpstr>PowerPoint Presentation</vt:lpstr>
      <vt:lpstr>PowerPoint Presentation</vt:lpstr>
      <vt:lpstr>PowerPoint Presentation</vt:lpstr>
      <vt:lpstr>Security Risks in Discovered Servers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Yashwant Rawat</dc:creator>
  <cp:lastModifiedBy>Rajesh Shankarrao Patil</cp:lastModifiedBy>
  <cp:revision>535</cp:revision>
  <dcterms:created xsi:type="dcterms:W3CDTF">2025-12-02T06:25:28Z</dcterms:created>
  <dcterms:modified xsi:type="dcterms:W3CDTF">2026-09-02T13:29:27Z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0x010100FB0B8CCA8274FB4A8D3608767BAFED71</vt:lpwstr>
  </property>
</Properties>
</file>